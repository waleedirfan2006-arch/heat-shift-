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e5455c2db84911" /><Relationship Type="http://schemas.openxmlformats.org/officeDocument/2006/relationships/extended-properties" Target="/docProps/app.xml" Id="R82ad1c5afbc04543" /><Relationship Type="http://schemas.openxmlformats.org/officeDocument/2006/relationships/officeDocument" Target="/ppt/presentation.xml" Id="R5961cd26bec6441b" /></Relationships>
</file>

<file path=ppt/presentation.xml><?xml version="1.0" encoding="utf-8"?>
<p:presentation xmlns:p="http://schemas.openxmlformats.org/presentationml/2006/main">
  <p:sldMasterIdLst>
    <p:sldMasterId xmlns:r="http://schemas.openxmlformats.org/officeDocument/2006/relationships" id="2147483648" r:id="R92cecba6891044be"/>
  </p:sldMasterIdLst>
  <p:notesMasterIdLst>
    <p:notesMasterId xmlns:r="http://schemas.openxmlformats.org/officeDocument/2006/relationships" r:id="Racc77db83828435c"/>
  </p:notesMasterIdLst>
  <p:sldIdLst>
    <p:sldId xmlns:r="http://schemas.openxmlformats.org/officeDocument/2006/relationships" id="256" r:id="R9993cfc8f46d4aef"/>
    <p:sldId xmlns:r="http://schemas.openxmlformats.org/officeDocument/2006/relationships" id="257" r:id="R65e2e9fc5b1d4250"/>
    <p:sldId xmlns:r="http://schemas.openxmlformats.org/officeDocument/2006/relationships" id="258" r:id="Rb114f09b6ae244fc"/>
    <p:sldId xmlns:r="http://schemas.openxmlformats.org/officeDocument/2006/relationships" id="259" r:id="Rf224b74ddf314a5a"/>
    <p:sldId xmlns:r="http://schemas.openxmlformats.org/officeDocument/2006/relationships" id="260" r:id="R8d787d79d2204924"/>
    <p:sldId xmlns:r="http://schemas.openxmlformats.org/officeDocument/2006/relationships" id="261" r:id="R65ed86d1b39349dd"/>
    <p:sldId xmlns:r="http://schemas.openxmlformats.org/officeDocument/2006/relationships" id="262" r:id="R49cb5fd0b0fa4ada"/>
    <p:sldId xmlns:r="http://schemas.openxmlformats.org/officeDocument/2006/relationships" id="263" r:id="Reebb0d9e9fda4c80"/>
    <p:sldId xmlns:r="http://schemas.openxmlformats.org/officeDocument/2006/relationships" id="264" r:id="Rbb09c9c0b6d54c4a"/>
    <p:sldId xmlns:r="http://schemas.openxmlformats.org/officeDocument/2006/relationships" id="265" r:id="R97f3304e1b8e4bb4"/>
    <p:sldId xmlns:r="http://schemas.openxmlformats.org/officeDocument/2006/relationships" id="266" r:id="Rb6ed1979b6d0432b"/>
    <p:sldId xmlns:r="http://schemas.openxmlformats.org/officeDocument/2006/relationships" id="267" r:id="Rd9a84996fd3b4d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fa7c56383e4b5e" /><Relationship Type="http://schemas.openxmlformats.org/officeDocument/2006/relationships/slideMaster" Target="/ppt/slideMasters/slideMaster1.xml" Id="R92cecba6891044be" /><Relationship Type="http://schemas.openxmlformats.org/officeDocument/2006/relationships/notesMaster" Target="/ppt/notesMasters/notesMaster1.xml" Id="Racc77db83828435c" /><Relationship Type="http://schemas.openxmlformats.org/officeDocument/2006/relationships/presProps" Target="/ppt/presProps.xml" Id="R7fc0d690fd224007" /><Relationship Type="http://schemas.openxmlformats.org/officeDocument/2006/relationships/tableStyles" Target="/ppt/tableStyles.xml" Id="Rbb37b4ea93404dd0" /><Relationship Type="http://schemas.openxmlformats.org/officeDocument/2006/relationships/slide" Target="/ppt/slides/slide1.xml" Id="R9993cfc8f46d4aef" /><Relationship Type="http://schemas.openxmlformats.org/officeDocument/2006/relationships/slide" Target="/ppt/slides/slide2.xml" Id="R65e2e9fc5b1d4250" /><Relationship Type="http://schemas.openxmlformats.org/officeDocument/2006/relationships/slide" Target="/ppt/slides/slide3.xml" Id="Rb114f09b6ae244fc" /><Relationship Type="http://schemas.openxmlformats.org/officeDocument/2006/relationships/slide" Target="/ppt/slides/slide4.xml" Id="Rf224b74ddf314a5a" /><Relationship Type="http://schemas.openxmlformats.org/officeDocument/2006/relationships/slide" Target="/ppt/slides/slide5.xml" Id="R8d787d79d2204924" /><Relationship Type="http://schemas.openxmlformats.org/officeDocument/2006/relationships/slide" Target="/ppt/slides/slide6.xml" Id="R65ed86d1b39349dd" /><Relationship Type="http://schemas.openxmlformats.org/officeDocument/2006/relationships/slide" Target="/ppt/slides/slide7.xml" Id="R49cb5fd0b0fa4ada" /><Relationship Type="http://schemas.openxmlformats.org/officeDocument/2006/relationships/slide" Target="/ppt/slides/slide8.xml" Id="Reebb0d9e9fda4c80" /><Relationship Type="http://schemas.openxmlformats.org/officeDocument/2006/relationships/slide" Target="/ppt/slides/slide9.xml" Id="Rbb09c9c0b6d54c4a" /><Relationship Type="http://schemas.openxmlformats.org/officeDocument/2006/relationships/slide" Target="/ppt/slides/slide10.xml" Id="R97f3304e1b8e4bb4" /><Relationship Type="http://schemas.openxmlformats.org/officeDocument/2006/relationships/slide" Target="/ppt/slides/slide11.xml" Id="Rb6ed1979b6d0432b" /><Relationship Type="http://schemas.openxmlformats.org/officeDocument/2006/relationships/slide" Target="/ppt/slides/slide12.xml" Id="Rd9a84996fd3b4d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3a9cbbde8a45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10e205daa548b1" /><Relationship Type="http://schemas.openxmlformats.org/officeDocument/2006/relationships/notesMaster" Target="/ppt/notesMasters/notesMaster1.xml" Id="R5c147a25bb604d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352a2a04674440" /><Relationship Type="http://schemas.openxmlformats.org/officeDocument/2006/relationships/notesMaster" Target="/ppt/notesMasters/notesMaster1.xml" Id="R258da55cdf074c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058e2d6f554cef" /><Relationship Type="http://schemas.openxmlformats.org/officeDocument/2006/relationships/notesMaster" Target="/ppt/notesMasters/notesMaster1.xml" Id="Rb848c1064bee4e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ef3c130dee4850" /><Relationship Type="http://schemas.openxmlformats.org/officeDocument/2006/relationships/notesMaster" Target="/ppt/notesMasters/notesMaster1.xml" Id="R7982f54920a148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0e14e747534a37" /><Relationship Type="http://schemas.openxmlformats.org/officeDocument/2006/relationships/notesMaster" Target="/ppt/notesMasters/notesMaster1.xml" Id="R4b16b0a7df5140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cd2c537b2f45b6" /><Relationship Type="http://schemas.openxmlformats.org/officeDocument/2006/relationships/notesMaster" Target="/ppt/notesMasters/notesMaster1.xml" Id="R31451974eb7848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088ed368df418d" /><Relationship Type="http://schemas.openxmlformats.org/officeDocument/2006/relationships/notesMaster" Target="/ppt/notesMasters/notesMaster1.xml" Id="R870bf00c9e6e47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5adbe8d0be44f6" /><Relationship Type="http://schemas.openxmlformats.org/officeDocument/2006/relationships/notesMaster" Target="/ppt/notesMasters/notesMaster1.xml" Id="Rd517ec89c9c542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24422ccdd743b6" /><Relationship Type="http://schemas.openxmlformats.org/officeDocument/2006/relationships/notesMaster" Target="/ppt/notesMasters/notesMaster1.xml" Id="R51b20054a0ec49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fe18d39b264883" /><Relationship Type="http://schemas.openxmlformats.org/officeDocument/2006/relationships/notesMaster" Target="/ppt/notesMasters/notesMaster1.xml" Id="Rdc927504fd1a4b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9d3fc84b7f46c0" /><Relationship Type="http://schemas.openxmlformats.org/officeDocument/2006/relationships/notesMaster" Target="/ppt/notesMasters/notesMaster1.xml" Id="R3daae0d30dcd479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3e1579ba98469b" /><Relationship Type="http://schemas.openxmlformats.org/officeDocument/2006/relationships/notesMaster" Target="/ppt/notesMasters/notesMaster1.xml" Id="R1dc37012882f46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WALEED | 15 seconds | 0:00-0:15</a:t>
            </a:r>
          </a:p>
          <a:p xmlns:a="http://schemas.openxmlformats.org/drawingml/2006/main">
            <a:r>
              <a:t>Hello, we are the HeatShift team. Our project helps people understand tomorrow’s temperature and the evidence behind it. We combine a prediction model with two agents in one dashboard. Our current scope covers three airport stations.</a:t>
            </a:r>
          </a:p>
          <a:p xmlns:a="http://schemas.openxmlformats.org/drawingml/2006/main">
            <a:r>
              <a:t/>
            </a:r>
          </a:p>
          <a:p xmlns:a="http://schemas.openxmlformats.org/drawingml/2006/main">
            <a:r>
              <a:t>Sources:</a:t>
            </a:r>
          </a:p>
          <a:p xmlns:a="http://schemas.openxmlformats.org/drawingml/2006/main">
            <a:r>
              <a:t>https://github.com/waleedirfan2006-arch/Heat-Shift-/blob/main/TEAM_CONTRIBUTIONS.md</a:t>
            </a:r>
          </a:p>
          <a:p xmlns:a="http://schemas.openxmlformats.org/drawingml/2006/main">
            <a:r>
              <a:t>https://github.com/waleedirfan2006-arch/Heat-Shift-/blob/main/README.md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WALEED | 25 seconds | 0:15-0:40</a:t>
            </a:r>
          </a:p>
          <a:p xmlns:a="http://schemas.openxmlformats.org/drawingml/2006/main">
            <a:r>
              <a:t>We focused on making a forecast easier to judge. A number alone does not show whether its data is complete or where an explanation came from. HeatShift puts the prediction, quality checks and evidence references together. Everyday users are our intended audience. We have not yet measured the impact on their decisions.</a:t>
            </a:r>
          </a:p>
          <a:p xmlns:a="http://schemas.openxmlformats.org/drawingml/2006/main">
            <a:r>
              <a:t/>
            </a:r>
          </a:p>
          <a:p xmlns:a="http://schemas.openxmlformats.org/drawingml/2006/main">
            <a:r>
              <a:t>Sources:</a:t>
            </a:r>
          </a:p>
          <a:p xmlns:a="http://schemas.openxmlformats.org/drawingml/2006/main">
            <a:r>
              <a:t>https://huggingface.co/spaces/Waleed-1234/HeatShift-Dashboard</a:t>
            </a:r>
          </a:p>
          <a:p xmlns:a="http://schemas.openxmlformats.org/drawingml/2006/main">
            <a:r>
              <a:t>https://github.com/waleedirfan2006-arch/Heat-Shift-/blob/main/Business_Model.md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AMAN | 35 seconds | 0:40-1:15</a:t>
            </a:r>
          </a:p>
          <a:p xmlns:a="http://schemas.openxmlformats.org/drawingml/2006/main">
            <a:r>
              <a:t>I handled data cleaning and warehouse management. We keep original files, cleaned data and processed tables separate. A manifest records where files came from and their fingerprints. We use time-based splits because future weather must not leak into training. The single make data command rebuilds the warehouse. The final audit passed fourteen checks. Some original collection receipts remain unavailable.</a:t>
            </a:r>
          </a:p>
          <a:p xmlns:a="http://schemas.openxmlformats.org/drawingml/2006/main">
            <a:r>
              <a:t>Live METAR data supplies current inference inputs, not historical model training. Open-Meteo historical comparison snapshots are distinct from JMA previous-runs features.</a:t>
            </a:r>
          </a:p>
          <a:p xmlns:a="http://schemas.openxmlformats.org/drawingml/2006/main">
            <a:r>
              <a:t/>
            </a:r>
          </a:p>
          <a:p xmlns:a="http://schemas.openxmlformats.org/drawingml/2006/main">
            <a:r>
              <a:t>Sources:</a:t>
            </a:r>
          </a:p>
          <a:p xmlns:a="http://schemas.openxmlformats.org/drawingml/2006/main">
            <a:r>
              <a:t>https://github.com/waleedirfan2006-arch/Heat-Shift-/blob/main/submission/datasetpropsal.pdf</a:t>
            </a:r>
          </a:p>
          <a:p xmlns:a="http://schemas.openxmlformats.org/drawingml/2006/main">
            <a:r>
              <a:t>https://github.com/waleedirfan2006-arch/Heat-Shift-/blob/main/evidence/final_audit/warehouse_rebuild_receipt.json</a:t>
            </a:r>
          </a:p>
          <a:p xmlns:a="http://schemas.openxmlformats.org/drawingml/2006/main">
            <a:r>
              <a:t>https://www.ncei.noaa.gov/products/land-based-station/integrated-surface-database</a:t>
            </a:r>
          </a:p>
          <a:p xmlns:a="http://schemas.openxmlformats.org/drawingml/2006/main">
            <a:r>
              <a:t>https://open-meteo.com/en/docs/previous-runs-api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WALEED | 35 seconds | 1:15-1:50</a:t>
            </a:r>
          </a:p>
          <a:p xmlns:a="http://schemas.openxmlformats.org/drawingml/2006/main">
            <a:r>
              <a:t>I developed the model and worked on improving it. The deployed model is HistGradientBoosting, which combines small decision trees to correct prediction errors. It uses the current station temperature, JMA forecast fields and calendar information. It predicts a correction to the current temperature for the same hour tomorrow. We compare it with a simple rule: tomorrow equals today. This audit preserved the existing model parameters.</a:t>
            </a:r>
          </a:p>
          <a:p xmlns:a="http://schemas.openxmlformats.org/drawingml/2006/main">
            <a:r>
              <a:t>The earlier Ridge and station-only alternatives did not beat persistence. Original JMA fitting-feature and search records remain unavailable. Do not claim full training reproducibility.</a:t>
            </a:r>
          </a:p>
          <a:p xmlns:a="http://schemas.openxmlformats.org/drawingml/2006/main">
            <a:r>
              <a:t/>
            </a:r>
          </a:p>
          <a:p xmlns:a="http://schemas.openxmlformats.org/drawingml/2006/main">
            <a:r>
              <a:t>Sources:</a:t>
            </a:r>
          </a:p>
          <a:p xmlns:a="http://schemas.openxmlformats.org/drawingml/2006/main">
            <a:r>
              <a:t>https://github.com/waleedirfan2006-arch/Heat-Shift-/blob/main/HeatShift_Web/core.js</a:t>
            </a:r>
          </a:p>
          <a:p xmlns:a="http://schemas.openxmlformats.org/drawingml/2006/main">
            <a:r>
              <a:t>https://github.com/waleedirfan2006-arch/Heat-Shift-/blob/main/HeatShift_Web/model.json</a:t>
            </a:r>
          </a:p>
          <a:p xmlns:a="http://schemas.openxmlformats.org/drawingml/2006/main">
            <a:r>
              <a:t>https://github.com/waleedirfan2006-arch/Heat-Shift-/blob/main/OPTIMIZATION_LOG.md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MATEEN | 40 seconds | 1:50-2:30</a:t>
            </a:r>
          </a:p>
          <a:p xmlns:a="http://schemas.openxmlformats.org/drawingml/2006/main">
            <a:r>
              <a:t>I developed, managed and maintained both agents. The quality agent reviews missing values, duplicates and unusual weather readings, then records its decisions. Its short-gap interpolation can use later rows, so we review cleaned data before modeling. The insight agent retrieves trusted notes and calculates statistics from the training tables. It gives row or section citations. This is lightweight deterministic RAG. It refuses questions when the data does not support an answer.</a:t>
            </a:r>
          </a:p>
          <a:p xmlns:a="http://schemas.openxmlformats.org/drawingml/2006/main">
            <a:r>
              <a:t>Both original vendor files retain their source fingerprints. Browser adapters verify them before execution. This is not a general LLM chatbot.</a:t>
            </a:r>
          </a:p>
          <a:p xmlns:a="http://schemas.openxmlformats.org/drawingml/2006/main">
            <a:r>
              <a:t/>
            </a:r>
          </a:p>
          <a:p xmlns:a="http://schemas.openxmlformats.org/drawingml/2006/main">
            <a:r>
              <a:t>Sources:</a:t>
            </a:r>
          </a:p>
          <a:p xmlns:a="http://schemas.openxmlformats.org/drawingml/2006/main">
            <a:r>
              <a:t>https://github.com/waleedirfan2006-arch/Heat-Shift-/blob/main/TEAM_CONTRIBUTIONS.md</a:t>
            </a:r>
          </a:p>
          <a:p xmlns:a="http://schemas.openxmlformats.org/drawingml/2006/main">
            <a:r>
              <a:t>https://github.com/waleedirfan2006-arch/Heat-Shift-/tree/main/HeatShift_Unified_Space/vendor</a:t>
            </a:r>
          </a:p>
          <a:p xmlns:a="http://schemas.openxmlformats.org/drawingml/2006/main">
            <a:r>
              <a:t>https://github.com/waleedirfan2006-arch/Heat-Shift-/blob/main/HeatShift_Web/trusted_weather_guide.md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 120 seconds | 2:30-4:30</a:t>
            </a:r>
          </a:p>
          <a:p xmlns:a="http://schemas.openxmlformats.org/drawingml/2006/main">
            <a:r>
              <a:t>Switch to the already-open dashboard. Do not play the full backup video as well as a live demo.</a:t>
            </a:r>
          </a:p>
          <a:p xmlns:a="http://schemas.openxmlformats.org/drawingml/2006/main">
            <a:r>
              <a:t>0-30 seconds, Waleed: select a city, use the latest automatic observation and run a prediction. Point to the timestamp, baseline and calibrated range. If no fresh observation is available, show the saved example and say it is historical.</a:t>
            </a:r>
          </a:p>
          <a:p xmlns:a="http://schemas.openxmlformats.org/drawingml/2006/main">
            <a:r>
              <a:t>30-60 seconds, Aman: show the hourly status and its timestamp, then open data quality. Mateen runs or shows the completed check and explains one decision.</a:t>
            </a:r>
          </a:p>
          <a:p xmlns:a="http://schemas.openxmlformats.org/drawingml/2006/main">
            <a:r>
              <a:t>60-90 seconds, Mateen: ask for a temperature summary and point to the row and section references.</a:t>
            </a:r>
          </a:p>
          <a:p xmlns:a="http://schemas.openxmlformats.org/drawingml/2006/main">
            <a:r>
              <a:t>90-120 seconds, Mateen: ask about AQI and show the refusal. Return to the slides.</a:t>
            </a:r>
          </a:p>
          <a:p xmlns:a="http://schemas.openxmlformats.org/drawingml/2006/main">
            <a:r>
              <a:t>Preload Python agents before your turn. If the network fails, use HeatShift_Demo.mp4 or the screenshots in this deck and identify their capture date. Never imply a saved example is current weather.</a:t>
            </a:r>
          </a:p>
          <a:p xmlns:a="http://schemas.openxmlformats.org/drawingml/2006/main">
            <a:r>
              <a:t/>
            </a:r>
          </a:p>
          <a:p xmlns:a="http://schemas.openxmlformats.org/drawingml/2006/main">
            <a:r>
              <a:t>Sources:</a:t>
            </a:r>
          </a:p>
          <a:p xmlns:a="http://schemas.openxmlformats.org/drawingml/2006/main">
            <a:r>
              <a:t>https://huggingface.co/spaces/Waleed-1234/HeatShift-Dashboard</a:t>
            </a:r>
          </a:p>
          <a:p xmlns:a="http://schemas.openxmlformats.org/drawingml/2006/main">
            <a:r>
              <a:t>https://github.com/waleedirfan2006-arch/Heat-Shift-/blob/main/submission/DEMO_README.md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WALEED | 55 seconds | 4:30-5:25</a:t>
            </a:r>
          </a:p>
          <a:p xmlns:a="http://schemas.openxmlformats.org/drawingml/2006/main">
            <a:r>
              <a:t>MAE means average absolute error in Celsius. Across the same 1,783 validation examples, the model had about 1.10 degrees of error compared with 1.24 for repeating today’s temperature. That is 10.8 percent less average error. It is not a percentage accuracy score. January was worse, and the bootstrap interval includes no improvement. We show March-calibrated uncertainty ranges, but future coverage is not guaranteed. These are reused validation results, not a fresh independent final test.</a:t>
            </a:r>
          </a:p>
          <a:p xmlns:a="http://schemas.openxmlformats.org/drawingml/2006/main">
            <a:r>
              <a:t>Declared unrounded baseline MAE: 1.2351654514862591 C. Rounded deployment baseline: 1.2439147504206394 C. Model: 1.1019464086208355 C. Seven-day block bootstrap 95% improvement interval: [-0.0416937705, 0.2706989324] C. No new locked-test, replay or reserve scoring in the audit.</a:t>
            </a:r>
          </a:p>
          <a:p xmlns:a="http://schemas.openxmlformats.org/drawingml/2006/main">
            <a:r>
              <a:t/>
            </a:r>
          </a:p>
          <a:p xmlns:a="http://schemas.openxmlformats.org/drawingml/2006/main">
            <a:r>
              <a:t>Sources:</a:t>
            </a:r>
          </a:p>
          <a:p xmlns:a="http://schemas.openxmlformats.org/drawingml/2006/main">
            <a:r>
              <a:t>https://github.com/waleedirfan2006-arch/Heat-Shift-/blob/main/evidence/final_audit/primary_model/metrics.json</a:t>
            </a:r>
          </a:p>
          <a:p xmlns:a="http://schemas.openxmlformats.org/drawingml/2006/main">
            <a:r>
              <a:t>https://github.com/waleedirfan2006-arch/Heat-Shift-/blob/main/evidence/final_audit/primary_model/row_predictions.csv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WALEED | 35 seconds | 5:25-6:00</a:t>
            </a:r>
          </a:p>
          <a:p xmlns:a="http://schemas.openxmlformats.org/drawingml/2006/main">
            <a:r>
              <a:t>The basic dashboard serves everyday users. Institutions could eventually pay for reporting and support. That is a business proposal, not existing sales. The current prototype uses a free static Space and public GitHub Actions, subject to their terms. A commercial service would need appropriate weather API rights and a maintenance budget. We want to measure whether users understand forecasts better before claiming real-world impact.</a:t>
            </a:r>
          </a:p>
          <a:p xmlns:a="http://schemas.openxmlformats.org/drawingml/2006/main">
            <a:r>
              <a:t>Commercial previous-runs access needs the appropriate Open-Meteo plan. No price or paying customer has been validated. The existing final audit records a successful push-triggered hourly-workflow run; schedule delays remain possible.</a:t>
            </a:r>
          </a:p>
          <a:p xmlns:a="http://schemas.openxmlformats.org/drawingml/2006/main">
            <a:r>
              <a:t/>
            </a:r>
          </a:p>
          <a:p xmlns:a="http://schemas.openxmlformats.org/drawingml/2006/main">
            <a:r>
              <a:t>Sources:</a:t>
            </a:r>
          </a:p>
          <a:p xmlns:a="http://schemas.openxmlformats.org/drawingml/2006/main">
            <a:r>
              <a:t>https://github.com/waleedirfan2006-arch/Heat-Shift-/blob/main/Business_Model.md</a:t>
            </a:r>
          </a:p>
          <a:p xmlns:a="http://schemas.openxmlformats.org/drawingml/2006/main">
            <a:r>
              <a:t>https://open-meteo.com/en/pricing</a:t>
            </a:r>
          </a:p>
          <a:p xmlns:a="http://schemas.openxmlformats.org/drawingml/2006/main">
            <a:r>
              <a:t>https://github.com/waleedirfan2006-arch/Heat-Shift-/blob/main/evidence/final_audit/first_actions_run.json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QUESTIONS | 6:00-10:00</a:t>
            </a:r>
          </a:p>
          <a:p xmlns:a="http://schemas.openxmlformats.org/drawingml/2006/main">
            <a:r>
              <a:t>Stop the main presentation at six minutes. Leave this slide visible for judges’ questions. Roles come from Waleed’s explicit team allocation. Explain substantial AI assistance honestly using the cumulative AI log. Each member should answer questions about their work.</a:t>
            </a:r>
          </a:p>
          <a:p xmlns:a="http://schemas.openxmlformats.org/drawingml/2006/main">
            <a:r>
              <a:t>The following three slides are backup material. Use them only when relevant.</a:t>
            </a:r>
          </a:p>
          <a:p xmlns:a="http://schemas.openxmlformats.org/drawingml/2006/main">
            <a:r>
              <a:t>Before evaluation, have the submitted Devpost project link ready separately. The team has not supplied that link in this conversation. Do not claim that the GitHub or Hugging Face link replaces it.</a:t>
            </a:r>
          </a:p>
          <a:p xmlns:a="http://schemas.openxmlformats.org/drawingml/2006/main">
            <a:r>
              <a:t/>
            </a:r>
          </a:p>
          <a:p xmlns:a="http://schemas.openxmlformats.org/drawingml/2006/main">
            <a:r>
              <a:t>Sources:</a:t>
            </a:r>
          </a:p>
          <a:p xmlns:a="http://schemas.openxmlformats.org/drawingml/2006/main">
            <a:r>
              <a:t>https://github.com/waleedirfan2006-arch/Heat-Shift-/blob/main/TEAM_CONTRIBUTIONS.md</a:t>
            </a:r>
          </a:p>
          <a:p xmlns:a="http://schemas.openxmlformats.org/drawingml/2006/main">
            <a:r>
              <a:t>https://github.com/waleedirfan2006-arch/Heat-Shift-/blob/main/AI_Use_Log.md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a:t>
            </a:r>
          </a:p>
          <a:p xmlns:a="http://schemas.openxmlformats.org/drawingml/2006/main">
            <a:r>
              <a:t>All scores use mean absolute error in Celsius. January is the group where the model loses to persistence. March calibration uses 183 Karachi, 398 Lahore and 174 Multan examples, separate from the Jan-Feb validation. Calibration coverage is approximately 90% on the calibration rows themselves. It is not independent future coverage. Time dependence limits a simple coverage interpretation.</a:t>
            </a:r>
          </a:p>
          <a:p xmlns:a="http://schemas.openxmlformats.org/drawingml/2006/main">
            <a:r>
              <a:t>Do not read the chart/table as percent accuracy.</a:t>
            </a:r>
          </a:p>
          <a:p xmlns:a="http://schemas.openxmlformats.org/drawingml/2006/main">
            <a:r>
              <a:t/>
            </a:r>
          </a:p>
          <a:p xmlns:a="http://schemas.openxmlformats.org/drawingml/2006/main">
            <a:r>
              <a:t>Sources:</a:t>
            </a:r>
          </a:p>
          <a:p xmlns:a="http://schemas.openxmlformats.org/drawingml/2006/main">
            <a:r>
              <a:t>https://github.com/waleedirfan2006-arch/Heat-Shift-/blob/main/evidence/final_audit/primary_model/metrics.json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a:t>
            </a:r>
          </a:p>
          <a:p xmlns:a="http://schemas.openxmlformats.org/drawingml/2006/main">
            <a:r>
              <a:t>These are context-specific benchmarks, not service-level guarantees. The quality and insight values are medians over five warm runs on 5,012 Karachi rows. Traced Python allocation peaks were 2,933,053 and 1,970,584 bytes, excluding native allocations. Original training peak memory and training speed were not verified. The exported model JSON is about 0.74 MiB. Browser startup and external requests dominate first use.</a:t>
            </a:r>
          </a:p>
          <a:p xmlns:a="http://schemas.openxmlformats.org/drawingml/2006/main">
            <a:r>
              <a:t>Educational outcomes include source receipts, time-based splits, baseline comparison, uncertainty, citation checks and honest refusals.</a:t>
            </a:r>
          </a:p>
          <a:p xmlns:a="http://schemas.openxmlformats.org/drawingml/2006/main">
            <a:r>
              <a:t/>
            </a:r>
          </a:p>
          <a:p xmlns:a="http://schemas.openxmlformats.org/drawingml/2006/main">
            <a:r>
              <a:t>Sources:</a:t>
            </a:r>
          </a:p>
          <a:p xmlns:a="http://schemas.openxmlformats.org/drawingml/2006/main">
            <a:r>
              <a:t>https://github.com/waleedirfan2006-arch/Heat-Shift-/blob/main/OPTIMIZATION_LOG.md</a:t>
            </a:r>
          </a:p>
          <a:p xmlns:a="http://schemas.openxmlformats.org/drawingml/2006/main">
            <a:r>
              <a:t>https://github.com/waleedirfan2006-arch/Heat-Shift-/blob/main/evidence/final_audit/agent_benchmarks.json</a:t>
            </a:r>
          </a:p>
          <a:p xmlns:a="http://schemas.openxmlformats.org/drawingml/2006/main">
            <a:r>
              <a:t>https://github.com/waleedirfan2006-arch/Heat-Shift-/blob/main/AI_Use_Log.md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ONLY</a:t>
            </a:r>
          </a:p>
          <a:p xmlns:a="http://schemas.openxmlformats.org/drawingml/2006/main">
            <a:r>
              <a:t>Primary source documentation and project records are linked below. The exact original Open-Meteo collection URL/model/fetch time and original JMA fitting-feature/search records remain incomplete. Fresh archive receipts prove the audit reproduction, not the original data arrival.</a:t>
            </a:r>
          </a:p>
          <a:p xmlns:a="http://schemas.openxmlformats.org/drawingml/2006/main">
            <a:r>
              <a:t>Submission reminder: the latest organizer notice requires slides, project demonstration and the submitted Devpost link. Every team member must attend and understand their part. This deck provides approximately six minutes of presentation/demo plus four minutes of questions. Check team slot and reporting time separately.</a:t>
            </a:r>
          </a:p>
          <a:p xmlns:a="http://schemas.openxmlformats.org/drawingml/2006/main">
            <a:r>
              <a:t>AI disclosure: Codex substantially assisted with integration, evaluation, automation and documents. User-reported team roles remain distinct from file-by-file authorship verification.</a:t>
            </a:r>
          </a:p>
          <a:p xmlns:a="http://schemas.openxmlformats.org/drawingml/2006/main">
            <a:r>
              <a:t/>
            </a:r>
          </a:p>
          <a:p xmlns:a="http://schemas.openxmlformats.org/drawingml/2006/main">
            <a:r>
              <a:t>Sources:</a:t>
            </a:r>
          </a:p>
          <a:p xmlns:a="http://schemas.openxmlformats.org/drawingml/2006/main">
            <a:r>
              <a:t>https://www.ncei.noaa.gov/products/land-based-station/integrated-surface-database</a:t>
            </a:r>
          </a:p>
          <a:p xmlns:a="http://schemas.openxmlformats.org/drawingml/2006/main">
            <a:r>
              <a:t>https://open-meteo.com/en/docs/previous-runs-api</a:t>
            </a:r>
          </a:p>
          <a:p xmlns:a="http://schemas.openxmlformats.org/drawingml/2006/main">
            <a:r>
              <a:t>https://aviationweather.gov/data/api/</a:t>
            </a:r>
          </a:p>
          <a:p xmlns:a="http://schemas.openxmlformats.org/drawingml/2006/main">
            <a:r>
              <a:t>https://github.com/waleedirfan2006-arch/Heat-Shift-/blob/main/AI_Use_Log.md</a:t>
            </a:r>
          </a:p>
          <a:p xmlns:a="http://schemas.openxmlformats.org/drawingml/2006/main">
            <a:r>
              <a:t>https://github.com/waleedirfan2006-arch/Heat-Shift-/blob/main/TEAM_CONTRIBUTIONS.md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ab3648a1ff495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129a44f52946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7e43cfbf0fe44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2c8cf2e1874b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f70e3b32654f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ce365b6ace4e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8C3301-7B68-4BF8-A965-11A56A5A2CA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8099508-7D86-4039-AD04-BDBD2F311D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1E0A236-F34E-4782-8A4A-F6007AB2D23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AF9F10-792C-4B10-BE23-5978018156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5D48E68-3BFC-4E4B-A151-364B4997DD0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95C1D96-8176-4D5E-8A35-319305E0D1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034A65-3966-4FCD-9D07-79AC6CB12E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611BA11-6FA4-47C8-8DE0-08234DB898C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034B41-9D31-4715-8ADE-9CB2B3DE81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BA665B-9113-48F6-8E06-7ADC6FCED4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4fc3d337074521" /><Relationship Type="http://schemas.openxmlformats.org/officeDocument/2006/relationships/slideLayout" Target="/ppt/slideLayouts/slideLayout1.xml" Id="R10ebb952abe24e61" /><Relationship Type="http://schemas.openxmlformats.org/officeDocument/2006/relationships/slideLayout" Target="/ppt/slideLayouts/slideLayout2.xml" Id="R733378e2983f4a2c" /><Relationship Type="http://schemas.openxmlformats.org/officeDocument/2006/relationships/slideLayout" Target="/ppt/slideLayouts/slideLayout3.xml" Id="R3ef377f40c574140" /><Relationship Type="http://schemas.openxmlformats.org/officeDocument/2006/relationships/slideLayout" Target="/ppt/slideLayouts/slideLayout4.xml" Id="Re336301bbd184b43" /><Relationship Type="http://schemas.openxmlformats.org/officeDocument/2006/relationships/slideLayout" Target="/ppt/slideLayouts/slideLayout5.xml" Id="R826dba42e9f74083" /><Relationship Type="http://schemas.openxmlformats.org/officeDocument/2006/relationships/slideLayout" Target="/ppt/slideLayouts/slideLayout6.xml" Id="Re6c2171a2f274a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ebb952abe24e61"/>
    <p:sldLayoutId xmlns:r="http://schemas.openxmlformats.org/officeDocument/2006/relationships" id="2147483650" r:id="R733378e2983f4a2c"/>
    <p:sldLayoutId xmlns:r="http://schemas.openxmlformats.org/officeDocument/2006/relationships" id="2147483651" r:id="R3ef377f40c574140"/>
    <p:sldLayoutId xmlns:r="http://schemas.openxmlformats.org/officeDocument/2006/relationships" id="2147483652" r:id="Re336301bbd184b43"/>
    <p:sldLayoutId xmlns:r="http://schemas.openxmlformats.org/officeDocument/2006/relationships" id="2147483653" r:id="R826dba42e9f74083"/>
    <p:sldLayoutId xmlns:r="http://schemas.openxmlformats.org/officeDocument/2006/relationships" id="2147483654" r:id="Re6c2171a2f274a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866c0730834faa" /><Relationship Type="http://schemas.openxmlformats.org/officeDocument/2006/relationships/notesSlide" Target="/ppt/notesSlides/notesSlide1.xml" Id="Re63ee1dfc64b46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0f67fee27ec4edd" /><Relationship Type="http://schemas.openxmlformats.org/officeDocument/2006/relationships/image" Target="/ppt/media/image.jpeg" Id="Rf32c1213224441f3" /><Relationship Type="http://schemas.openxmlformats.org/officeDocument/2006/relationships/notesSlide" Target="/ppt/notesSlides/notesSlide2.xml" Id="R06287a00c69543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bc6ca693074559" /><Relationship Type="http://schemas.openxmlformats.org/officeDocument/2006/relationships/notesSlide" Target="/ppt/notesSlides/notesSlide3.xml" Id="Rc4c63f458dd944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30cd21fffc64ab8" /><Relationship Type="http://schemas.openxmlformats.org/officeDocument/2006/relationships/image" Target="/ppt/media/image2.jpeg" Id="R55ef4e5d3f2344c0" /><Relationship Type="http://schemas.openxmlformats.org/officeDocument/2006/relationships/notesSlide" Target="/ppt/notesSlides/notesSlide4.xml" Id="Rafe4ded967ff44a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bb333f43e0741fe" /><Relationship Type="http://schemas.openxmlformats.org/officeDocument/2006/relationships/image" Target="/ppt/media/image3.jpeg" Id="R9c989acab1b84478" /><Relationship Type="http://schemas.openxmlformats.org/officeDocument/2006/relationships/image" Target="/ppt/media/image4.jpeg" Id="Rf66deb5d7e8746c2" /><Relationship Type="http://schemas.openxmlformats.org/officeDocument/2006/relationships/notesSlide" Target="/ppt/notesSlides/notesSlide5.xml" Id="R3db018ec0e0f46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07b4c4957a4967" /><Relationship Type="http://schemas.openxmlformats.org/officeDocument/2006/relationships/hyperlink" Target="https://huggingface.co/spaces/Waleed-1234/HeatShift-Dashboard" TargetMode="External" Id="R0c994114509d40e1" /><Relationship Type="http://schemas.openxmlformats.org/officeDocument/2006/relationships/image" Target="/ppt/media/image5.jpeg" Id="Rc5fac2eb590a457e" /><Relationship Type="http://schemas.openxmlformats.org/officeDocument/2006/relationships/notesSlide" Target="/ppt/notesSlides/notesSlide6.xml" Id="R7936af882e3f49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4456ccc1f03470e" /><Relationship Type="http://schemas.openxmlformats.org/officeDocument/2006/relationships/chart" Target="/ppt/slides/charts/chart1.xml" Id="R556b775345f642ee" /><Relationship Type="http://schemas.openxmlformats.org/officeDocument/2006/relationships/notesSlide" Target="/ppt/notesSlides/notesSlide7.xml" Id="R3a7e4a7105d243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b4c38f8a50481e" /><Relationship Type="http://schemas.openxmlformats.org/officeDocument/2006/relationships/notesSlide" Target="/ppt/notesSlides/notesSlide8.xml" Id="Rc18a7b272c454f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b6bdec78d03430d" /><Relationship Type="http://schemas.openxmlformats.org/officeDocument/2006/relationships/notesSlide" Target="/ppt/notesSlides/notesSlide9.xml" Id="R03c1fe118c9e47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12facaabc224dbb" /><Relationship Type="http://schemas.openxmlformats.org/officeDocument/2006/relationships/notesSlide" Target="/ppt/notesSlides/notesSlide10.xml" Id="Rd02e02dda2bf4c4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7b9c7685a44a6f" /><Relationship Type="http://schemas.openxmlformats.org/officeDocument/2006/relationships/notesSlide" Target="/ppt/notesSlides/notesSlide11.xml" Id="R49bd873b17934c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11348c235544ade" /><Relationship Type="http://schemas.openxmlformats.org/officeDocument/2006/relationships/hyperlink" Target="https://huggingface.co/spaces/Waleed-1234/HeatShift-Dashboard" TargetMode="External" Id="R01d3a837d477429d" /><Relationship Type="http://schemas.openxmlformats.org/officeDocument/2006/relationships/hyperlink" Target="https://github.com/waleedirfan2006-arch/Heat-Shift-" TargetMode="External" Id="Rd4073a044dfb4db8" /><Relationship Type="http://schemas.openxmlformats.org/officeDocument/2006/relationships/hyperlink" Target="https://github.com/waleedirfan2006-arch/Heat-Shift-/raw/refs/heads/main/submission/HeatShift_Demo.mp4" TargetMode="External" Id="R1a8711983ef14e37" /><Relationship Type="http://schemas.openxmlformats.org/officeDocument/2006/relationships/hyperlink" Target="https://github.com/waleedirfan2006-arch/Heat-Shift-/tree/main/evidence/final_audit/primary_model" TargetMode="External" Id="R9a2d295a5e1343cb" /><Relationship Type="http://schemas.openxmlformats.org/officeDocument/2006/relationships/notesSlide" Target="/ppt/notesSlides/notesSlide12.xml" Id="Rce7f5941e9094787" /></Relationships>
</file>

<file path=ppt/slides/charts/chart1.xml><?xml version="1.0" encoding="utf-8"?>
<c:chartSpace xmlns:c="http://schemas.openxmlformats.org/drawingml/2006/chart">
  <c:lang val="en-US"/>
  <c:chart>
    <c:plotArea>
      <c:barChart>
        <c:barDir val="bar"/>
        <c:grouping val="clustered"/>
        <c:varyColors val="0"/>
        <c:ser>
          <c:idx val="0"/>
          <c:order val="0"/>
          <c:tx>
            <c:v>MAE (°C)</c:v>
          </c:tx>
          <c:spPr>
            <a:solidFill xmlns:a="http://schemas.openxmlformats.org/drawingml/2006/main">
              <a:srgbClr val="143D33"/>
            </a:solidFill>
          </c:spPr>
          <c:invertIfNegative val="0"/>
          <c:cat>
            <c:strLit>
              <c:ptCount val="2"/>
              <c:pt idx="0">
                <c:v>Persistence baseline</c:v>
              </c:pt>
              <c:pt idx="1">
                <c:v>HeatShift model</c:v>
              </c:pt>
            </c:strLit>
          </c:cat>
          <c:val>
            <c:numLit>
              <c:formatCode>0.0</c:formatCode>
              <c:ptCount val="2"/>
              <c:pt idx="0">
                <c:v>1.2351654514862591</c:v>
              </c:pt>
              <c:pt idx="1">
                <c:v>1.1019464086208355</c:v>
              </c:pt>
            </c:numLit>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173C31"/>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C31"/>
                </a:solidFill>
                <a:latin typeface="Arial"/>
                <a:ea typeface="Arial"/>
                <a:cs typeface="Arial"/>
              </a:defRPr>
            </a:pPr>
          </a:p>
        </c:txPr>
        <c:crossAx val="48672768"/>
      </c:catAx>
      <c:valAx>
        <c:axId val="48672768"/>
        <c:scaling>
          <c:orientation val="minMax"/>
          <c:max val="1.5"/>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C31"/>
                </a:solidFill>
                <a:latin typeface="Arial"/>
                <a:ea typeface="Arial"/>
                <a:cs typeface="Arial"/>
              </a:defRPr>
            </a:pPr>
          </a:p>
        </c:txPr>
        <c:crossAx val="48650112"/>
        <c:crossBetween val="between"/>
        <c:majorUnit val="0.5"/>
      </c:valAx>
      <c:spPr>
        <a:noFill xmlns:a="http://schemas.openxmlformats.org/drawingml/2006/main"/>
      </c:spPr>
    </c:plotArea>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143D3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EAF3D34-8566-4C56-A5F4-004B247C5199}"/>
              </a:ext>
            </a:extLst>
          </p:cNvPr>
          <p:cNvSpPr>
            <a:spLocks xmlns:a="http://schemas.openxmlformats.org/drawingml/2006/main" noGrp="1"/>
          </p:cNvSpPr>
          <p:nvPr/>
        </p:nvSpPr>
        <p:spPr>
          <a:xfrm xmlns:a="http://schemas.openxmlformats.org/drawingml/2006/main">
            <a:off x="4857750" y="4000500"/>
            <a:ext cx="672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FFFFFF"/>
                </a:solidFill>
                <a:latin typeface="Arial"/>
                <a:ea typeface="Arial"/>
                <a:cs typeface="Arial"/>
              </a:defRPr>
            </a:defPPr>
            <a:lvl1pPr>
              <a:defRPr sz="2250" b="0">
                <a:solidFill>
                  <a:srgbClr val="FFFFFF"/>
                </a:solidFill>
                <a:latin typeface="Arial"/>
                <a:ea typeface="Arial"/>
                <a:cs typeface="Arial"/>
              </a:defRPr>
            </a:lvl1pPr>
            <a:lvl2pPr>
              <a:defRPr sz="2250" b="0">
                <a:solidFill>
                  <a:srgbClr val="FFFFFF"/>
                </a:solidFill>
                <a:latin typeface="Arial"/>
                <a:ea typeface="Arial"/>
                <a:cs typeface="Arial"/>
              </a:defRPr>
            </a:lvl2pPr>
            <a:lvl3pPr>
              <a:defRPr sz="2250" b="0">
                <a:solidFill>
                  <a:srgbClr val="FFFFFF"/>
                </a:solidFill>
                <a:latin typeface="Arial"/>
                <a:ea typeface="Arial"/>
                <a:cs typeface="Arial"/>
              </a:defRPr>
            </a:lvl3pPr>
            <a:lvl4pPr>
              <a:defRPr sz="2250" b="0">
                <a:solidFill>
                  <a:srgbClr val="FFFFFF"/>
                </a:solidFill>
                <a:latin typeface="Arial"/>
                <a:ea typeface="Arial"/>
                <a:cs typeface="Arial"/>
              </a:defRPr>
            </a:lvl4pPr>
            <a:lvl5pPr>
              <a:defRPr sz="2250" b="0">
                <a:solidFill>
                  <a:srgbClr val="FFFFFF"/>
                </a:solidFill>
                <a:latin typeface="Arial"/>
                <a:ea typeface="Arial"/>
                <a:cs typeface="Arial"/>
              </a:defRPr>
            </a:lvl5pPr>
            <a:lvl6pPr>
              <a:defRPr sz="2250" b="0">
                <a:solidFill>
                  <a:srgbClr val="FFFFFF"/>
                </a:solidFill>
                <a:latin typeface="Arial"/>
                <a:ea typeface="Arial"/>
                <a:cs typeface="Arial"/>
              </a:defRPr>
            </a:lvl6pPr>
            <a:lvl7pPr>
              <a:defRPr sz="2250" b="0">
                <a:solidFill>
                  <a:srgbClr val="FFFFFF"/>
                </a:solidFill>
                <a:latin typeface="Arial"/>
                <a:ea typeface="Arial"/>
                <a:cs typeface="Arial"/>
              </a:defRPr>
            </a:lvl7pPr>
            <a:lvl8pPr>
              <a:defRPr sz="2250" b="0">
                <a:solidFill>
                  <a:srgbClr val="FFFFFF"/>
                </a:solidFill>
                <a:latin typeface="Arial"/>
                <a:ea typeface="Arial"/>
                <a:cs typeface="Arial"/>
              </a:defRPr>
            </a:lvl8pPr>
            <a:lvl9pPr>
              <a:defRPr sz="2250" b="0">
                <a:solidFill>
                  <a:srgbClr val="FFFFFF"/>
                </a:solidFill>
                <a:latin typeface="Arial"/>
                <a:ea typeface="Arial"/>
                <a:cs typeface="Arial"/>
              </a:defRPr>
            </a:lvl9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
            </a:r>
          </a:p>
        </p:txBody>
      </p:sp>
      <p:sp>
        <p:nvSpPr>
          <p:cNvPr id="3" name="">
            <a:extLst xmlns:a="http://schemas.openxmlformats.org/drawingml/2006/main">
              <a:ext uri="{FF2B5EF4-FFF2-40B4-BE49-F238E27FC236}">
                <a16:creationId xmlns:a16="http://schemas.microsoft.com/office/drawing/2014/main" id="{20949F6B-2A0A-42CA-94B8-F88D2188DEAD}"/>
              </a:ext>
            </a:extLst>
          </p:cNvPr>
          <p:cNvSpPr>
            <a:spLocks xmlns:a="http://schemas.openxmlformats.org/drawingml/2006/main" noGrp="1"/>
          </p:cNvSpPr>
          <p:nvPr/>
        </p:nvSpPr>
        <p:spPr>
          <a:xfrm xmlns:a="http://schemas.openxmlformats.org/drawingml/2006/main">
            <a:off x="609600" y="54006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D9E9B4"/>
                </a:solidFill>
                <a:latin typeface="Arial"/>
                <a:ea typeface="Arial"/>
                <a:cs typeface="Arial"/>
              </a:defRPr>
            </a:defPPr>
            <a:lvl1pPr>
              <a:defRPr sz="2175" b="0">
                <a:solidFill>
                  <a:srgbClr val="D9E9B4"/>
                </a:solidFill>
                <a:latin typeface="Arial"/>
                <a:ea typeface="Arial"/>
                <a:cs typeface="Arial"/>
              </a:defRPr>
            </a:lvl1pPr>
            <a:lvl2pPr>
              <a:defRPr sz="2175" b="0">
                <a:solidFill>
                  <a:srgbClr val="D9E9B4"/>
                </a:solidFill>
                <a:latin typeface="Arial"/>
                <a:ea typeface="Arial"/>
                <a:cs typeface="Arial"/>
              </a:defRPr>
            </a:lvl2pPr>
            <a:lvl3pPr>
              <a:defRPr sz="2175" b="0">
                <a:solidFill>
                  <a:srgbClr val="D9E9B4"/>
                </a:solidFill>
                <a:latin typeface="Arial"/>
                <a:ea typeface="Arial"/>
                <a:cs typeface="Arial"/>
              </a:defRPr>
            </a:lvl3pPr>
            <a:lvl4pPr>
              <a:defRPr sz="2175" b="0">
                <a:solidFill>
                  <a:srgbClr val="D9E9B4"/>
                </a:solidFill>
                <a:latin typeface="Arial"/>
                <a:ea typeface="Arial"/>
                <a:cs typeface="Arial"/>
              </a:defRPr>
            </a:lvl4pPr>
            <a:lvl5pPr>
              <a:defRPr sz="2175" b="0">
                <a:solidFill>
                  <a:srgbClr val="D9E9B4"/>
                </a:solidFill>
                <a:latin typeface="Arial"/>
                <a:ea typeface="Arial"/>
                <a:cs typeface="Arial"/>
              </a:defRPr>
            </a:lvl5pPr>
            <a:lvl6pPr>
              <a:defRPr sz="2175" b="0">
                <a:solidFill>
                  <a:srgbClr val="D9E9B4"/>
                </a:solidFill>
                <a:latin typeface="Arial"/>
                <a:ea typeface="Arial"/>
                <a:cs typeface="Arial"/>
              </a:defRPr>
            </a:lvl6pPr>
            <a:lvl7pPr>
              <a:defRPr sz="2175" b="0">
                <a:solidFill>
                  <a:srgbClr val="D9E9B4"/>
                </a:solidFill>
                <a:latin typeface="Arial"/>
                <a:ea typeface="Arial"/>
                <a:cs typeface="Arial"/>
              </a:defRPr>
            </a:lvl7pPr>
            <a:lvl8pPr>
              <a:defRPr sz="2175" b="0">
                <a:solidFill>
                  <a:srgbClr val="D9E9B4"/>
                </a:solidFill>
                <a:latin typeface="Arial"/>
                <a:ea typeface="Arial"/>
                <a:cs typeface="Arial"/>
              </a:defRPr>
            </a:lvl8pPr>
            <a:lvl9pPr>
              <a:defRPr sz="2175" b="0">
                <a:solidFill>
                  <a:srgbClr val="D9E9B4"/>
                </a:solidFill>
                <a:latin typeface="Arial"/>
                <a:ea typeface="Arial"/>
                <a:cs typeface="Arial"/>
              </a:defRPr>
            </a:lvl9pPr>
          </a:lstStyle>
          <a:p xmlns:a="http://schemas.openxmlformats.org/drawingml/2006/main">
            <a:pPr>
              <a:defRPr sz="2175" b="0">
                <a:solidFill>
                  <a:srgbClr val="D9E9B4"/>
                </a:solidFill>
                <a:latin typeface="Arial"/>
                <a:ea typeface="Arial"/>
                <a:cs typeface="Arial"/>
              </a:defRPr>
            </a:pPr>
            <a:r>
              <a:rPr sz="2175" b="0">
                <a:solidFill>
                  <a:srgbClr val="D9E9B4"/>
                </a:solidFill>
                <a:latin typeface="Arial"/>
                <a:ea typeface="Arial"/>
                <a:cs typeface="Arial"/>
              </a:rPr>
              <a:t/>
            </a:r>
          </a:p>
        </p:txBody>
      </p:sp>
      <p:sp>
        <p:nvSpPr>
          <p:cNvPr id="4" name="">
            <a:extLst xmlns:a="http://schemas.openxmlformats.org/drawingml/2006/main">
              <a:ext uri="{FF2B5EF4-FFF2-40B4-BE49-F238E27FC236}">
                <a16:creationId xmlns:a16="http://schemas.microsoft.com/office/drawing/2014/main" id="{4C02754D-50DE-45FA-990E-716C411A2733}"/>
              </a:ext>
            </a:extLst>
          </p:cNvPr>
          <p:cNvSpPr>
            <a:spLocks xmlns:a="http://schemas.openxmlformats.org/drawingml/2006/main" noGrp="1"/>
          </p:cNvSpPr>
          <p:nvPr/>
        </p:nvSpPr>
        <p:spPr>
          <a:xfrm xmlns:a="http://schemas.openxmlformats.org/drawingml/2006/main">
            <a:off x="609600" y="5524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FFFFFF"/>
                </a:solidFill>
                <a:latin typeface="Arial"/>
                <a:ea typeface="Arial"/>
                <a:cs typeface="Arial"/>
              </a:defRPr>
            </a:defPPr>
            <a:lvl1pPr>
              <a:defRPr sz="4800" b="1">
                <a:solidFill>
                  <a:srgbClr val="FFFFFF"/>
                </a:solidFill>
                <a:latin typeface="Arial"/>
                <a:ea typeface="Arial"/>
                <a:cs typeface="Arial"/>
              </a:defRPr>
            </a:lvl1pPr>
            <a:lvl2pPr>
              <a:defRPr sz="4800" b="1">
                <a:solidFill>
                  <a:srgbClr val="FFFFFF"/>
                </a:solidFill>
                <a:latin typeface="Arial"/>
                <a:ea typeface="Arial"/>
                <a:cs typeface="Arial"/>
              </a:defRPr>
            </a:lvl2pPr>
            <a:lvl3pPr>
              <a:defRPr sz="4800" b="1">
                <a:solidFill>
                  <a:srgbClr val="FFFFFF"/>
                </a:solidFill>
                <a:latin typeface="Arial"/>
                <a:ea typeface="Arial"/>
                <a:cs typeface="Arial"/>
              </a:defRPr>
            </a:lvl3pPr>
            <a:lvl4pPr>
              <a:defRPr sz="4800" b="1">
                <a:solidFill>
                  <a:srgbClr val="FFFFFF"/>
                </a:solidFill>
                <a:latin typeface="Arial"/>
                <a:ea typeface="Arial"/>
                <a:cs typeface="Arial"/>
              </a:defRPr>
            </a:lvl4pPr>
            <a:lvl5pPr>
              <a:defRPr sz="4800" b="1">
                <a:solidFill>
                  <a:srgbClr val="FFFFFF"/>
                </a:solidFill>
                <a:latin typeface="Arial"/>
                <a:ea typeface="Arial"/>
                <a:cs typeface="Arial"/>
              </a:defRPr>
            </a:lvl5pPr>
            <a:lvl6pPr>
              <a:defRPr sz="4800" b="1">
                <a:solidFill>
                  <a:srgbClr val="FFFFFF"/>
                </a:solidFill>
                <a:latin typeface="Arial"/>
                <a:ea typeface="Arial"/>
                <a:cs typeface="Arial"/>
              </a:defRPr>
            </a:lvl6pPr>
            <a:lvl7pPr>
              <a:defRPr sz="4800" b="1">
                <a:solidFill>
                  <a:srgbClr val="FFFFFF"/>
                </a:solidFill>
                <a:latin typeface="Arial"/>
                <a:ea typeface="Arial"/>
                <a:cs typeface="Arial"/>
              </a:defRPr>
            </a:lvl7pPr>
            <a:lvl8pPr>
              <a:defRPr sz="4800" b="1">
                <a:solidFill>
                  <a:srgbClr val="FFFFFF"/>
                </a:solidFill>
                <a:latin typeface="Arial"/>
                <a:ea typeface="Arial"/>
                <a:cs typeface="Arial"/>
              </a:defRPr>
            </a:lvl8pPr>
            <a:lvl9pPr>
              <a:defRPr sz="4800" b="1">
                <a:solidFill>
                  <a:srgbClr val="FFFFFF"/>
                </a:solidFill>
                <a:latin typeface="Arial"/>
                <a:ea typeface="Arial"/>
                <a:cs typeface="Arial"/>
              </a:defRPr>
            </a:lvl9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HeatShift</a:t>
            </a:r>
          </a:p>
        </p:txBody>
      </p:sp>
      <p:sp>
        <p:nvSpPr>
          <p:cNvPr id="5" name="">
            <a:extLst xmlns:a="http://schemas.openxmlformats.org/drawingml/2006/main">
              <a:ext uri="{FF2B5EF4-FFF2-40B4-BE49-F238E27FC236}">
                <a16:creationId xmlns:a16="http://schemas.microsoft.com/office/drawing/2014/main" id="{0359253C-599A-477B-A7EF-34E1B5A346AC}"/>
              </a:ext>
            </a:extLst>
          </p:cNvPr>
          <p:cNvSpPr>
            <a:spLocks xmlns:a="http://schemas.openxmlformats.org/drawingml/2006/main" noGrp="1"/>
          </p:cNvSpPr>
          <p:nvPr/>
        </p:nvSpPr>
        <p:spPr>
          <a:xfrm xmlns:a="http://schemas.openxmlformats.org/drawingml/2006/main">
            <a:off x="609600" y="2038350"/>
            <a:ext cx="109728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FFFFFF"/>
                </a:solidFill>
                <a:latin typeface="Arial"/>
                <a:ea typeface="Arial"/>
                <a:cs typeface="Arial"/>
              </a:defRPr>
            </a:defPPr>
            <a:lvl1pPr>
              <a:defRPr sz="3900" b="1">
                <a:solidFill>
                  <a:srgbClr val="FFFFFF"/>
                </a:solidFill>
                <a:latin typeface="Arial"/>
                <a:ea typeface="Arial"/>
                <a:cs typeface="Arial"/>
              </a:defRPr>
            </a:lvl1pPr>
            <a:lvl2pPr>
              <a:defRPr sz="3900" b="1">
                <a:solidFill>
                  <a:srgbClr val="FFFFFF"/>
                </a:solidFill>
                <a:latin typeface="Arial"/>
                <a:ea typeface="Arial"/>
                <a:cs typeface="Arial"/>
              </a:defRPr>
            </a:lvl2pPr>
            <a:lvl3pPr>
              <a:defRPr sz="3900" b="1">
                <a:solidFill>
                  <a:srgbClr val="FFFFFF"/>
                </a:solidFill>
                <a:latin typeface="Arial"/>
                <a:ea typeface="Arial"/>
                <a:cs typeface="Arial"/>
              </a:defRPr>
            </a:lvl3pPr>
            <a:lvl4pPr>
              <a:defRPr sz="3900" b="1">
                <a:solidFill>
                  <a:srgbClr val="FFFFFF"/>
                </a:solidFill>
                <a:latin typeface="Arial"/>
                <a:ea typeface="Arial"/>
                <a:cs typeface="Arial"/>
              </a:defRPr>
            </a:lvl4pPr>
            <a:lvl5pPr>
              <a:defRPr sz="3900" b="1">
                <a:solidFill>
                  <a:srgbClr val="FFFFFF"/>
                </a:solidFill>
                <a:latin typeface="Arial"/>
                <a:ea typeface="Arial"/>
                <a:cs typeface="Arial"/>
              </a:defRPr>
            </a:lvl5pPr>
            <a:lvl6pPr>
              <a:defRPr sz="3900" b="1">
                <a:solidFill>
                  <a:srgbClr val="FFFFFF"/>
                </a:solidFill>
                <a:latin typeface="Arial"/>
                <a:ea typeface="Arial"/>
                <a:cs typeface="Arial"/>
              </a:defRPr>
            </a:lvl6pPr>
            <a:lvl7pPr>
              <a:defRPr sz="3900" b="1">
                <a:solidFill>
                  <a:srgbClr val="FFFFFF"/>
                </a:solidFill>
                <a:latin typeface="Arial"/>
                <a:ea typeface="Arial"/>
                <a:cs typeface="Arial"/>
              </a:defRPr>
            </a:lvl7pPr>
            <a:lvl8pPr>
              <a:defRPr sz="3900" b="1">
                <a:solidFill>
                  <a:srgbClr val="FFFFFF"/>
                </a:solidFill>
                <a:latin typeface="Arial"/>
                <a:ea typeface="Arial"/>
                <a:cs typeface="Arial"/>
              </a:defRPr>
            </a:lvl8pPr>
            <a:lvl9pPr>
              <a:defRPr sz="3900" b="1">
                <a:solidFill>
                  <a:srgbClr val="FFFFFF"/>
                </a:solidFill>
                <a:latin typeface="Arial"/>
                <a:ea typeface="Arial"/>
                <a:cs typeface="Arial"/>
              </a:defRPr>
            </a:lvl9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Tomorrow’s temperature,</a:t>
            </a:r>
          </a:p>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with evidence you can check</a:t>
            </a:r>
          </a:p>
        </p:txBody>
      </p:sp>
      <p:sp>
        <p:nvSpPr>
          <p:cNvPr id="6" name="">
            <a:extLst xmlns:a="http://schemas.openxmlformats.org/drawingml/2006/main">
              <a:ext uri="{FF2B5EF4-FFF2-40B4-BE49-F238E27FC236}">
                <a16:creationId xmlns:a16="http://schemas.microsoft.com/office/drawing/2014/main" id="{361ECA37-E274-44A5-8C78-4BE76A46FC4A}"/>
              </a:ext>
            </a:extLst>
          </p:cNvPr>
          <p:cNvSpPr>
            <a:spLocks xmlns:a="http://schemas.openxmlformats.org/drawingml/2006/main" noGrp="1"/>
          </p:cNvSpPr>
          <p:nvPr/>
        </p:nvSpPr>
        <p:spPr>
          <a:xfrm xmlns:a="http://schemas.openxmlformats.org/drawingml/2006/main">
            <a:off x="609600" y="40195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D9E9B4"/>
                </a:solidFill>
                <a:latin typeface="Arial"/>
                <a:ea typeface="Arial"/>
                <a:cs typeface="Arial"/>
              </a:defRPr>
            </a:defPPr>
            <a:lvl1pPr>
              <a:defRPr sz="2250" b="0">
                <a:solidFill>
                  <a:srgbClr val="D9E9B4"/>
                </a:solidFill>
                <a:latin typeface="Arial"/>
                <a:ea typeface="Arial"/>
                <a:cs typeface="Arial"/>
              </a:defRPr>
            </a:lvl1pPr>
            <a:lvl2pPr>
              <a:defRPr sz="2250" b="0">
                <a:solidFill>
                  <a:srgbClr val="D9E9B4"/>
                </a:solidFill>
                <a:latin typeface="Arial"/>
                <a:ea typeface="Arial"/>
                <a:cs typeface="Arial"/>
              </a:defRPr>
            </a:lvl2pPr>
            <a:lvl3pPr>
              <a:defRPr sz="2250" b="0">
                <a:solidFill>
                  <a:srgbClr val="D9E9B4"/>
                </a:solidFill>
                <a:latin typeface="Arial"/>
                <a:ea typeface="Arial"/>
                <a:cs typeface="Arial"/>
              </a:defRPr>
            </a:lvl3pPr>
            <a:lvl4pPr>
              <a:defRPr sz="2250" b="0">
                <a:solidFill>
                  <a:srgbClr val="D9E9B4"/>
                </a:solidFill>
                <a:latin typeface="Arial"/>
                <a:ea typeface="Arial"/>
                <a:cs typeface="Arial"/>
              </a:defRPr>
            </a:lvl4pPr>
            <a:lvl5pPr>
              <a:defRPr sz="2250" b="0">
                <a:solidFill>
                  <a:srgbClr val="D9E9B4"/>
                </a:solidFill>
                <a:latin typeface="Arial"/>
                <a:ea typeface="Arial"/>
                <a:cs typeface="Arial"/>
              </a:defRPr>
            </a:lvl5pPr>
            <a:lvl6pPr>
              <a:defRPr sz="2250" b="0">
                <a:solidFill>
                  <a:srgbClr val="D9E9B4"/>
                </a:solidFill>
                <a:latin typeface="Arial"/>
                <a:ea typeface="Arial"/>
                <a:cs typeface="Arial"/>
              </a:defRPr>
            </a:lvl6pPr>
            <a:lvl7pPr>
              <a:defRPr sz="2250" b="0">
                <a:solidFill>
                  <a:srgbClr val="D9E9B4"/>
                </a:solidFill>
                <a:latin typeface="Arial"/>
                <a:ea typeface="Arial"/>
                <a:cs typeface="Arial"/>
              </a:defRPr>
            </a:lvl7pPr>
            <a:lvl8pPr>
              <a:defRPr sz="2250" b="0">
                <a:solidFill>
                  <a:srgbClr val="D9E9B4"/>
                </a:solidFill>
                <a:latin typeface="Arial"/>
                <a:ea typeface="Arial"/>
                <a:cs typeface="Arial"/>
              </a:defRPr>
            </a:lvl8pPr>
            <a:lvl9pPr>
              <a:defRPr sz="2250" b="0">
                <a:solidFill>
                  <a:srgbClr val="D9E9B4"/>
                </a:solidFill>
                <a:latin typeface="Arial"/>
                <a:ea typeface="Arial"/>
                <a:cs typeface="Arial"/>
              </a:defRPr>
            </a:lvl9pPr>
          </a:lstStyle>
          <a:p xmlns:a="http://schemas.openxmlformats.org/drawingml/2006/main">
            <a:pPr>
              <a:defRPr sz="2250" b="0">
                <a:solidFill>
                  <a:srgbClr val="D9E9B4"/>
                </a:solidFill>
                <a:latin typeface="Arial"/>
                <a:ea typeface="Arial"/>
                <a:cs typeface="Arial"/>
              </a:defRPr>
            </a:pPr>
            <a:r>
              <a:rPr sz="2250" b="0">
                <a:solidFill>
                  <a:srgbClr val="D9E9B4"/>
                </a:solidFill>
                <a:latin typeface="Arial"/>
                <a:ea typeface="Arial"/>
                <a:cs typeface="Arial"/>
              </a:rPr>
              <a:t>Karachi, Lahore and Multan</a:t>
            </a:r>
          </a:p>
          <a:p xmlns:a="http://schemas.openxmlformats.org/drawingml/2006/main">
            <a:pPr>
              <a:defRPr sz="2250" b="0">
                <a:solidFill>
                  <a:srgbClr val="D9E9B4"/>
                </a:solidFill>
                <a:latin typeface="Arial"/>
                <a:ea typeface="Arial"/>
                <a:cs typeface="Arial"/>
              </a:defRPr>
            </a:pPr>
            <a:r>
              <a:rPr sz="2250" b="0">
                <a:solidFill>
                  <a:srgbClr val="D9E9B4"/>
                </a:solidFill>
                <a:latin typeface="Arial"/>
                <a:ea typeface="Arial"/>
                <a:cs typeface="Arial"/>
              </a:rPr>
              <a:t>A 24-hour airport temperature prototype</a:t>
            </a:r>
          </a:p>
        </p:txBody>
      </p:sp>
      <p:sp>
        <p:nvSpPr>
          <p:cNvPr id="7" name="">
            <a:extLst xmlns:a="http://schemas.openxmlformats.org/drawingml/2006/main">
              <a:ext uri="{FF2B5EF4-FFF2-40B4-BE49-F238E27FC236}">
                <a16:creationId xmlns:a16="http://schemas.microsoft.com/office/drawing/2014/main" id="{CF5BA906-050A-4F3D-81AD-F597EB67169B}"/>
              </a:ext>
            </a:extLst>
          </p:cNvPr>
          <p:cNvSpPr>
            <a:spLocks xmlns:a="http://schemas.openxmlformats.org/drawingml/2006/main" noGrp="1"/>
          </p:cNvSpPr>
          <p:nvPr/>
        </p:nvSpPr>
        <p:spPr>
          <a:xfrm xmlns:a="http://schemas.openxmlformats.org/drawingml/2006/main">
            <a:off x="609600" y="52959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FFFFFF"/>
                </a:solidFill>
                <a:latin typeface="Arial"/>
                <a:ea typeface="Arial"/>
                <a:cs typeface="Arial"/>
              </a:defRPr>
            </a:defPPr>
            <a:lvl1pPr>
              <a:defRPr sz="1800" b="0">
                <a:solidFill>
                  <a:srgbClr val="FFFFFF"/>
                </a:solidFill>
                <a:latin typeface="Arial"/>
                <a:ea typeface="Arial"/>
                <a:cs typeface="Arial"/>
              </a:defRPr>
            </a:lvl1pPr>
            <a:lvl2pPr>
              <a:defRPr sz="1800" b="0">
                <a:solidFill>
                  <a:srgbClr val="FFFFFF"/>
                </a:solidFill>
                <a:latin typeface="Arial"/>
                <a:ea typeface="Arial"/>
                <a:cs typeface="Arial"/>
              </a:defRPr>
            </a:lvl2pPr>
            <a:lvl3pPr>
              <a:defRPr sz="1800" b="0">
                <a:solidFill>
                  <a:srgbClr val="FFFFFF"/>
                </a:solidFill>
                <a:latin typeface="Arial"/>
                <a:ea typeface="Arial"/>
                <a:cs typeface="Arial"/>
              </a:defRPr>
            </a:lvl3pPr>
            <a:lvl4pPr>
              <a:defRPr sz="1800" b="0">
                <a:solidFill>
                  <a:srgbClr val="FFFFFF"/>
                </a:solidFill>
                <a:latin typeface="Arial"/>
                <a:ea typeface="Arial"/>
                <a:cs typeface="Arial"/>
              </a:defRPr>
            </a:lvl4pPr>
            <a:lvl5pPr>
              <a:defRPr sz="1800" b="0">
                <a:solidFill>
                  <a:srgbClr val="FFFFFF"/>
                </a:solidFill>
                <a:latin typeface="Arial"/>
                <a:ea typeface="Arial"/>
                <a:cs typeface="Arial"/>
              </a:defRPr>
            </a:lvl5pPr>
            <a:lvl6pPr>
              <a:defRPr sz="1800" b="0">
                <a:solidFill>
                  <a:srgbClr val="FFFFFF"/>
                </a:solidFill>
                <a:latin typeface="Arial"/>
                <a:ea typeface="Arial"/>
                <a:cs typeface="Arial"/>
              </a:defRPr>
            </a:lvl6pPr>
            <a:lvl7pPr>
              <a:defRPr sz="1800" b="0">
                <a:solidFill>
                  <a:srgbClr val="FFFFFF"/>
                </a:solidFill>
                <a:latin typeface="Arial"/>
                <a:ea typeface="Arial"/>
                <a:cs typeface="Arial"/>
              </a:defRPr>
            </a:lvl7pPr>
            <a:lvl8pPr>
              <a:defRPr sz="1800" b="0">
                <a:solidFill>
                  <a:srgbClr val="FFFFFF"/>
                </a:solidFill>
                <a:latin typeface="Arial"/>
                <a:ea typeface="Arial"/>
                <a:cs typeface="Arial"/>
              </a:defRPr>
            </a:lvl8pPr>
            <a:lvl9pPr>
              <a:defRPr sz="1800" b="0">
                <a:solidFill>
                  <a:srgbClr val="FFFFFF"/>
                </a:solidFill>
                <a:latin typeface="Arial"/>
                <a:ea typeface="Arial"/>
                <a:cs typeface="Arial"/>
              </a:defRPr>
            </a:lvl9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Waleed Irfan</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Syed Mateen Ali</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Aman Khan Lodhi</a:t>
            </a:r>
          </a:p>
        </p:txBody>
      </p:sp>
    </p:spTree>
    <p:extLst>
      <p:ext uri="{BB962C8B-B14F-4D97-AF65-F5344CB8AC3E}">
        <p14:creationId xmlns:p14="http://schemas.microsoft.com/office/powerpoint/2010/main" val="719444402"/>
      </p:ext>
    </p:extLst>
  </p:cSld>
</p:sld>
</file>

<file path=ppt/slides/slide2.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670BB4C-99A6-4E44-AA41-4F19504DA424}"/>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C31"/>
                </a:solidFill>
                <a:latin typeface="Arial"/>
                <a:ea typeface="Arial"/>
                <a:cs typeface="Arial"/>
              </a:defRPr>
            </a:defPPr>
            <a:lvl1pPr>
              <a:defRPr sz="3450" b="1">
                <a:solidFill>
                  <a:srgbClr val="173C31"/>
                </a:solidFill>
                <a:latin typeface="Arial"/>
                <a:ea typeface="Arial"/>
                <a:cs typeface="Arial"/>
              </a:defRPr>
            </a:lvl1pPr>
            <a:lvl2pPr>
              <a:defRPr sz="3450" b="1">
                <a:solidFill>
                  <a:srgbClr val="173C31"/>
                </a:solidFill>
                <a:latin typeface="Arial"/>
                <a:ea typeface="Arial"/>
                <a:cs typeface="Arial"/>
              </a:defRPr>
            </a:lvl2pPr>
            <a:lvl3pPr>
              <a:defRPr sz="3450" b="1">
                <a:solidFill>
                  <a:srgbClr val="173C31"/>
                </a:solidFill>
                <a:latin typeface="Arial"/>
                <a:ea typeface="Arial"/>
                <a:cs typeface="Arial"/>
              </a:defRPr>
            </a:lvl3pPr>
            <a:lvl4pPr>
              <a:defRPr sz="3450" b="1">
                <a:solidFill>
                  <a:srgbClr val="173C31"/>
                </a:solidFill>
                <a:latin typeface="Arial"/>
                <a:ea typeface="Arial"/>
                <a:cs typeface="Arial"/>
              </a:defRPr>
            </a:lvl4pPr>
            <a:lvl5pPr>
              <a:defRPr sz="3450" b="1">
                <a:solidFill>
                  <a:srgbClr val="173C31"/>
                </a:solidFill>
                <a:latin typeface="Arial"/>
                <a:ea typeface="Arial"/>
                <a:cs typeface="Arial"/>
              </a:defRPr>
            </a:lvl5pPr>
            <a:lvl6pPr>
              <a:defRPr sz="3450" b="1">
                <a:solidFill>
                  <a:srgbClr val="173C31"/>
                </a:solidFill>
                <a:latin typeface="Arial"/>
                <a:ea typeface="Arial"/>
                <a:cs typeface="Arial"/>
              </a:defRPr>
            </a:lvl6pPr>
            <a:lvl7pPr>
              <a:defRPr sz="3450" b="1">
                <a:solidFill>
                  <a:srgbClr val="173C31"/>
                </a:solidFill>
                <a:latin typeface="Arial"/>
                <a:ea typeface="Arial"/>
                <a:cs typeface="Arial"/>
              </a:defRPr>
            </a:lvl7pPr>
            <a:lvl8pPr>
              <a:defRPr sz="3450" b="1">
                <a:solidFill>
                  <a:srgbClr val="173C31"/>
                </a:solidFill>
                <a:latin typeface="Arial"/>
                <a:ea typeface="Arial"/>
                <a:cs typeface="Arial"/>
              </a:defRPr>
            </a:lvl8pPr>
            <a:lvl9pPr>
              <a:defRPr sz="3450" b="1">
                <a:solidFill>
                  <a:srgbClr val="173C31"/>
                </a:solidFill>
                <a:latin typeface="Arial"/>
                <a:ea typeface="Arial"/>
                <a:cs typeface="Arial"/>
              </a:defRPr>
            </a:lvl9pPr>
          </a:lstStyle>
          <a:p xmlns:a="http://schemas.openxmlformats.org/drawingml/2006/main">
            <a:pPr>
              <a:defRPr sz="3450" b="1">
                <a:solidFill>
                  <a:srgbClr val="173C31"/>
                </a:solidFill>
                <a:latin typeface="Arial"/>
                <a:ea typeface="Arial"/>
                <a:cs typeface="Arial"/>
              </a:defRPr>
            </a:pPr>
            <a:r>
              <a:rPr sz="3450" b="1">
                <a:solidFill>
                  <a:srgbClr val="173C31"/>
                </a:solidFill>
                <a:latin typeface="Arial"/>
                <a:ea typeface="Arial"/>
                <a:cs typeface="Arial"/>
              </a:rPr>
              <a:t>The problem and our solution</a:t>
            </a:r>
          </a:p>
        </p:txBody>
      </p:sp>
      <p:sp>
        <p:nvSpPr>
          <p:cNvPr id="3" name="">
            <a:extLst xmlns:a="http://schemas.openxmlformats.org/drawingml/2006/main">
              <a:ext uri="{FF2B5EF4-FFF2-40B4-BE49-F238E27FC236}">
                <a16:creationId xmlns:a16="http://schemas.microsoft.com/office/drawing/2014/main" id="{D0E42D33-211A-4185-91DB-54F95CCAEEAD}"/>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HeatShift  /  HackInsight 26</a:t>
            </a:r>
          </a:p>
        </p:txBody>
      </p:sp>
      <p:sp>
        <p:nvSpPr>
          <p:cNvPr id="4" name="">
            <a:extLst xmlns:a="http://schemas.openxmlformats.org/drawingml/2006/main">
              <a:ext uri="{FF2B5EF4-FFF2-40B4-BE49-F238E27FC236}">
                <a16:creationId xmlns:a16="http://schemas.microsoft.com/office/drawing/2014/main" id="{9CD5E022-092E-4770-9451-326B55858BEB}"/>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F2B4B01-0154-4AAB-9570-5376C4E95945}"/>
              </a:ext>
            </a:extLst>
          </p:cNvPr>
          <p:cNvSpPr>
            <a:spLocks xmlns:a="http://schemas.openxmlformats.org/drawingml/2006/main" noGrp="1"/>
          </p:cNvSpPr>
          <p:nvPr/>
        </p:nvSpPr>
        <p:spPr>
          <a:xfrm xmlns:a="http://schemas.openxmlformats.org/drawingml/2006/main">
            <a:off x="609600" y="163830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73C31"/>
                </a:solidFill>
                <a:latin typeface="Arial"/>
                <a:ea typeface="Arial"/>
                <a:cs typeface="Arial"/>
              </a:defRPr>
            </a:defPPr>
            <a:lvl1pPr>
              <a:defRPr sz="2400" b="1">
                <a:solidFill>
                  <a:srgbClr val="173C31"/>
                </a:solidFill>
                <a:latin typeface="Arial"/>
                <a:ea typeface="Arial"/>
                <a:cs typeface="Arial"/>
              </a:defRPr>
            </a:lvl1pPr>
            <a:lvl2pPr>
              <a:defRPr sz="2400" b="1">
                <a:solidFill>
                  <a:srgbClr val="173C31"/>
                </a:solidFill>
                <a:latin typeface="Arial"/>
                <a:ea typeface="Arial"/>
                <a:cs typeface="Arial"/>
              </a:defRPr>
            </a:lvl2pPr>
            <a:lvl3pPr>
              <a:defRPr sz="2400" b="1">
                <a:solidFill>
                  <a:srgbClr val="173C31"/>
                </a:solidFill>
                <a:latin typeface="Arial"/>
                <a:ea typeface="Arial"/>
                <a:cs typeface="Arial"/>
              </a:defRPr>
            </a:lvl3pPr>
            <a:lvl4pPr>
              <a:defRPr sz="2400" b="1">
                <a:solidFill>
                  <a:srgbClr val="173C31"/>
                </a:solidFill>
                <a:latin typeface="Arial"/>
                <a:ea typeface="Arial"/>
                <a:cs typeface="Arial"/>
              </a:defRPr>
            </a:lvl4pPr>
            <a:lvl5pPr>
              <a:defRPr sz="2400" b="1">
                <a:solidFill>
                  <a:srgbClr val="173C31"/>
                </a:solidFill>
                <a:latin typeface="Arial"/>
                <a:ea typeface="Arial"/>
                <a:cs typeface="Arial"/>
              </a:defRPr>
            </a:lvl5pPr>
            <a:lvl6pPr>
              <a:defRPr sz="2400" b="1">
                <a:solidFill>
                  <a:srgbClr val="173C31"/>
                </a:solidFill>
                <a:latin typeface="Arial"/>
                <a:ea typeface="Arial"/>
                <a:cs typeface="Arial"/>
              </a:defRPr>
            </a:lvl6pPr>
            <a:lvl7pPr>
              <a:defRPr sz="2400" b="1">
                <a:solidFill>
                  <a:srgbClr val="173C31"/>
                </a:solidFill>
                <a:latin typeface="Arial"/>
                <a:ea typeface="Arial"/>
                <a:cs typeface="Arial"/>
              </a:defRPr>
            </a:lvl7pPr>
            <a:lvl8pPr>
              <a:defRPr sz="2400" b="1">
                <a:solidFill>
                  <a:srgbClr val="173C31"/>
                </a:solidFill>
                <a:latin typeface="Arial"/>
                <a:ea typeface="Arial"/>
                <a:cs typeface="Arial"/>
              </a:defRPr>
            </a:lvl8pPr>
            <a:lvl9pPr>
              <a:defRPr sz="2400" b="1">
                <a:solidFill>
                  <a:srgbClr val="173C31"/>
                </a:solidFill>
                <a:latin typeface="Arial"/>
                <a:ea typeface="Arial"/>
                <a:cs typeface="Arial"/>
              </a:defRPr>
            </a:lvl9pPr>
          </a:lstStyle>
          <a:p xmlns:a="http://schemas.openxmlformats.org/drawingml/2006/main">
            <a:pPr>
              <a:defRPr sz="2400" b="1">
                <a:solidFill>
                  <a:srgbClr val="173C31"/>
                </a:solidFill>
                <a:latin typeface="Arial"/>
                <a:ea typeface="Arial"/>
                <a:cs typeface="Arial"/>
              </a:defRPr>
            </a:pPr>
            <a:r>
              <a:rPr sz="2400" b="1">
                <a:solidFill>
                  <a:srgbClr val="173C31"/>
                </a:solidFill>
                <a:latin typeface="Arial"/>
                <a:ea typeface="Arial"/>
                <a:cs typeface="Arial"/>
              </a:rPr>
              <a:t>A forecast number leaves questions</a:t>
            </a:r>
          </a:p>
        </p:txBody>
      </p:sp>
      <p:sp>
        <p:nvSpPr>
          <p:cNvPr id="6" name="">
            <a:extLst xmlns:a="http://schemas.openxmlformats.org/drawingml/2006/main">
              <a:ext uri="{FF2B5EF4-FFF2-40B4-BE49-F238E27FC236}">
                <a16:creationId xmlns:a16="http://schemas.microsoft.com/office/drawing/2014/main" id="{18CA5DA9-7FA3-4C85-B029-BB8C3B22940E}"/>
              </a:ext>
            </a:extLst>
          </p:cNvPr>
          <p:cNvSpPr>
            <a:spLocks xmlns:a="http://schemas.openxmlformats.org/drawingml/2006/main" noGrp="1"/>
          </p:cNvSpPr>
          <p:nvPr/>
        </p:nvSpPr>
        <p:spPr>
          <a:xfrm xmlns:a="http://schemas.openxmlformats.org/drawingml/2006/main">
            <a:off x="609600" y="2457450"/>
            <a:ext cx="4095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173C31"/>
                </a:solidFill>
                <a:latin typeface="Arial"/>
                <a:ea typeface="Arial"/>
                <a:cs typeface="Arial"/>
              </a:defRPr>
            </a:defPPr>
            <a:lvl1pPr>
              <a:defRPr sz="2250" b="0">
                <a:solidFill>
                  <a:srgbClr val="173C31"/>
                </a:solidFill>
                <a:latin typeface="Arial"/>
                <a:ea typeface="Arial"/>
                <a:cs typeface="Arial"/>
              </a:defRPr>
            </a:lvl1pPr>
            <a:lvl2pPr>
              <a:defRPr sz="2250" b="0">
                <a:solidFill>
                  <a:srgbClr val="173C31"/>
                </a:solidFill>
                <a:latin typeface="Arial"/>
                <a:ea typeface="Arial"/>
                <a:cs typeface="Arial"/>
              </a:defRPr>
            </a:lvl2pPr>
            <a:lvl3pPr>
              <a:defRPr sz="2250" b="0">
                <a:solidFill>
                  <a:srgbClr val="173C31"/>
                </a:solidFill>
                <a:latin typeface="Arial"/>
                <a:ea typeface="Arial"/>
                <a:cs typeface="Arial"/>
              </a:defRPr>
            </a:lvl3pPr>
            <a:lvl4pPr>
              <a:defRPr sz="2250" b="0">
                <a:solidFill>
                  <a:srgbClr val="173C31"/>
                </a:solidFill>
                <a:latin typeface="Arial"/>
                <a:ea typeface="Arial"/>
                <a:cs typeface="Arial"/>
              </a:defRPr>
            </a:lvl4pPr>
            <a:lvl5pPr>
              <a:defRPr sz="2250" b="0">
                <a:solidFill>
                  <a:srgbClr val="173C31"/>
                </a:solidFill>
                <a:latin typeface="Arial"/>
                <a:ea typeface="Arial"/>
                <a:cs typeface="Arial"/>
              </a:defRPr>
            </a:lvl5pPr>
            <a:lvl6pPr>
              <a:defRPr sz="2250" b="0">
                <a:solidFill>
                  <a:srgbClr val="173C31"/>
                </a:solidFill>
                <a:latin typeface="Arial"/>
                <a:ea typeface="Arial"/>
                <a:cs typeface="Arial"/>
              </a:defRPr>
            </a:lvl6pPr>
            <a:lvl7pPr>
              <a:defRPr sz="2250" b="0">
                <a:solidFill>
                  <a:srgbClr val="173C31"/>
                </a:solidFill>
                <a:latin typeface="Arial"/>
                <a:ea typeface="Arial"/>
                <a:cs typeface="Arial"/>
              </a:defRPr>
            </a:lvl7pPr>
            <a:lvl8pPr>
              <a:defRPr sz="2250" b="0">
                <a:solidFill>
                  <a:srgbClr val="173C31"/>
                </a:solidFill>
                <a:latin typeface="Arial"/>
                <a:ea typeface="Arial"/>
                <a:cs typeface="Arial"/>
              </a:defRPr>
            </a:lvl8pPr>
            <a:lvl9pPr>
              <a:defRPr sz="2250" b="0">
                <a:solidFill>
                  <a:srgbClr val="173C31"/>
                </a:solidFill>
                <a:latin typeface="Arial"/>
                <a:ea typeface="Arial"/>
                <a:cs typeface="Arial"/>
              </a:defRPr>
            </a:lvl9pPr>
          </a:lstStyle>
          <a:p xmlns:a="http://schemas.openxmlformats.org/drawingml/2006/main">
            <a:pPr>
              <a:defRPr sz="2250" b="0">
                <a:solidFill>
                  <a:srgbClr val="173C31"/>
                </a:solidFill>
                <a:latin typeface="Arial"/>
                <a:ea typeface="Arial"/>
                <a:cs typeface="Arial"/>
              </a:defRPr>
            </a:pPr>
            <a:r>
              <a:rPr sz="2250" b="0">
                <a:solidFill>
                  <a:srgbClr val="173C31"/>
                </a:solidFill>
                <a:latin typeface="Arial"/>
                <a:ea typeface="Arial"/>
                <a:cs typeface="Arial"/>
              </a:rPr>
              <a:t>How reliable are the inputs?</a:t>
            </a:r>
          </a:p>
          <a:p xmlns:a="http://schemas.openxmlformats.org/drawingml/2006/main">
            <a:pPr>
              <a:defRPr sz="2250" b="0">
                <a:solidFill>
                  <a:srgbClr val="173C31"/>
                </a:solidFill>
                <a:latin typeface="Arial"/>
                <a:ea typeface="Arial"/>
                <a:cs typeface="Arial"/>
              </a:defRPr>
            </a:pPr>
            <a:r>
              <a:rPr sz="2250" b="0">
                <a:solidFill>
                  <a:srgbClr val="173C31"/>
                </a:solidFill>
                <a:latin typeface="Arial"/>
                <a:ea typeface="Arial"/>
                <a:cs typeface="Arial"/>
              </a:rPr>
              <a:t>How uncertain is the estimate?</a:t>
            </a:r>
          </a:p>
          <a:p xmlns:a="http://schemas.openxmlformats.org/drawingml/2006/main">
            <a:pPr>
              <a:defRPr sz="2250" b="0">
                <a:solidFill>
                  <a:srgbClr val="173C31"/>
                </a:solidFill>
                <a:latin typeface="Arial"/>
                <a:ea typeface="Arial"/>
                <a:cs typeface="Arial"/>
              </a:defRPr>
            </a:pPr>
            <a:r>
              <a:rPr sz="2250" b="0">
                <a:solidFill>
                  <a:srgbClr val="173C31"/>
                </a:solidFill>
                <a:latin typeface="Arial"/>
                <a:ea typeface="Arial"/>
                <a:cs typeface="Arial"/>
              </a:rPr>
              <a:t>Where did the explanation come from?</a:t>
            </a:r>
          </a:p>
        </p:txBody>
      </p:sp>
      <p:sp>
        <p:nvSpPr>
          <p:cNvPr id="7" name="">
            <a:extLst xmlns:a="http://schemas.openxmlformats.org/drawingml/2006/main">
              <a:ext uri="{FF2B5EF4-FFF2-40B4-BE49-F238E27FC236}">
                <a16:creationId xmlns:a16="http://schemas.microsoft.com/office/drawing/2014/main" id="{91F3D468-4F19-4B1F-9122-6B7D584D1CD3}"/>
              </a:ext>
            </a:extLst>
          </p:cNvPr>
          <p:cNvSpPr>
            <a:spLocks xmlns:a="http://schemas.openxmlformats.org/drawingml/2006/main" noGrp="1"/>
          </p:cNvSpPr>
          <p:nvPr/>
        </p:nvSpPr>
        <p:spPr>
          <a:xfrm xmlns:a="http://schemas.openxmlformats.org/drawingml/2006/main">
            <a:off x="609600" y="4667250"/>
            <a:ext cx="4286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3D33"/>
                </a:solidFill>
                <a:latin typeface="Arial"/>
                <a:ea typeface="Arial"/>
                <a:cs typeface="Arial"/>
              </a:defRPr>
            </a:defPPr>
            <a:lvl1pPr>
              <a:defRPr sz="2250" b="1">
                <a:solidFill>
                  <a:srgbClr val="143D33"/>
                </a:solidFill>
                <a:latin typeface="Arial"/>
                <a:ea typeface="Arial"/>
                <a:cs typeface="Arial"/>
              </a:defRPr>
            </a:lvl1pPr>
            <a:lvl2pPr>
              <a:defRPr sz="2250" b="1">
                <a:solidFill>
                  <a:srgbClr val="143D33"/>
                </a:solidFill>
                <a:latin typeface="Arial"/>
                <a:ea typeface="Arial"/>
                <a:cs typeface="Arial"/>
              </a:defRPr>
            </a:lvl2pPr>
            <a:lvl3pPr>
              <a:defRPr sz="2250" b="1">
                <a:solidFill>
                  <a:srgbClr val="143D33"/>
                </a:solidFill>
                <a:latin typeface="Arial"/>
                <a:ea typeface="Arial"/>
                <a:cs typeface="Arial"/>
              </a:defRPr>
            </a:lvl3pPr>
            <a:lvl4pPr>
              <a:defRPr sz="2250" b="1">
                <a:solidFill>
                  <a:srgbClr val="143D33"/>
                </a:solidFill>
                <a:latin typeface="Arial"/>
                <a:ea typeface="Arial"/>
                <a:cs typeface="Arial"/>
              </a:defRPr>
            </a:lvl4pPr>
            <a:lvl5pPr>
              <a:defRPr sz="2250" b="1">
                <a:solidFill>
                  <a:srgbClr val="143D33"/>
                </a:solidFill>
                <a:latin typeface="Arial"/>
                <a:ea typeface="Arial"/>
                <a:cs typeface="Arial"/>
              </a:defRPr>
            </a:lvl5pPr>
            <a:lvl6pPr>
              <a:defRPr sz="2250" b="1">
                <a:solidFill>
                  <a:srgbClr val="143D33"/>
                </a:solidFill>
                <a:latin typeface="Arial"/>
                <a:ea typeface="Arial"/>
                <a:cs typeface="Arial"/>
              </a:defRPr>
            </a:lvl6pPr>
            <a:lvl7pPr>
              <a:defRPr sz="2250" b="1">
                <a:solidFill>
                  <a:srgbClr val="143D33"/>
                </a:solidFill>
                <a:latin typeface="Arial"/>
                <a:ea typeface="Arial"/>
                <a:cs typeface="Arial"/>
              </a:defRPr>
            </a:lvl7pPr>
            <a:lvl8pPr>
              <a:defRPr sz="2250" b="1">
                <a:solidFill>
                  <a:srgbClr val="143D33"/>
                </a:solidFill>
                <a:latin typeface="Arial"/>
                <a:ea typeface="Arial"/>
                <a:cs typeface="Arial"/>
              </a:defRPr>
            </a:lvl8pPr>
            <a:lvl9pPr>
              <a:defRPr sz="2250" b="1">
                <a:solidFill>
                  <a:srgbClr val="143D33"/>
                </a:solidFill>
                <a:latin typeface="Arial"/>
                <a:ea typeface="Arial"/>
                <a:cs typeface="Arial"/>
              </a:defRPr>
            </a:lvl9pPr>
          </a:lstStyle>
          <a:p xmlns:a="http://schemas.openxmlformats.org/drawingml/2006/main">
            <a:pPr>
              <a:defRPr sz="2250" b="1">
                <a:solidFill>
                  <a:srgbClr val="143D33"/>
                </a:solidFill>
                <a:latin typeface="Arial"/>
                <a:ea typeface="Arial"/>
                <a:cs typeface="Arial"/>
              </a:defRPr>
            </a:pPr>
            <a:r>
              <a:rPr sz="2250" b="1">
                <a:solidFill>
                  <a:srgbClr val="143D33"/>
                </a:solidFill>
                <a:latin typeface="Arial"/>
                <a:ea typeface="Arial"/>
                <a:cs typeface="Arial"/>
              </a:rPr>
              <a:t>Prediction, data checks and</a:t>
            </a:r>
          </a:p>
          <a:p xmlns:a="http://schemas.openxmlformats.org/drawingml/2006/main">
            <a:pPr>
              <a:defRPr sz="2250" b="1">
                <a:solidFill>
                  <a:srgbClr val="143D33"/>
                </a:solidFill>
                <a:latin typeface="Arial"/>
                <a:ea typeface="Arial"/>
                <a:cs typeface="Arial"/>
              </a:defRPr>
            </a:pPr>
            <a:r>
              <a:rPr sz="2250" b="1">
                <a:solidFill>
                  <a:srgbClr val="143D33"/>
                </a:solidFill>
                <a:latin typeface="Arial"/>
                <a:ea typeface="Arial"/>
                <a:cs typeface="Arial"/>
              </a:rPr>
              <a:t>traceable answers in one view</a:t>
            </a:r>
          </a:p>
        </p:txBody>
      </p:sp>
      <p:sp>
        <p:nvSpPr>
          <p:cNvPr id="8" name="">
            <a:extLst xmlns:a="http://schemas.openxmlformats.org/drawingml/2006/main">
              <a:ext uri="{FF2B5EF4-FFF2-40B4-BE49-F238E27FC236}">
                <a16:creationId xmlns:a16="http://schemas.microsoft.com/office/drawing/2014/main" id="{99C3DEDE-385F-4607-826F-87BCFC609655}"/>
              </a:ext>
            </a:extLst>
          </p:cNvPr>
          <p:cNvSpPr>
            <a:spLocks xmlns:a="http://schemas.openxmlformats.org/drawingml/2006/main" noGrp="1"/>
          </p:cNvSpPr>
          <p:nvPr/>
        </p:nvSpPr>
        <p:spPr>
          <a:xfrm xmlns:a="http://schemas.openxmlformats.org/drawingml/2006/main">
            <a:off x="5257800" y="5419725"/>
            <a:ext cx="632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527064"/>
                </a:solidFill>
                <a:latin typeface="Arial"/>
                <a:ea typeface="Arial"/>
                <a:cs typeface="Arial"/>
              </a:defRPr>
            </a:defPPr>
            <a:lvl1pPr>
              <a:defRPr sz="1800" b="0">
                <a:solidFill>
                  <a:srgbClr val="527064"/>
                </a:solidFill>
                <a:latin typeface="Arial"/>
                <a:ea typeface="Arial"/>
                <a:cs typeface="Arial"/>
              </a:defRPr>
            </a:lvl1pPr>
            <a:lvl2pPr>
              <a:defRPr sz="1800" b="0">
                <a:solidFill>
                  <a:srgbClr val="527064"/>
                </a:solidFill>
                <a:latin typeface="Arial"/>
                <a:ea typeface="Arial"/>
                <a:cs typeface="Arial"/>
              </a:defRPr>
            </a:lvl2pPr>
            <a:lvl3pPr>
              <a:defRPr sz="1800" b="0">
                <a:solidFill>
                  <a:srgbClr val="527064"/>
                </a:solidFill>
                <a:latin typeface="Arial"/>
                <a:ea typeface="Arial"/>
                <a:cs typeface="Arial"/>
              </a:defRPr>
            </a:lvl3pPr>
            <a:lvl4pPr>
              <a:defRPr sz="1800" b="0">
                <a:solidFill>
                  <a:srgbClr val="527064"/>
                </a:solidFill>
                <a:latin typeface="Arial"/>
                <a:ea typeface="Arial"/>
                <a:cs typeface="Arial"/>
              </a:defRPr>
            </a:lvl4pPr>
            <a:lvl5pPr>
              <a:defRPr sz="1800" b="0">
                <a:solidFill>
                  <a:srgbClr val="527064"/>
                </a:solidFill>
                <a:latin typeface="Arial"/>
                <a:ea typeface="Arial"/>
                <a:cs typeface="Arial"/>
              </a:defRPr>
            </a:lvl5pPr>
            <a:lvl6pPr>
              <a:defRPr sz="1800" b="0">
                <a:solidFill>
                  <a:srgbClr val="527064"/>
                </a:solidFill>
                <a:latin typeface="Arial"/>
                <a:ea typeface="Arial"/>
                <a:cs typeface="Arial"/>
              </a:defRPr>
            </a:lvl6pPr>
            <a:lvl7pPr>
              <a:defRPr sz="1800" b="0">
                <a:solidFill>
                  <a:srgbClr val="527064"/>
                </a:solidFill>
                <a:latin typeface="Arial"/>
                <a:ea typeface="Arial"/>
                <a:cs typeface="Arial"/>
              </a:defRPr>
            </a:lvl7pPr>
            <a:lvl8pPr>
              <a:defRPr sz="1800" b="0">
                <a:solidFill>
                  <a:srgbClr val="527064"/>
                </a:solidFill>
                <a:latin typeface="Arial"/>
                <a:ea typeface="Arial"/>
                <a:cs typeface="Arial"/>
              </a:defRPr>
            </a:lvl8pPr>
            <a:lvl9pPr>
              <a:defRPr sz="1800" b="0">
                <a:solidFill>
                  <a:srgbClr val="527064"/>
                </a:solidFill>
                <a:latin typeface="Arial"/>
                <a:ea typeface="Arial"/>
                <a:cs typeface="Arial"/>
              </a:defRPr>
            </a:lvl9pPr>
          </a:lstStyle>
          <a:p xmlns:a="http://schemas.openxmlformats.org/drawingml/2006/main">
            <a:pPr>
              <a:defRPr sz="1800" b="0">
                <a:solidFill>
                  <a:srgbClr val="527064"/>
                </a:solidFill>
                <a:latin typeface="Arial"/>
                <a:ea typeface="Arial"/>
                <a:cs typeface="Arial"/>
              </a:defRPr>
            </a:pPr>
            <a:r>
              <a:rPr sz="1800" b="0">
                <a:solidFill>
                  <a:srgbClr val="527064"/>
                </a:solidFill>
                <a:latin typeface="Arial"/>
                <a:ea typeface="Arial"/>
                <a:cs typeface="Arial"/>
              </a:rPr>
              <a:t>Public responsive dashboard</a:t>
            </a:r>
          </a:p>
        </p:txBody>
      </p:sp>
      <p:pic>
        <p:nvPicPr>
          <p:cNvPr id="9" name="">
            <a:extLst xmlns:a="http://schemas.openxmlformats.org/drawingml/2006/main">
              <a:ext uri="{FF2B5EF4-FFF2-40B4-BE49-F238E27FC236}">
                <a16:creationId xmlns:a16="http://schemas.microsoft.com/office/drawing/2014/main" id="{DF4E5413-86B2-4309-AD82-CA3EE40AA0CE}"/>
              </a:ext>
            </a:extLst>
          </p:cNvPr>
          <p:cNvPicPr>
            <a:picLocks xmlns:a="http://schemas.openxmlformats.org/drawingml/2006/main" noChangeAspect="1"/>
          </p:cNvPicPr>
          <p:nvPr/>
        </p:nvPicPr>
        <p:blipFill>
          <a:blip xmlns:r="http://schemas.openxmlformats.org/officeDocument/2006/relationships" xmlns:a="http://schemas.openxmlformats.org/drawingml/2006/main" r:embed="Rf32c1213224441f3"/>
          <a:stretch xmlns:a="http://schemas.openxmlformats.org/drawingml/2006/main"/>
        </p:blipFill>
        <p:spPr>
          <a:xfrm xmlns:a="http://schemas.openxmlformats.org/drawingml/2006/main">
            <a:off x="5257800" y="1639588"/>
            <a:ext cx="6324600" cy="3559775"/>
          </a:xfrm>
          <a:prstGeom xmlns:a="http://schemas.openxmlformats.org/drawingml/2006/main" prst="rect">
            <a:avLst/>
          </a:prstGeom>
        </p:spPr>
      </p:pic>
    </p:spTree>
    <p:extLst>
      <p:ext uri="{BB962C8B-B14F-4D97-AF65-F5344CB8AC3E}">
        <p14:creationId xmlns:p14="http://schemas.microsoft.com/office/powerpoint/2010/main" val="2104115401"/>
      </p:ext>
    </p:extLst>
  </p:cSld>
</p:sld>
</file>

<file path=ppt/slides/slide3.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B66E84F-704D-4E9B-8B9F-3D738A375B27}"/>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C31"/>
                </a:solidFill>
                <a:latin typeface="Arial"/>
                <a:ea typeface="Arial"/>
                <a:cs typeface="Arial"/>
              </a:defRPr>
            </a:defPPr>
            <a:lvl1pPr>
              <a:defRPr sz="3450" b="1">
                <a:solidFill>
                  <a:srgbClr val="173C31"/>
                </a:solidFill>
                <a:latin typeface="Arial"/>
                <a:ea typeface="Arial"/>
                <a:cs typeface="Arial"/>
              </a:defRPr>
            </a:lvl1pPr>
            <a:lvl2pPr>
              <a:defRPr sz="3450" b="1">
                <a:solidFill>
                  <a:srgbClr val="173C31"/>
                </a:solidFill>
                <a:latin typeface="Arial"/>
                <a:ea typeface="Arial"/>
                <a:cs typeface="Arial"/>
              </a:defRPr>
            </a:lvl2pPr>
            <a:lvl3pPr>
              <a:defRPr sz="3450" b="1">
                <a:solidFill>
                  <a:srgbClr val="173C31"/>
                </a:solidFill>
                <a:latin typeface="Arial"/>
                <a:ea typeface="Arial"/>
                <a:cs typeface="Arial"/>
              </a:defRPr>
            </a:lvl3pPr>
            <a:lvl4pPr>
              <a:defRPr sz="3450" b="1">
                <a:solidFill>
                  <a:srgbClr val="173C31"/>
                </a:solidFill>
                <a:latin typeface="Arial"/>
                <a:ea typeface="Arial"/>
                <a:cs typeface="Arial"/>
              </a:defRPr>
            </a:lvl4pPr>
            <a:lvl5pPr>
              <a:defRPr sz="3450" b="1">
                <a:solidFill>
                  <a:srgbClr val="173C31"/>
                </a:solidFill>
                <a:latin typeface="Arial"/>
                <a:ea typeface="Arial"/>
                <a:cs typeface="Arial"/>
              </a:defRPr>
            </a:lvl5pPr>
            <a:lvl6pPr>
              <a:defRPr sz="3450" b="1">
                <a:solidFill>
                  <a:srgbClr val="173C31"/>
                </a:solidFill>
                <a:latin typeface="Arial"/>
                <a:ea typeface="Arial"/>
                <a:cs typeface="Arial"/>
              </a:defRPr>
            </a:lvl6pPr>
            <a:lvl7pPr>
              <a:defRPr sz="3450" b="1">
                <a:solidFill>
                  <a:srgbClr val="173C31"/>
                </a:solidFill>
                <a:latin typeface="Arial"/>
                <a:ea typeface="Arial"/>
                <a:cs typeface="Arial"/>
              </a:defRPr>
            </a:lvl7pPr>
            <a:lvl8pPr>
              <a:defRPr sz="3450" b="1">
                <a:solidFill>
                  <a:srgbClr val="173C31"/>
                </a:solidFill>
                <a:latin typeface="Arial"/>
                <a:ea typeface="Arial"/>
                <a:cs typeface="Arial"/>
              </a:defRPr>
            </a:lvl8pPr>
            <a:lvl9pPr>
              <a:defRPr sz="3450" b="1">
                <a:solidFill>
                  <a:srgbClr val="173C31"/>
                </a:solidFill>
                <a:latin typeface="Arial"/>
                <a:ea typeface="Arial"/>
                <a:cs typeface="Arial"/>
              </a:defRPr>
            </a:lvl9pPr>
          </a:lstStyle>
          <a:p xmlns:a="http://schemas.openxmlformats.org/drawingml/2006/main">
            <a:pPr>
              <a:defRPr sz="3450" b="1">
                <a:solidFill>
                  <a:srgbClr val="173C31"/>
                </a:solidFill>
                <a:latin typeface="Arial"/>
                <a:ea typeface="Arial"/>
                <a:cs typeface="Arial"/>
              </a:defRPr>
            </a:pPr>
            <a:r>
              <a:rPr sz="3450" b="1">
                <a:solidFill>
                  <a:srgbClr val="173C31"/>
                </a:solidFill>
                <a:latin typeface="Arial"/>
                <a:ea typeface="Arial"/>
                <a:cs typeface="Arial"/>
              </a:rPr>
              <a:t>The data warehouse</a:t>
            </a:r>
          </a:p>
        </p:txBody>
      </p:sp>
      <p:sp>
        <p:nvSpPr>
          <p:cNvPr id="3" name="">
            <a:extLst xmlns:a="http://schemas.openxmlformats.org/drawingml/2006/main">
              <a:ext uri="{FF2B5EF4-FFF2-40B4-BE49-F238E27FC236}">
                <a16:creationId xmlns:a16="http://schemas.microsoft.com/office/drawing/2014/main" id="{6C20A582-E97F-48A7-B32D-A965C3CB2AF0}"/>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HeatShift  /  HackInsight 26</a:t>
            </a:r>
          </a:p>
        </p:txBody>
      </p:sp>
      <p:sp>
        <p:nvSpPr>
          <p:cNvPr id="4" name="">
            <a:extLst xmlns:a="http://schemas.openxmlformats.org/drawingml/2006/main">
              <a:ext uri="{FF2B5EF4-FFF2-40B4-BE49-F238E27FC236}">
                <a16:creationId xmlns:a16="http://schemas.microsoft.com/office/drawing/2014/main" id="{7BD05D19-4087-46C8-9A7C-9C6B518BA294}"/>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138FD2E-AE5D-4BCF-922E-A9E668FBBB9A}"/>
              </a:ext>
            </a:extLst>
          </p:cNvPr>
          <p:cNvSpPr>
            <a:spLocks xmlns:a="http://schemas.openxmlformats.org/drawingml/2006/main" noGrp="1"/>
          </p:cNvSpPr>
          <p:nvPr/>
        </p:nvSpPr>
        <p:spPr>
          <a:xfrm xmlns:a="http://schemas.openxmlformats.org/drawingml/2006/main">
            <a:off x="609600" y="15811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43D33"/>
                </a:solidFill>
                <a:latin typeface="Arial"/>
                <a:ea typeface="Arial"/>
                <a:cs typeface="Arial"/>
              </a:defRPr>
            </a:defPPr>
            <a:lvl1pPr>
              <a:defRPr sz="2400" b="1">
                <a:solidFill>
                  <a:srgbClr val="143D33"/>
                </a:solidFill>
                <a:latin typeface="Arial"/>
                <a:ea typeface="Arial"/>
                <a:cs typeface="Arial"/>
              </a:defRPr>
            </a:lvl1pPr>
            <a:lvl2pPr>
              <a:defRPr sz="2400" b="1">
                <a:solidFill>
                  <a:srgbClr val="143D33"/>
                </a:solidFill>
                <a:latin typeface="Arial"/>
                <a:ea typeface="Arial"/>
                <a:cs typeface="Arial"/>
              </a:defRPr>
            </a:lvl2pPr>
            <a:lvl3pPr>
              <a:defRPr sz="2400" b="1">
                <a:solidFill>
                  <a:srgbClr val="143D33"/>
                </a:solidFill>
                <a:latin typeface="Arial"/>
                <a:ea typeface="Arial"/>
                <a:cs typeface="Arial"/>
              </a:defRPr>
            </a:lvl3pPr>
            <a:lvl4pPr>
              <a:defRPr sz="2400" b="1">
                <a:solidFill>
                  <a:srgbClr val="143D33"/>
                </a:solidFill>
                <a:latin typeface="Arial"/>
                <a:ea typeface="Arial"/>
                <a:cs typeface="Arial"/>
              </a:defRPr>
            </a:lvl4pPr>
            <a:lvl5pPr>
              <a:defRPr sz="2400" b="1">
                <a:solidFill>
                  <a:srgbClr val="143D33"/>
                </a:solidFill>
                <a:latin typeface="Arial"/>
                <a:ea typeface="Arial"/>
                <a:cs typeface="Arial"/>
              </a:defRPr>
            </a:lvl5pPr>
            <a:lvl6pPr>
              <a:defRPr sz="2400" b="1">
                <a:solidFill>
                  <a:srgbClr val="143D33"/>
                </a:solidFill>
                <a:latin typeface="Arial"/>
                <a:ea typeface="Arial"/>
                <a:cs typeface="Arial"/>
              </a:defRPr>
            </a:lvl6pPr>
            <a:lvl7pPr>
              <a:defRPr sz="2400" b="1">
                <a:solidFill>
                  <a:srgbClr val="143D33"/>
                </a:solidFill>
                <a:latin typeface="Arial"/>
                <a:ea typeface="Arial"/>
                <a:cs typeface="Arial"/>
              </a:defRPr>
            </a:lvl7pPr>
            <a:lvl8pPr>
              <a:defRPr sz="2400" b="1">
                <a:solidFill>
                  <a:srgbClr val="143D33"/>
                </a:solidFill>
                <a:latin typeface="Arial"/>
                <a:ea typeface="Arial"/>
                <a:cs typeface="Arial"/>
              </a:defRPr>
            </a:lvl8pPr>
            <a:lvl9pPr>
              <a:defRPr sz="2400" b="1">
                <a:solidFill>
                  <a:srgbClr val="143D33"/>
                </a:solidFill>
                <a:latin typeface="Arial"/>
                <a:ea typeface="Arial"/>
                <a:cs typeface="Arial"/>
              </a:defRPr>
            </a:lvl9pPr>
          </a:lstStyle>
          <a:p xmlns:a="http://schemas.openxmlformats.org/drawingml/2006/main">
            <a:pPr>
              <a:defRPr sz="2400" b="1">
                <a:solidFill>
                  <a:srgbClr val="143D33"/>
                </a:solidFill>
                <a:latin typeface="Arial"/>
                <a:ea typeface="Arial"/>
                <a:cs typeface="Arial"/>
              </a:defRPr>
            </a:pPr>
            <a:r>
              <a:rPr sz="2400" b="1">
                <a:solidFill>
                  <a:srgbClr val="143D33"/>
                </a:solidFill>
                <a:latin typeface="Arial"/>
                <a:ea typeface="Arial"/>
                <a:cs typeface="Arial"/>
              </a:rPr>
              <a:t>Original records stay separate from cleaned and processed data</a:t>
            </a:r>
          </a:p>
        </p:txBody>
      </p:sp>
      <p:sp>
        <p:nvSpPr>
          <p:cNvPr id="6" name="">
            <a:extLst xmlns:a="http://schemas.openxmlformats.org/drawingml/2006/main">
              <a:ext uri="{FF2B5EF4-FFF2-40B4-BE49-F238E27FC236}">
                <a16:creationId xmlns:a16="http://schemas.microsoft.com/office/drawing/2014/main" id="{71D6E967-1492-49D2-9435-03CE8885D68F}"/>
              </a:ext>
            </a:extLst>
          </p:cNvPr>
          <p:cNvSpPr>
            <a:spLocks xmlns:a="http://schemas.openxmlformats.org/drawingml/2006/main" noGrp="1"/>
          </p:cNvSpPr>
          <p:nvPr/>
        </p:nvSpPr>
        <p:spPr>
          <a:xfrm xmlns:a="http://schemas.openxmlformats.org/drawingml/2006/main">
            <a:off x="609600" y="2495550"/>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C31"/>
                </a:solidFill>
                <a:latin typeface="Arial"/>
                <a:ea typeface="Arial"/>
                <a:cs typeface="Arial"/>
              </a:defRPr>
            </a:defPPr>
            <a:lvl1pPr>
              <a:defRPr sz="2250" b="1">
                <a:solidFill>
                  <a:srgbClr val="173C31"/>
                </a:solidFill>
                <a:latin typeface="Arial"/>
                <a:ea typeface="Arial"/>
                <a:cs typeface="Arial"/>
              </a:defRPr>
            </a:lvl1pPr>
            <a:lvl2pPr>
              <a:defRPr sz="2250" b="1">
                <a:solidFill>
                  <a:srgbClr val="173C31"/>
                </a:solidFill>
                <a:latin typeface="Arial"/>
                <a:ea typeface="Arial"/>
                <a:cs typeface="Arial"/>
              </a:defRPr>
            </a:lvl2pPr>
            <a:lvl3pPr>
              <a:defRPr sz="2250" b="1">
                <a:solidFill>
                  <a:srgbClr val="173C31"/>
                </a:solidFill>
                <a:latin typeface="Arial"/>
                <a:ea typeface="Arial"/>
                <a:cs typeface="Arial"/>
              </a:defRPr>
            </a:lvl3pPr>
            <a:lvl4pPr>
              <a:defRPr sz="2250" b="1">
                <a:solidFill>
                  <a:srgbClr val="173C31"/>
                </a:solidFill>
                <a:latin typeface="Arial"/>
                <a:ea typeface="Arial"/>
                <a:cs typeface="Arial"/>
              </a:defRPr>
            </a:lvl4pPr>
            <a:lvl5pPr>
              <a:defRPr sz="2250" b="1">
                <a:solidFill>
                  <a:srgbClr val="173C31"/>
                </a:solidFill>
                <a:latin typeface="Arial"/>
                <a:ea typeface="Arial"/>
                <a:cs typeface="Arial"/>
              </a:defRPr>
            </a:lvl5pPr>
            <a:lvl6pPr>
              <a:defRPr sz="2250" b="1">
                <a:solidFill>
                  <a:srgbClr val="173C31"/>
                </a:solidFill>
                <a:latin typeface="Arial"/>
                <a:ea typeface="Arial"/>
                <a:cs typeface="Arial"/>
              </a:defRPr>
            </a:lvl6pPr>
            <a:lvl7pPr>
              <a:defRPr sz="2250" b="1">
                <a:solidFill>
                  <a:srgbClr val="173C31"/>
                </a:solidFill>
                <a:latin typeface="Arial"/>
                <a:ea typeface="Arial"/>
                <a:cs typeface="Arial"/>
              </a:defRPr>
            </a:lvl7pPr>
            <a:lvl8pPr>
              <a:defRPr sz="2250" b="1">
                <a:solidFill>
                  <a:srgbClr val="173C31"/>
                </a:solidFill>
                <a:latin typeface="Arial"/>
                <a:ea typeface="Arial"/>
                <a:cs typeface="Arial"/>
              </a:defRPr>
            </a:lvl8pPr>
            <a:lvl9pPr>
              <a:defRPr sz="2250" b="1">
                <a:solidFill>
                  <a:srgbClr val="173C31"/>
                </a:solidFill>
                <a:latin typeface="Arial"/>
                <a:ea typeface="Arial"/>
                <a:cs typeface="Arial"/>
              </a:defRPr>
            </a:lvl9pPr>
          </a:lstStyle>
          <a:p xmlns:a="http://schemas.openxmlformats.org/drawingml/2006/main">
            <a:pPr>
              <a:defRPr sz="2250" b="1">
                <a:solidFill>
                  <a:srgbClr val="173C31"/>
                </a:solidFill>
                <a:latin typeface="Arial"/>
                <a:ea typeface="Arial"/>
                <a:cs typeface="Arial"/>
              </a:defRPr>
            </a:pPr>
            <a:r>
              <a:rPr sz="2250" b="1">
                <a:solidFill>
                  <a:srgbClr val="173C31"/>
                </a:solidFill>
                <a:latin typeface="Arial"/>
                <a:ea typeface="Arial"/>
                <a:cs typeface="Arial"/>
              </a:rPr>
              <a:t>01  Acquire</a:t>
            </a:r>
          </a:p>
        </p:txBody>
      </p:sp>
      <p:sp>
        <p:nvSpPr>
          <p:cNvPr id="7" name="">
            <a:extLst xmlns:a="http://schemas.openxmlformats.org/drawingml/2006/main">
              <a:ext uri="{FF2B5EF4-FFF2-40B4-BE49-F238E27FC236}">
                <a16:creationId xmlns:a16="http://schemas.microsoft.com/office/drawing/2014/main" id="{1E5A4369-AC92-4E82-A4E8-630500644B2A}"/>
              </a:ext>
            </a:extLst>
          </p:cNvPr>
          <p:cNvSpPr>
            <a:spLocks xmlns:a="http://schemas.openxmlformats.org/drawingml/2006/main" noGrp="1"/>
          </p:cNvSpPr>
          <p:nvPr/>
        </p:nvSpPr>
        <p:spPr>
          <a:xfrm xmlns:a="http://schemas.openxmlformats.org/drawingml/2006/main">
            <a:off x="3495675" y="2495550"/>
            <a:ext cx="790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C31"/>
                </a:solidFill>
                <a:latin typeface="Arial"/>
                <a:ea typeface="Arial"/>
                <a:cs typeface="Arial"/>
              </a:defRPr>
            </a:defPPr>
            <a:lvl1pPr>
              <a:defRPr sz="2100" b="0">
                <a:solidFill>
                  <a:srgbClr val="173C31"/>
                </a:solidFill>
                <a:latin typeface="Arial"/>
                <a:ea typeface="Arial"/>
                <a:cs typeface="Arial"/>
              </a:defRPr>
            </a:lvl1pPr>
            <a:lvl2pPr>
              <a:defRPr sz="2100" b="0">
                <a:solidFill>
                  <a:srgbClr val="173C31"/>
                </a:solidFill>
                <a:latin typeface="Arial"/>
                <a:ea typeface="Arial"/>
                <a:cs typeface="Arial"/>
              </a:defRPr>
            </a:lvl2pPr>
            <a:lvl3pPr>
              <a:defRPr sz="2100" b="0">
                <a:solidFill>
                  <a:srgbClr val="173C31"/>
                </a:solidFill>
                <a:latin typeface="Arial"/>
                <a:ea typeface="Arial"/>
                <a:cs typeface="Arial"/>
              </a:defRPr>
            </a:lvl3pPr>
            <a:lvl4pPr>
              <a:defRPr sz="2100" b="0">
                <a:solidFill>
                  <a:srgbClr val="173C31"/>
                </a:solidFill>
                <a:latin typeface="Arial"/>
                <a:ea typeface="Arial"/>
                <a:cs typeface="Arial"/>
              </a:defRPr>
            </a:lvl4pPr>
            <a:lvl5pPr>
              <a:defRPr sz="2100" b="0">
                <a:solidFill>
                  <a:srgbClr val="173C31"/>
                </a:solidFill>
                <a:latin typeface="Arial"/>
                <a:ea typeface="Arial"/>
                <a:cs typeface="Arial"/>
              </a:defRPr>
            </a:lvl5pPr>
            <a:lvl6pPr>
              <a:defRPr sz="2100" b="0">
                <a:solidFill>
                  <a:srgbClr val="173C31"/>
                </a:solidFill>
                <a:latin typeface="Arial"/>
                <a:ea typeface="Arial"/>
                <a:cs typeface="Arial"/>
              </a:defRPr>
            </a:lvl6pPr>
            <a:lvl7pPr>
              <a:defRPr sz="2100" b="0">
                <a:solidFill>
                  <a:srgbClr val="173C31"/>
                </a:solidFill>
                <a:latin typeface="Arial"/>
                <a:ea typeface="Arial"/>
                <a:cs typeface="Arial"/>
              </a:defRPr>
            </a:lvl7pPr>
            <a:lvl8pPr>
              <a:defRPr sz="2100" b="0">
                <a:solidFill>
                  <a:srgbClr val="173C31"/>
                </a:solidFill>
                <a:latin typeface="Arial"/>
                <a:ea typeface="Arial"/>
                <a:cs typeface="Arial"/>
              </a:defRPr>
            </a:lvl8pPr>
            <a:lvl9pPr>
              <a:defRPr sz="2100" b="0">
                <a:solidFill>
                  <a:srgbClr val="173C31"/>
                </a:solidFill>
                <a:latin typeface="Arial"/>
                <a:ea typeface="Arial"/>
                <a:cs typeface="Arial"/>
              </a:defRPr>
            </a:lvl9pPr>
          </a:lstStyle>
          <a:p xmlns:a="http://schemas.openxmlformats.org/drawingml/2006/main">
            <a:pPr>
              <a:defRPr sz="2100" b="0">
                <a:solidFill>
                  <a:srgbClr val="173C31"/>
                </a:solidFill>
                <a:latin typeface="Arial"/>
                <a:ea typeface="Arial"/>
                <a:cs typeface="Arial"/>
              </a:defRPr>
            </a:pPr>
            <a:r>
              <a:rPr sz="2100" b="0">
                <a:solidFill>
                  <a:srgbClr val="173C31"/>
                </a:solidFill>
                <a:latin typeface="Arial"/>
                <a:ea typeface="Arial"/>
                <a:cs typeface="Arial"/>
              </a:rPr>
              <a:t>NOAA station observations and archived weather inputs</a:t>
            </a:r>
          </a:p>
        </p:txBody>
      </p:sp>
      <p:sp>
        <p:nvSpPr>
          <p:cNvPr id="8" name="">
            <a:extLst xmlns:a="http://schemas.openxmlformats.org/drawingml/2006/main">
              <a:ext uri="{FF2B5EF4-FFF2-40B4-BE49-F238E27FC236}">
                <a16:creationId xmlns:a16="http://schemas.microsoft.com/office/drawing/2014/main" id="{723AEE6A-95C9-4D2B-A6B4-345F85BBDA1C}"/>
              </a:ext>
            </a:extLst>
          </p:cNvPr>
          <p:cNvSpPr>
            <a:spLocks xmlns:a="http://schemas.openxmlformats.org/drawingml/2006/main" noGrp="1"/>
          </p:cNvSpPr>
          <p:nvPr/>
        </p:nvSpPr>
        <p:spPr>
          <a:xfrm xmlns:a="http://schemas.openxmlformats.org/drawingml/2006/main">
            <a:off x="609600" y="3295650"/>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C31"/>
                </a:solidFill>
                <a:latin typeface="Arial"/>
                <a:ea typeface="Arial"/>
                <a:cs typeface="Arial"/>
              </a:defRPr>
            </a:defPPr>
            <a:lvl1pPr>
              <a:defRPr sz="2250" b="1">
                <a:solidFill>
                  <a:srgbClr val="173C31"/>
                </a:solidFill>
                <a:latin typeface="Arial"/>
                <a:ea typeface="Arial"/>
                <a:cs typeface="Arial"/>
              </a:defRPr>
            </a:lvl1pPr>
            <a:lvl2pPr>
              <a:defRPr sz="2250" b="1">
                <a:solidFill>
                  <a:srgbClr val="173C31"/>
                </a:solidFill>
                <a:latin typeface="Arial"/>
                <a:ea typeface="Arial"/>
                <a:cs typeface="Arial"/>
              </a:defRPr>
            </a:lvl2pPr>
            <a:lvl3pPr>
              <a:defRPr sz="2250" b="1">
                <a:solidFill>
                  <a:srgbClr val="173C31"/>
                </a:solidFill>
                <a:latin typeface="Arial"/>
                <a:ea typeface="Arial"/>
                <a:cs typeface="Arial"/>
              </a:defRPr>
            </a:lvl3pPr>
            <a:lvl4pPr>
              <a:defRPr sz="2250" b="1">
                <a:solidFill>
                  <a:srgbClr val="173C31"/>
                </a:solidFill>
                <a:latin typeface="Arial"/>
                <a:ea typeface="Arial"/>
                <a:cs typeface="Arial"/>
              </a:defRPr>
            </a:lvl4pPr>
            <a:lvl5pPr>
              <a:defRPr sz="2250" b="1">
                <a:solidFill>
                  <a:srgbClr val="173C31"/>
                </a:solidFill>
                <a:latin typeface="Arial"/>
                <a:ea typeface="Arial"/>
                <a:cs typeface="Arial"/>
              </a:defRPr>
            </a:lvl5pPr>
            <a:lvl6pPr>
              <a:defRPr sz="2250" b="1">
                <a:solidFill>
                  <a:srgbClr val="173C31"/>
                </a:solidFill>
                <a:latin typeface="Arial"/>
                <a:ea typeface="Arial"/>
                <a:cs typeface="Arial"/>
              </a:defRPr>
            </a:lvl6pPr>
            <a:lvl7pPr>
              <a:defRPr sz="2250" b="1">
                <a:solidFill>
                  <a:srgbClr val="173C31"/>
                </a:solidFill>
                <a:latin typeface="Arial"/>
                <a:ea typeface="Arial"/>
                <a:cs typeface="Arial"/>
              </a:defRPr>
            </a:lvl7pPr>
            <a:lvl8pPr>
              <a:defRPr sz="2250" b="1">
                <a:solidFill>
                  <a:srgbClr val="173C31"/>
                </a:solidFill>
                <a:latin typeface="Arial"/>
                <a:ea typeface="Arial"/>
                <a:cs typeface="Arial"/>
              </a:defRPr>
            </a:lvl8pPr>
            <a:lvl9pPr>
              <a:defRPr sz="2250" b="1">
                <a:solidFill>
                  <a:srgbClr val="173C31"/>
                </a:solidFill>
                <a:latin typeface="Arial"/>
                <a:ea typeface="Arial"/>
                <a:cs typeface="Arial"/>
              </a:defRPr>
            </a:lvl9pPr>
          </a:lstStyle>
          <a:p xmlns:a="http://schemas.openxmlformats.org/drawingml/2006/main">
            <a:pPr>
              <a:defRPr sz="2250" b="1">
                <a:solidFill>
                  <a:srgbClr val="173C31"/>
                </a:solidFill>
                <a:latin typeface="Arial"/>
                <a:ea typeface="Arial"/>
                <a:cs typeface="Arial"/>
              </a:defRPr>
            </a:pPr>
            <a:r>
              <a:rPr sz="2250" b="1">
                <a:solidFill>
                  <a:srgbClr val="173C31"/>
                </a:solidFill>
                <a:latin typeface="Arial"/>
                <a:ea typeface="Arial"/>
                <a:cs typeface="Arial"/>
              </a:rPr>
              <a:t>02  Preserve</a:t>
            </a:r>
          </a:p>
        </p:txBody>
      </p:sp>
      <p:sp>
        <p:nvSpPr>
          <p:cNvPr id="9" name="">
            <a:extLst xmlns:a="http://schemas.openxmlformats.org/drawingml/2006/main">
              <a:ext uri="{FF2B5EF4-FFF2-40B4-BE49-F238E27FC236}">
                <a16:creationId xmlns:a16="http://schemas.microsoft.com/office/drawing/2014/main" id="{167C2582-434E-4B27-B1D7-CEEA2879ED81}"/>
              </a:ext>
            </a:extLst>
          </p:cNvPr>
          <p:cNvSpPr>
            <a:spLocks xmlns:a="http://schemas.openxmlformats.org/drawingml/2006/main" noGrp="1"/>
          </p:cNvSpPr>
          <p:nvPr/>
        </p:nvSpPr>
        <p:spPr>
          <a:xfrm xmlns:a="http://schemas.openxmlformats.org/drawingml/2006/main">
            <a:off x="3495675" y="3295650"/>
            <a:ext cx="790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C31"/>
                </a:solidFill>
                <a:latin typeface="Arial"/>
                <a:ea typeface="Arial"/>
                <a:cs typeface="Arial"/>
              </a:defRPr>
            </a:defPPr>
            <a:lvl1pPr>
              <a:defRPr sz="2100" b="0">
                <a:solidFill>
                  <a:srgbClr val="173C31"/>
                </a:solidFill>
                <a:latin typeface="Arial"/>
                <a:ea typeface="Arial"/>
                <a:cs typeface="Arial"/>
              </a:defRPr>
            </a:lvl1pPr>
            <a:lvl2pPr>
              <a:defRPr sz="2100" b="0">
                <a:solidFill>
                  <a:srgbClr val="173C31"/>
                </a:solidFill>
                <a:latin typeface="Arial"/>
                <a:ea typeface="Arial"/>
                <a:cs typeface="Arial"/>
              </a:defRPr>
            </a:lvl2pPr>
            <a:lvl3pPr>
              <a:defRPr sz="2100" b="0">
                <a:solidFill>
                  <a:srgbClr val="173C31"/>
                </a:solidFill>
                <a:latin typeface="Arial"/>
                <a:ea typeface="Arial"/>
                <a:cs typeface="Arial"/>
              </a:defRPr>
            </a:lvl3pPr>
            <a:lvl4pPr>
              <a:defRPr sz="2100" b="0">
                <a:solidFill>
                  <a:srgbClr val="173C31"/>
                </a:solidFill>
                <a:latin typeface="Arial"/>
                <a:ea typeface="Arial"/>
                <a:cs typeface="Arial"/>
              </a:defRPr>
            </a:lvl4pPr>
            <a:lvl5pPr>
              <a:defRPr sz="2100" b="0">
                <a:solidFill>
                  <a:srgbClr val="173C31"/>
                </a:solidFill>
                <a:latin typeface="Arial"/>
                <a:ea typeface="Arial"/>
                <a:cs typeface="Arial"/>
              </a:defRPr>
            </a:lvl5pPr>
            <a:lvl6pPr>
              <a:defRPr sz="2100" b="0">
                <a:solidFill>
                  <a:srgbClr val="173C31"/>
                </a:solidFill>
                <a:latin typeface="Arial"/>
                <a:ea typeface="Arial"/>
                <a:cs typeface="Arial"/>
              </a:defRPr>
            </a:lvl6pPr>
            <a:lvl7pPr>
              <a:defRPr sz="2100" b="0">
                <a:solidFill>
                  <a:srgbClr val="173C31"/>
                </a:solidFill>
                <a:latin typeface="Arial"/>
                <a:ea typeface="Arial"/>
                <a:cs typeface="Arial"/>
              </a:defRPr>
            </a:lvl7pPr>
            <a:lvl8pPr>
              <a:defRPr sz="2100" b="0">
                <a:solidFill>
                  <a:srgbClr val="173C31"/>
                </a:solidFill>
                <a:latin typeface="Arial"/>
                <a:ea typeface="Arial"/>
                <a:cs typeface="Arial"/>
              </a:defRPr>
            </a:lvl8pPr>
            <a:lvl9pPr>
              <a:defRPr sz="2100" b="0">
                <a:solidFill>
                  <a:srgbClr val="173C31"/>
                </a:solidFill>
                <a:latin typeface="Arial"/>
                <a:ea typeface="Arial"/>
                <a:cs typeface="Arial"/>
              </a:defRPr>
            </a:lvl9pPr>
          </a:lstStyle>
          <a:p xmlns:a="http://schemas.openxmlformats.org/drawingml/2006/main">
            <a:pPr>
              <a:defRPr sz="2100" b="0">
                <a:solidFill>
                  <a:srgbClr val="173C31"/>
                </a:solidFill>
                <a:latin typeface="Arial"/>
                <a:ea typeface="Arial"/>
                <a:cs typeface="Arial"/>
              </a:defRPr>
            </a:pPr>
            <a:r>
              <a:rPr sz="2100" b="0">
                <a:solidFill>
                  <a:srgbClr val="173C31"/>
                </a:solidFill>
                <a:latin typeface="Arial"/>
                <a:ea typeface="Arial"/>
                <a:cs typeface="Arial"/>
              </a:rPr>
              <a:t>Raw snapshots and manifest.csv with source receipts</a:t>
            </a:r>
          </a:p>
        </p:txBody>
      </p:sp>
      <p:sp>
        <p:nvSpPr>
          <p:cNvPr id="10" name="">
            <a:extLst xmlns:a="http://schemas.openxmlformats.org/drawingml/2006/main">
              <a:ext uri="{FF2B5EF4-FFF2-40B4-BE49-F238E27FC236}">
                <a16:creationId xmlns:a16="http://schemas.microsoft.com/office/drawing/2014/main" id="{1FCE49D6-70FE-49B8-9875-50DBA0915F6A}"/>
              </a:ext>
            </a:extLst>
          </p:cNvPr>
          <p:cNvSpPr>
            <a:spLocks xmlns:a="http://schemas.openxmlformats.org/drawingml/2006/main" noGrp="1"/>
          </p:cNvSpPr>
          <p:nvPr/>
        </p:nvSpPr>
        <p:spPr>
          <a:xfrm xmlns:a="http://schemas.openxmlformats.org/drawingml/2006/main">
            <a:off x="609600" y="4095750"/>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C31"/>
                </a:solidFill>
                <a:latin typeface="Arial"/>
                <a:ea typeface="Arial"/>
                <a:cs typeface="Arial"/>
              </a:defRPr>
            </a:defPPr>
            <a:lvl1pPr>
              <a:defRPr sz="2250" b="1">
                <a:solidFill>
                  <a:srgbClr val="173C31"/>
                </a:solidFill>
                <a:latin typeface="Arial"/>
                <a:ea typeface="Arial"/>
                <a:cs typeface="Arial"/>
              </a:defRPr>
            </a:lvl1pPr>
            <a:lvl2pPr>
              <a:defRPr sz="2250" b="1">
                <a:solidFill>
                  <a:srgbClr val="173C31"/>
                </a:solidFill>
                <a:latin typeface="Arial"/>
                <a:ea typeface="Arial"/>
                <a:cs typeface="Arial"/>
              </a:defRPr>
            </a:lvl2pPr>
            <a:lvl3pPr>
              <a:defRPr sz="2250" b="1">
                <a:solidFill>
                  <a:srgbClr val="173C31"/>
                </a:solidFill>
                <a:latin typeface="Arial"/>
                <a:ea typeface="Arial"/>
                <a:cs typeface="Arial"/>
              </a:defRPr>
            </a:lvl3pPr>
            <a:lvl4pPr>
              <a:defRPr sz="2250" b="1">
                <a:solidFill>
                  <a:srgbClr val="173C31"/>
                </a:solidFill>
                <a:latin typeface="Arial"/>
                <a:ea typeface="Arial"/>
                <a:cs typeface="Arial"/>
              </a:defRPr>
            </a:lvl4pPr>
            <a:lvl5pPr>
              <a:defRPr sz="2250" b="1">
                <a:solidFill>
                  <a:srgbClr val="173C31"/>
                </a:solidFill>
                <a:latin typeface="Arial"/>
                <a:ea typeface="Arial"/>
                <a:cs typeface="Arial"/>
              </a:defRPr>
            </a:lvl5pPr>
            <a:lvl6pPr>
              <a:defRPr sz="2250" b="1">
                <a:solidFill>
                  <a:srgbClr val="173C31"/>
                </a:solidFill>
                <a:latin typeface="Arial"/>
                <a:ea typeface="Arial"/>
                <a:cs typeface="Arial"/>
              </a:defRPr>
            </a:lvl6pPr>
            <a:lvl7pPr>
              <a:defRPr sz="2250" b="1">
                <a:solidFill>
                  <a:srgbClr val="173C31"/>
                </a:solidFill>
                <a:latin typeface="Arial"/>
                <a:ea typeface="Arial"/>
                <a:cs typeface="Arial"/>
              </a:defRPr>
            </a:lvl7pPr>
            <a:lvl8pPr>
              <a:defRPr sz="2250" b="1">
                <a:solidFill>
                  <a:srgbClr val="173C31"/>
                </a:solidFill>
                <a:latin typeface="Arial"/>
                <a:ea typeface="Arial"/>
                <a:cs typeface="Arial"/>
              </a:defRPr>
            </a:lvl8pPr>
            <a:lvl9pPr>
              <a:defRPr sz="2250" b="1">
                <a:solidFill>
                  <a:srgbClr val="173C31"/>
                </a:solidFill>
                <a:latin typeface="Arial"/>
                <a:ea typeface="Arial"/>
                <a:cs typeface="Arial"/>
              </a:defRPr>
            </a:lvl9pPr>
          </a:lstStyle>
          <a:p xmlns:a="http://schemas.openxmlformats.org/drawingml/2006/main">
            <a:pPr>
              <a:defRPr sz="2250" b="1">
                <a:solidFill>
                  <a:srgbClr val="173C31"/>
                </a:solidFill>
                <a:latin typeface="Arial"/>
                <a:ea typeface="Arial"/>
                <a:cs typeface="Arial"/>
              </a:defRPr>
            </a:pPr>
            <a:r>
              <a:rPr sz="2250" b="1">
                <a:solidFill>
                  <a:srgbClr val="173C31"/>
                </a:solidFill>
                <a:latin typeface="Arial"/>
                <a:ea typeface="Arial"/>
                <a:cs typeface="Arial"/>
              </a:rPr>
              <a:t>03  Prepare</a:t>
            </a:r>
          </a:p>
        </p:txBody>
      </p:sp>
      <p:sp>
        <p:nvSpPr>
          <p:cNvPr id="11" name="">
            <a:extLst xmlns:a="http://schemas.openxmlformats.org/drawingml/2006/main">
              <a:ext uri="{FF2B5EF4-FFF2-40B4-BE49-F238E27FC236}">
                <a16:creationId xmlns:a16="http://schemas.microsoft.com/office/drawing/2014/main" id="{18A479D5-8B3F-48D6-A66D-8FEAF54960D1}"/>
              </a:ext>
            </a:extLst>
          </p:cNvPr>
          <p:cNvSpPr>
            <a:spLocks xmlns:a="http://schemas.openxmlformats.org/drawingml/2006/main" noGrp="1"/>
          </p:cNvSpPr>
          <p:nvPr/>
        </p:nvSpPr>
        <p:spPr>
          <a:xfrm xmlns:a="http://schemas.openxmlformats.org/drawingml/2006/main">
            <a:off x="3495675" y="4095750"/>
            <a:ext cx="790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C31"/>
                </a:solidFill>
                <a:latin typeface="Arial"/>
                <a:ea typeface="Arial"/>
                <a:cs typeface="Arial"/>
              </a:defRPr>
            </a:defPPr>
            <a:lvl1pPr>
              <a:defRPr sz="2100" b="0">
                <a:solidFill>
                  <a:srgbClr val="173C31"/>
                </a:solidFill>
                <a:latin typeface="Arial"/>
                <a:ea typeface="Arial"/>
                <a:cs typeface="Arial"/>
              </a:defRPr>
            </a:lvl1pPr>
            <a:lvl2pPr>
              <a:defRPr sz="2100" b="0">
                <a:solidFill>
                  <a:srgbClr val="173C31"/>
                </a:solidFill>
                <a:latin typeface="Arial"/>
                <a:ea typeface="Arial"/>
                <a:cs typeface="Arial"/>
              </a:defRPr>
            </a:lvl2pPr>
            <a:lvl3pPr>
              <a:defRPr sz="2100" b="0">
                <a:solidFill>
                  <a:srgbClr val="173C31"/>
                </a:solidFill>
                <a:latin typeface="Arial"/>
                <a:ea typeface="Arial"/>
                <a:cs typeface="Arial"/>
              </a:defRPr>
            </a:lvl3pPr>
            <a:lvl4pPr>
              <a:defRPr sz="2100" b="0">
                <a:solidFill>
                  <a:srgbClr val="173C31"/>
                </a:solidFill>
                <a:latin typeface="Arial"/>
                <a:ea typeface="Arial"/>
                <a:cs typeface="Arial"/>
              </a:defRPr>
            </a:lvl4pPr>
            <a:lvl5pPr>
              <a:defRPr sz="2100" b="0">
                <a:solidFill>
                  <a:srgbClr val="173C31"/>
                </a:solidFill>
                <a:latin typeface="Arial"/>
                <a:ea typeface="Arial"/>
                <a:cs typeface="Arial"/>
              </a:defRPr>
            </a:lvl5pPr>
            <a:lvl6pPr>
              <a:defRPr sz="2100" b="0">
                <a:solidFill>
                  <a:srgbClr val="173C31"/>
                </a:solidFill>
                <a:latin typeface="Arial"/>
                <a:ea typeface="Arial"/>
                <a:cs typeface="Arial"/>
              </a:defRPr>
            </a:lvl6pPr>
            <a:lvl7pPr>
              <a:defRPr sz="2100" b="0">
                <a:solidFill>
                  <a:srgbClr val="173C31"/>
                </a:solidFill>
                <a:latin typeface="Arial"/>
                <a:ea typeface="Arial"/>
                <a:cs typeface="Arial"/>
              </a:defRPr>
            </a:lvl7pPr>
            <a:lvl8pPr>
              <a:defRPr sz="2100" b="0">
                <a:solidFill>
                  <a:srgbClr val="173C31"/>
                </a:solidFill>
                <a:latin typeface="Arial"/>
                <a:ea typeface="Arial"/>
                <a:cs typeface="Arial"/>
              </a:defRPr>
            </a:lvl8pPr>
            <a:lvl9pPr>
              <a:defRPr sz="2100" b="0">
                <a:solidFill>
                  <a:srgbClr val="173C31"/>
                </a:solidFill>
                <a:latin typeface="Arial"/>
                <a:ea typeface="Arial"/>
                <a:cs typeface="Arial"/>
              </a:defRPr>
            </a:lvl9pPr>
          </a:lstStyle>
          <a:p xmlns:a="http://schemas.openxmlformats.org/drawingml/2006/main">
            <a:pPr>
              <a:defRPr sz="2100" b="0">
                <a:solidFill>
                  <a:srgbClr val="173C31"/>
                </a:solidFill>
                <a:latin typeface="Arial"/>
                <a:ea typeface="Arial"/>
                <a:cs typeface="Arial"/>
              </a:defRPr>
            </a:pPr>
            <a:r>
              <a:rPr sz="2100" b="0">
                <a:solidFill>
                  <a:srgbClr val="173C31"/>
                </a:solidFill>
                <a:latin typeface="Arial"/>
                <a:ea typeface="Arial"/>
                <a:cs typeface="Arial"/>
              </a:rPr>
              <a:t>Cleaned tables, exact 24-hour targets and time-based splits</a:t>
            </a:r>
          </a:p>
        </p:txBody>
      </p:sp>
      <p:sp>
        <p:nvSpPr>
          <p:cNvPr id="12" name="">
            <a:extLst xmlns:a="http://schemas.openxmlformats.org/drawingml/2006/main">
              <a:ext uri="{FF2B5EF4-FFF2-40B4-BE49-F238E27FC236}">
                <a16:creationId xmlns:a16="http://schemas.microsoft.com/office/drawing/2014/main" id="{717E3EB1-CA1D-430D-88CB-D12E69D9AC70}"/>
              </a:ext>
            </a:extLst>
          </p:cNvPr>
          <p:cNvSpPr>
            <a:spLocks xmlns:a="http://schemas.openxmlformats.org/drawingml/2006/main" noGrp="1"/>
          </p:cNvSpPr>
          <p:nvPr/>
        </p:nvSpPr>
        <p:spPr>
          <a:xfrm xmlns:a="http://schemas.openxmlformats.org/drawingml/2006/main">
            <a:off x="609600" y="4895850"/>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C31"/>
                </a:solidFill>
                <a:latin typeface="Arial"/>
                <a:ea typeface="Arial"/>
                <a:cs typeface="Arial"/>
              </a:defRPr>
            </a:defPPr>
            <a:lvl1pPr>
              <a:defRPr sz="2250" b="1">
                <a:solidFill>
                  <a:srgbClr val="173C31"/>
                </a:solidFill>
                <a:latin typeface="Arial"/>
                <a:ea typeface="Arial"/>
                <a:cs typeface="Arial"/>
              </a:defRPr>
            </a:lvl1pPr>
            <a:lvl2pPr>
              <a:defRPr sz="2250" b="1">
                <a:solidFill>
                  <a:srgbClr val="173C31"/>
                </a:solidFill>
                <a:latin typeface="Arial"/>
                <a:ea typeface="Arial"/>
                <a:cs typeface="Arial"/>
              </a:defRPr>
            </a:lvl2pPr>
            <a:lvl3pPr>
              <a:defRPr sz="2250" b="1">
                <a:solidFill>
                  <a:srgbClr val="173C31"/>
                </a:solidFill>
                <a:latin typeface="Arial"/>
                <a:ea typeface="Arial"/>
                <a:cs typeface="Arial"/>
              </a:defRPr>
            </a:lvl3pPr>
            <a:lvl4pPr>
              <a:defRPr sz="2250" b="1">
                <a:solidFill>
                  <a:srgbClr val="173C31"/>
                </a:solidFill>
                <a:latin typeface="Arial"/>
                <a:ea typeface="Arial"/>
                <a:cs typeface="Arial"/>
              </a:defRPr>
            </a:lvl4pPr>
            <a:lvl5pPr>
              <a:defRPr sz="2250" b="1">
                <a:solidFill>
                  <a:srgbClr val="173C31"/>
                </a:solidFill>
                <a:latin typeface="Arial"/>
                <a:ea typeface="Arial"/>
                <a:cs typeface="Arial"/>
              </a:defRPr>
            </a:lvl5pPr>
            <a:lvl6pPr>
              <a:defRPr sz="2250" b="1">
                <a:solidFill>
                  <a:srgbClr val="173C31"/>
                </a:solidFill>
                <a:latin typeface="Arial"/>
                <a:ea typeface="Arial"/>
                <a:cs typeface="Arial"/>
              </a:defRPr>
            </a:lvl6pPr>
            <a:lvl7pPr>
              <a:defRPr sz="2250" b="1">
                <a:solidFill>
                  <a:srgbClr val="173C31"/>
                </a:solidFill>
                <a:latin typeface="Arial"/>
                <a:ea typeface="Arial"/>
                <a:cs typeface="Arial"/>
              </a:defRPr>
            </a:lvl7pPr>
            <a:lvl8pPr>
              <a:defRPr sz="2250" b="1">
                <a:solidFill>
                  <a:srgbClr val="173C31"/>
                </a:solidFill>
                <a:latin typeface="Arial"/>
                <a:ea typeface="Arial"/>
                <a:cs typeface="Arial"/>
              </a:defRPr>
            </a:lvl8pPr>
            <a:lvl9pPr>
              <a:defRPr sz="2250" b="1">
                <a:solidFill>
                  <a:srgbClr val="173C31"/>
                </a:solidFill>
                <a:latin typeface="Arial"/>
                <a:ea typeface="Arial"/>
                <a:cs typeface="Arial"/>
              </a:defRPr>
            </a:lvl9pPr>
          </a:lstStyle>
          <a:p xmlns:a="http://schemas.openxmlformats.org/drawingml/2006/main">
            <a:pPr>
              <a:defRPr sz="2250" b="1">
                <a:solidFill>
                  <a:srgbClr val="173C31"/>
                </a:solidFill>
                <a:latin typeface="Arial"/>
                <a:ea typeface="Arial"/>
                <a:cs typeface="Arial"/>
              </a:defRPr>
            </a:pPr>
            <a:r>
              <a:rPr sz="2250" b="1">
                <a:solidFill>
                  <a:srgbClr val="173C31"/>
                </a:solidFill>
                <a:latin typeface="Arial"/>
                <a:ea typeface="Arial"/>
                <a:cs typeface="Arial"/>
              </a:rPr>
              <a:t>04  Rebuild</a:t>
            </a:r>
          </a:p>
        </p:txBody>
      </p:sp>
      <p:sp>
        <p:nvSpPr>
          <p:cNvPr id="13" name="">
            <a:extLst xmlns:a="http://schemas.openxmlformats.org/drawingml/2006/main">
              <a:ext uri="{FF2B5EF4-FFF2-40B4-BE49-F238E27FC236}">
                <a16:creationId xmlns:a16="http://schemas.microsoft.com/office/drawing/2014/main" id="{3F3DD4BB-42E7-4A1E-A32B-DF0FA416C516}"/>
              </a:ext>
            </a:extLst>
          </p:cNvPr>
          <p:cNvSpPr>
            <a:spLocks xmlns:a="http://schemas.openxmlformats.org/drawingml/2006/main" noGrp="1"/>
          </p:cNvSpPr>
          <p:nvPr/>
        </p:nvSpPr>
        <p:spPr>
          <a:xfrm xmlns:a="http://schemas.openxmlformats.org/drawingml/2006/main">
            <a:off x="3495675" y="4895850"/>
            <a:ext cx="790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C31"/>
                </a:solidFill>
                <a:latin typeface="Arial"/>
                <a:ea typeface="Arial"/>
                <a:cs typeface="Arial"/>
              </a:defRPr>
            </a:defPPr>
            <a:lvl1pPr>
              <a:defRPr sz="2100" b="0">
                <a:solidFill>
                  <a:srgbClr val="173C31"/>
                </a:solidFill>
                <a:latin typeface="Arial"/>
                <a:ea typeface="Arial"/>
                <a:cs typeface="Arial"/>
              </a:defRPr>
            </a:lvl1pPr>
            <a:lvl2pPr>
              <a:defRPr sz="2100" b="0">
                <a:solidFill>
                  <a:srgbClr val="173C31"/>
                </a:solidFill>
                <a:latin typeface="Arial"/>
                <a:ea typeface="Arial"/>
                <a:cs typeface="Arial"/>
              </a:defRPr>
            </a:lvl2pPr>
            <a:lvl3pPr>
              <a:defRPr sz="2100" b="0">
                <a:solidFill>
                  <a:srgbClr val="173C31"/>
                </a:solidFill>
                <a:latin typeface="Arial"/>
                <a:ea typeface="Arial"/>
                <a:cs typeface="Arial"/>
              </a:defRPr>
            </a:lvl3pPr>
            <a:lvl4pPr>
              <a:defRPr sz="2100" b="0">
                <a:solidFill>
                  <a:srgbClr val="173C31"/>
                </a:solidFill>
                <a:latin typeface="Arial"/>
                <a:ea typeface="Arial"/>
                <a:cs typeface="Arial"/>
              </a:defRPr>
            </a:lvl4pPr>
            <a:lvl5pPr>
              <a:defRPr sz="2100" b="0">
                <a:solidFill>
                  <a:srgbClr val="173C31"/>
                </a:solidFill>
                <a:latin typeface="Arial"/>
                <a:ea typeface="Arial"/>
                <a:cs typeface="Arial"/>
              </a:defRPr>
            </a:lvl5pPr>
            <a:lvl6pPr>
              <a:defRPr sz="2100" b="0">
                <a:solidFill>
                  <a:srgbClr val="173C31"/>
                </a:solidFill>
                <a:latin typeface="Arial"/>
                <a:ea typeface="Arial"/>
                <a:cs typeface="Arial"/>
              </a:defRPr>
            </a:lvl6pPr>
            <a:lvl7pPr>
              <a:defRPr sz="2100" b="0">
                <a:solidFill>
                  <a:srgbClr val="173C31"/>
                </a:solidFill>
                <a:latin typeface="Arial"/>
                <a:ea typeface="Arial"/>
                <a:cs typeface="Arial"/>
              </a:defRPr>
            </a:lvl7pPr>
            <a:lvl8pPr>
              <a:defRPr sz="2100" b="0">
                <a:solidFill>
                  <a:srgbClr val="173C31"/>
                </a:solidFill>
                <a:latin typeface="Arial"/>
                <a:ea typeface="Arial"/>
                <a:cs typeface="Arial"/>
              </a:defRPr>
            </a:lvl8pPr>
            <a:lvl9pPr>
              <a:defRPr sz="2100" b="0">
                <a:solidFill>
                  <a:srgbClr val="173C31"/>
                </a:solidFill>
                <a:latin typeface="Arial"/>
                <a:ea typeface="Arial"/>
                <a:cs typeface="Arial"/>
              </a:defRPr>
            </a:lvl9pPr>
          </a:lstStyle>
          <a:p xmlns:a="http://schemas.openxmlformats.org/drawingml/2006/main">
            <a:pPr>
              <a:defRPr sz="2100" b="0">
                <a:solidFill>
                  <a:srgbClr val="173C31"/>
                </a:solidFill>
                <a:latin typeface="Arial"/>
                <a:ea typeface="Arial"/>
                <a:cs typeface="Arial"/>
              </a:defRPr>
            </a:pPr>
            <a:r>
              <a:rPr sz="2100" b="0">
                <a:solidFill>
                  <a:srgbClr val="173C31"/>
                </a:solidFill>
                <a:latin typeface="Arial"/>
                <a:ea typeface="Arial"/>
                <a:cs typeface="Arial"/>
              </a:rPr>
              <a:t>One make data command and 14 warehouse checks</a:t>
            </a:r>
          </a:p>
        </p:txBody>
      </p:sp>
      <p:sp>
        <p:nvSpPr>
          <p:cNvPr id="14" name="">
            <a:extLst xmlns:a="http://schemas.openxmlformats.org/drawingml/2006/main">
              <a:ext uri="{FF2B5EF4-FFF2-40B4-BE49-F238E27FC236}">
                <a16:creationId xmlns:a16="http://schemas.microsoft.com/office/drawing/2014/main" id="{9C348013-9525-482E-8C9C-BB9F33B63288}"/>
              </a:ext>
            </a:extLst>
          </p:cNvPr>
          <p:cNvSpPr>
            <a:spLocks xmlns:a="http://schemas.openxmlformats.org/drawingml/2006/main" noGrp="1"/>
          </p:cNvSpPr>
          <p:nvPr/>
        </p:nvSpPr>
        <p:spPr>
          <a:xfrm xmlns:a="http://schemas.openxmlformats.org/drawingml/2006/main">
            <a:off x="609600" y="5838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7064"/>
                </a:solidFill>
                <a:latin typeface="Arial"/>
                <a:ea typeface="Arial"/>
                <a:cs typeface="Arial"/>
              </a:defRPr>
            </a:defPPr>
            <a:lvl1pPr>
              <a:defRPr sz="1875" b="0">
                <a:solidFill>
                  <a:srgbClr val="527064"/>
                </a:solidFill>
                <a:latin typeface="Arial"/>
                <a:ea typeface="Arial"/>
                <a:cs typeface="Arial"/>
              </a:defRPr>
            </a:lvl1pPr>
            <a:lvl2pPr>
              <a:defRPr sz="1875" b="0">
                <a:solidFill>
                  <a:srgbClr val="527064"/>
                </a:solidFill>
                <a:latin typeface="Arial"/>
                <a:ea typeface="Arial"/>
                <a:cs typeface="Arial"/>
              </a:defRPr>
            </a:lvl2pPr>
            <a:lvl3pPr>
              <a:defRPr sz="1875" b="0">
                <a:solidFill>
                  <a:srgbClr val="527064"/>
                </a:solidFill>
                <a:latin typeface="Arial"/>
                <a:ea typeface="Arial"/>
                <a:cs typeface="Arial"/>
              </a:defRPr>
            </a:lvl3pPr>
            <a:lvl4pPr>
              <a:defRPr sz="1875" b="0">
                <a:solidFill>
                  <a:srgbClr val="527064"/>
                </a:solidFill>
                <a:latin typeface="Arial"/>
                <a:ea typeface="Arial"/>
                <a:cs typeface="Arial"/>
              </a:defRPr>
            </a:lvl4pPr>
            <a:lvl5pPr>
              <a:defRPr sz="1875" b="0">
                <a:solidFill>
                  <a:srgbClr val="527064"/>
                </a:solidFill>
                <a:latin typeface="Arial"/>
                <a:ea typeface="Arial"/>
                <a:cs typeface="Arial"/>
              </a:defRPr>
            </a:lvl5pPr>
            <a:lvl6pPr>
              <a:defRPr sz="1875" b="0">
                <a:solidFill>
                  <a:srgbClr val="527064"/>
                </a:solidFill>
                <a:latin typeface="Arial"/>
                <a:ea typeface="Arial"/>
                <a:cs typeface="Arial"/>
              </a:defRPr>
            </a:lvl6pPr>
            <a:lvl7pPr>
              <a:defRPr sz="1875" b="0">
                <a:solidFill>
                  <a:srgbClr val="527064"/>
                </a:solidFill>
                <a:latin typeface="Arial"/>
                <a:ea typeface="Arial"/>
                <a:cs typeface="Arial"/>
              </a:defRPr>
            </a:lvl7pPr>
            <a:lvl8pPr>
              <a:defRPr sz="1875" b="0">
                <a:solidFill>
                  <a:srgbClr val="527064"/>
                </a:solidFill>
                <a:latin typeface="Arial"/>
                <a:ea typeface="Arial"/>
                <a:cs typeface="Arial"/>
              </a:defRPr>
            </a:lvl8pPr>
            <a:lvl9pPr>
              <a:defRPr sz="1875" b="0">
                <a:solidFill>
                  <a:srgbClr val="527064"/>
                </a:solidFill>
                <a:latin typeface="Arial"/>
                <a:ea typeface="Arial"/>
                <a:cs typeface="Arial"/>
              </a:defRPr>
            </a:lvl9pPr>
          </a:lstStyle>
          <a:p xmlns:a="http://schemas.openxmlformats.org/drawingml/2006/main">
            <a:pPr>
              <a:defRPr sz="1875" b="0">
                <a:solidFill>
                  <a:srgbClr val="527064"/>
                </a:solidFill>
                <a:latin typeface="Arial"/>
                <a:ea typeface="Arial"/>
                <a:cs typeface="Arial"/>
              </a:defRPr>
            </a:pPr>
            <a:r>
              <a:rPr sz="1875" b="0">
                <a:solidFill>
                  <a:srgbClr val="527064"/>
                </a:solidFill>
                <a:latin typeface="Arial"/>
                <a:ea typeface="Arial"/>
                <a:cs typeface="Arial"/>
              </a:rPr>
              <a:t>16,463 training rows     1,783 validation rows     755 calibration rows</a:t>
            </a:r>
          </a:p>
        </p:txBody>
      </p:sp>
    </p:spTree>
    <p:extLst>
      <p:ext uri="{BB962C8B-B14F-4D97-AF65-F5344CB8AC3E}">
        <p14:creationId xmlns:p14="http://schemas.microsoft.com/office/powerpoint/2010/main" val="307033701"/>
      </p:ext>
    </p:extLst>
  </p:cSld>
</p:sld>
</file>

<file path=ppt/slides/slide4.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F33EC8F-1904-41B7-8E43-9F8CE95A2AB6}"/>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C31"/>
                </a:solidFill>
                <a:latin typeface="Arial"/>
                <a:ea typeface="Arial"/>
                <a:cs typeface="Arial"/>
              </a:defRPr>
            </a:defPPr>
            <a:lvl1pPr>
              <a:defRPr sz="3450" b="1">
                <a:solidFill>
                  <a:srgbClr val="173C31"/>
                </a:solidFill>
                <a:latin typeface="Arial"/>
                <a:ea typeface="Arial"/>
                <a:cs typeface="Arial"/>
              </a:defRPr>
            </a:lvl1pPr>
            <a:lvl2pPr>
              <a:defRPr sz="3450" b="1">
                <a:solidFill>
                  <a:srgbClr val="173C31"/>
                </a:solidFill>
                <a:latin typeface="Arial"/>
                <a:ea typeface="Arial"/>
                <a:cs typeface="Arial"/>
              </a:defRPr>
            </a:lvl2pPr>
            <a:lvl3pPr>
              <a:defRPr sz="3450" b="1">
                <a:solidFill>
                  <a:srgbClr val="173C31"/>
                </a:solidFill>
                <a:latin typeface="Arial"/>
                <a:ea typeface="Arial"/>
                <a:cs typeface="Arial"/>
              </a:defRPr>
            </a:lvl3pPr>
            <a:lvl4pPr>
              <a:defRPr sz="3450" b="1">
                <a:solidFill>
                  <a:srgbClr val="173C31"/>
                </a:solidFill>
                <a:latin typeface="Arial"/>
                <a:ea typeface="Arial"/>
                <a:cs typeface="Arial"/>
              </a:defRPr>
            </a:lvl4pPr>
            <a:lvl5pPr>
              <a:defRPr sz="3450" b="1">
                <a:solidFill>
                  <a:srgbClr val="173C31"/>
                </a:solidFill>
                <a:latin typeface="Arial"/>
                <a:ea typeface="Arial"/>
                <a:cs typeface="Arial"/>
              </a:defRPr>
            </a:lvl5pPr>
            <a:lvl6pPr>
              <a:defRPr sz="3450" b="1">
                <a:solidFill>
                  <a:srgbClr val="173C31"/>
                </a:solidFill>
                <a:latin typeface="Arial"/>
                <a:ea typeface="Arial"/>
                <a:cs typeface="Arial"/>
              </a:defRPr>
            </a:lvl6pPr>
            <a:lvl7pPr>
              <a:defRPr sz="3450" b="1">
                <a:solidFill>
                  <a:srgbClr val="173C31"/>
                </a:solidFill>
                <a:latin typeface="Arial"/>
                <a:ea typeface="Arial"/>
                <a:cs typeface="Arial"/>
              </a:defRPr>
            </a:lvl7pPr>
            <a:lvl8pPr>
              <a:defRPr sz="3450" b="1">
                <a:solidFill>
                  <a:srgbClr val="173C31"/>
                </a:solidFill>
                <a:latin typeface="Arial"/>
                <a:ea typeface="Arial"/>
                <a:cs typeface="Arial"/>
              </a:defRPr>
            </a:lvl8pPr>
            <a:lvl9pPr>
              <a:defRPr sz="3450" b="1">
                <a:solidFill>
                  <a:srgbClr val="173C31"/>
                </a:solidFill>
                <a:latin typeface="Arial"/>
                <a:ea typeface="Arial"/>
                <a:cs typeface="Arial"/>
              </a:defRPr>
            </a:lvl9pPr>
          </a:lstStyle>
          <a:p xmlns:a="http://schemas.openxmlformats.org/drawingml/2006/main">
            <a:pPr>
              <a:defRPr sz="3450" b="1">
                <a:solidFill>
                  <a:srgbClr val="173C31"/>
                </a:solidFill>
                <a:latin typeface="Arial"/>
                <a:ea typeface="Arial"/>
                <a:cs typeface="Arial"/>
              </a:defRPr>
            </a:pPr>
            <a:r>
              <a:rPr sz="3450" b="1">
                <a:solidFill>
                  <a:srgbClr val="173C31"/>
                </a:solidFill>
                <a:latin typeface="Arial"/>
                <a:ea typeface="Arial"/>
                <a:cs typeface="Arial"/>
              </a:rPr>
              <a:t>The prediction model</a:t>
            </a:r>
          </a:p>
        </p:txBody>
      </p:sp>
      <p:sp>
        <p:nvSpPr>
          <p:cNvPr id="3" name="">
            <a:extLst xmlns:a="http://schemas.openxmlformats.org/drawingml/2006/main">
              <a:ext uri="{FF2B5EF4-FFF2-40B4-BE49-F238E27FC236}">
                <a16:creationId xmlns:a16="http://schemas.microsoft.com/office/drawing/2014/main" id="{52464C98-8368-4257-B214-B697C2FD3376}"/>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HeatShift  /  HackInsight 26</a:t>
            </a:r>
          </a:p>
        </p:txBody>
      </p:sp>
      <p:sp>
        <p:nvSpPr>
          <p:cNvPr id="4" name="">
            <a:extLst xmlns:a="http://schemas.openxmlformats.org/drawingml/2006/main">
              <a:ext uri="{FF2B5EF4-FFF2-40B4-BE49-F238E27FC236}">
                <a16:creationId xmlns:a16="http://schemas.microsoft.com/office/drawing/2014/main" id="{8EF1D0B6-89B4-4429-A0A6-91FC51EEE0E7}"/>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D543DD1-7649-4538-A3E1-62AC3EE26DA3}"/>
              </a:ext>
            </a:extLst>
          </p:cNvPr>
          <p:cNvSpPr>
            <a:spLocks xmlns:a="http://schemas.openxmlformats.org/drawingml/2006/main" noGrp="1"/>
          </p:cNvSpPr>
          <p:nvPr/>
        </p:nvSpPr>
        <p:spPr>
          <a:xfrm xmlns:a="http://schemas.openxmlformats.org/drawingml/2006/main">
            <a:off x="8153400" y="1685925"/>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43D33"/>
                </a:solidFill>
                <a:latin typeface="Arial"/>
                <a:ea typeface="Arial"/>
                <a:cs typeface="Arial"/>
              </a:defRPr>
            </a:defPPr>
            <a:lvl1pPr>
              <a:defRPr sz="2325" b="1">
                <a:solidFill>
                  <a:srgbClr val="143D33"/>
                </a:solidFill>
                <a:latin typeface="Arial"/>
                <a:ea typeface="Arial"/>
                <a:cs typeface="Arial"/>
              </a:defRPr>
            </a:lvl1pPr>
            <a:lvl2pPr>
              <a:defRPr sz="2325" b="1">
                <a:solidFill>
                  <a:srgbClr val="143D33"/>
                </a:solidFill>
                <a:latin typeface="Arial"/>
                <a:ea typeface="Arial"/>
                <a:cs typeface="Arial"/>
              </a:defRPr>
            </a:lvl2pPr>
            <a:lvl3pPr>
              <a:defRPr sz="2325" b="1">
                <a:solidFill>
                  <a:srgbClr val="143D33"/>
                </a:solidFill>
                <a:latin typeface="Arial"/>
                <a:ea typeface="Arial"/>
                <a:cs typeface="Arial"/>
              </a:defRPr>
            </a:lvl3pPr>
            <a:lvl4pPr>
              <a:defRPr sz="2325" b="1">
                <a:solidFill>
                  <a:srgbClr val="143D33"/>
                </a:solidFill>
                <a:latin typeface="Arial"/>
                <a:ea typeface="Arial"/>
                <a:cs typeface="Arial"/>
              </a:defRPr>
            </a:lvl4pPr>
            <a:lvl5pPr>
              <a:defRPr sz="2325" b="1">
                <a:solidFill>
                  <a:srgbClr val="143D33"/>
                </a:solidFill>
                <a:latin typeface="Arial"/>
                <a:ea typeface="Arial"/>
                <a:cs typeface="Arial"/>
              </a:defRPr>
            </a:lvl5pPr>
            <a:lvl6pPr>
              <a:defRPr sz="2325" b="1">
                <a:solidFill>
                  <a:srgbClr val="143D33"/>
                </a:solidFill>
                <a:latin typeface="Arial"/>
                <a:ea typeface="Arial"/>
                <a:cs typeface="Arial"/>
              </a:defRPr>
            </a:lvl6pPr>
            <a:lvl7pPr>
              <a:defRPr sz="2325" b="1">
                <a:solidFill>
                  <a:srgbClr val="143D33"/>
                </a:solidFill>
                <a:latin typeface="Arial"/>
                <a:ea typeface="Arial"/>
                <a:cs typeface="Arial"/>
              </a:defRPr>
            </a:lvl7pPr>
            <a:lvl8pPr>
              <a:defRPr sz="2325" b="1">
                <a:solidFill>
                  <a:srgbClr val="143D33"/>
                </a:solidFill>
                <a:latin typeface="Arial"/>
                <a:ea typeface="Arial"/>
                <a:cs typeface="Arial"/>
              </a:defRPr>
            </a:lvl8pPr>
            <a:lvl9pPr>
              <a:defRPr sz="2325" b="1">
                <a:solidFill>
                  <a:srgbClr val="143D33"/>
                </a:solidFill>
                <a:latin typeface="Arial"/>
                <a:ea typeface="Arial"/>
                <a:cs typeface="Arial"/>
              </a:defRPr>
            </a:lvl9pPr>
          </a:lstStyle>
          <a:p xmlns:a="http://schemas.openxmlformats.org/drawingml/2006/main">
            <a:pPr>
              <a:defRPr sz="2325" b="1">
                <a:solidFill>
                  <a:srgbClr val="143D33"/>
                </a:solidFill>
                <a:latin typeface="Arial"/>
                <a:ea typeface="Arial"/>
                <a:cs typeface="Arial"/>
              </a:defRPr>
            </a:pPr>
            <a:r>
              <a:rPr sz="2325" b="1">
                <a:solidFill>
                  <a:srgbClr val="143D33"/>
                </a:solidFill>
                <a:latin typeface="Arial"/>
                <a:ea typeface="Arial"/>
                <a:cs typeface="Arial"/>
              </a:rPr>
              <a:t>Frozen HistGradientBoosting</a:t>
            </a:r>
          </a:p>
        </p:txBody>
      </p:sp>
      <p:sp>
        <p:nvSpPr>
          <p:cNvPr id="6" name="">
            <a:extLst xmlns:a="http://schemas.openxmlformats.org/drawingml/2006/main">
              <a:ext uri="{FF2B5EF4-FFF2-40B4-BE49-F238E27FC236}">
                <a16:creationId xmlns:a16="http://schemas.microsoft.com/office/drawing/2014/main" id="{BACF85A9-8EEF-4947-84A7-0480BF806585}"/>
              </a:ext>
            </a:extLst>
          </p:cNvPr>
          <p:cNvSpPr>
            <a:spLocks xmlns:a="http://schemas.openxmlformats.org/drawingml/2006/main" noGrp="1"/>
          </p:cNvSpPr>
          <p:nvPr/>
        </p:nvSpPr>
        <p:spPr>
          <a:xfrm xmlns:a="http://schemas.openxmlformats.org/drawingml/2006/main">
            <a:off x="8153400" y="2800350"/>
            <a:ext cx="342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3C31"/>
                </a:solidFill>
                <a:latin typeface="Arial"/>
                <a:ea typeface="Arial"/>
                <a:cs typeface="Arial"/>
              </a:defRPr>
            </a:defPPr>
            <a:lvl1pPr>
              <a:defRPr sz="2025" b="0">
                <a:solidFill>
                  <a:srgbClr val="173C31"/>
                </a:solidFill>
                <a:latin typeface="Arial"/>
                <a:ea typeface="Arial"/>
                <a:cs typeface="Arial"/>
              </a:defRPr>
            </a:lvl1pPr>
            <a:lvl2pPr>
              <a:defRPr sz="2025" b="0">
                <a:solidFill>
                  <a:srgbClr val="173C31"/>
                </a:solidFill>
                <a:latin typeface="Arial"/>
                <a:ea typeface="Arial"/>
                <a:cs typeface="Arial"/>
              </a:defRPr>
            </a:lvl2pPr>
            <a:lvl3pPr>
              <a:defRPr sz="2025" b="0">
                <a:solidFill>
                  <a:srgbClr val="173C31"/>
                </a:solidFill>
                <a:latin typeface="Arial"/>
                <a:ea typeface="Arial"/>
                <a:cs typeface="Arial"/>
              </a:defRPr>
            </a:lvl3pPr>
            <a:lvl4pPr>
              <a:defRPr sz="2025" b="0">
                <a:solidFill>
                  <a:srgbClr val="173C31"/>
                </a:solidFill>
                <a:latin typeface="Arial"/>
                <a:ea typeface="Arial"/>
                <a:cs typeface="Arial"/>
              </a:defRPr>
            </a:lvl4pPr>
            <a:lvl5pPr>
              <a:defRPr sz="2025" b="0">
                <a:solidFill>
                  <a:srgbClr val="173C31"/>
                </a:solidFill>
                <a:latin typeface="Arial"/>
                <a:ea typeface="Arial"/>
                <a:cs typeface="Arial"/>
              </a:defRPr>
            </a:lvl5pPr>
            <a:lvl6pPr>
              <a:defRPr sz="2025" b="0">
                <a:solidFill>
                  <a:srgbClr val="173C31"/>
                </a:solidFill>
                <a:latin typeface="Arial"/>
                <a:ea typeface="Arial"/>
                <a:cs typeface="Arial"/>
              </a:defRPr>
            </a:lvl6pPr>
            <a:lvl7pPr>
              <a:defRPr sz="2025" b="0">
                <a:solidFill>
                  <a:srgbClr val="173C31"/>
                </a:solidFill>
                <a:latin typeface="Arial"/>
                <a:ea typeface="Arial"/>
                <a:cs typeface="Arial"/>
              </a:defRPr>
            </a:lvl7pPr>
            <a:lvl8pPr>
              <a:defRPr sz="2025" b="0">
                <a:solidFill>
                  <a:srgbClr val="173C31"/>
                </a:solidFill>
                <a:latin typeface="Arial"/>
                <a:ea typeface="Arial"/>
                <a:cs typeface="Arial"/>
              </a:defRPr>
            </a:lvl8pPr>
            <a:lvl9pPr>
              <a:defRPr sz="2025" b="0">
                <a:solidFill>
                  <a:srgbClr val="173C31"/>
                </a:solidFill>
                <a:latin typeface="Arial"/>
                <a:ea typeface="Arial"/>
                <a:cs typeface="Arial"/>
              </a:defRPr>
            </a:lvl9pPr>
          </a:lstStyle>
          <a:p xmlns:a="http://schemas.openxmlformats.org/drawingml/2006/main">
            <a:pPr>
              <a:defRPr sz="2025" b="0">
                <a:solidFill>
                  <a:srgbClr val="173C31"/>
                </a:solidFill>
                <a:latin typeface="Arial"/>
                <a:ea typeface="Arial"/>
                <a:cs typeface="Arial"/>
              </a:defRPr>
            </a:pPr>
            <a:r>
              <a:rPr sz="2025" b="0">
                <a:solidFill>
                  <a:srgbClr val="173C31"/>
                </a:solidFill>
                <a:latin typeface="Arial"/>
                <a:ea typeface="Arial"/>
                <a:cs typeface="Arial"/>
              </a:rPr>
              <a:t>Recent station temperature</a:t>
            </a:r>
          </a:p>
          <a:p xmlns:a="http://schemas.openxmlformats.org/drawingml/2006/main">
            <a:pPr>
              <a:defRPr sz="2025" b="0">
                <a:solidFill>
                  <a:srgbClr val="173C31"/>
                </a:solidFill>
                <a:latin typeface="Arial"/>
                <a:ea typeface="Arial"/>
                <a:cs typeface="Arial"/>
              </a:defRPr>
            </a:pPr>
            <a:r>
              <a:rPr sz="2025" b="0">
                <a:solidFill>
                  <a:srgbClr val="173C31"/>
                </a:solidFill>
                <a:latin typeface="Arial"/>
                <a:ea typeface="Arial"/>
                <a:cs typeface="Arial"/>
              </a:rPr>
              <a:t>JMA weather forecast fields</a:t>
            </a:r>
          </a:p>
          <a:p xmlns:a="http://schemas.openxmlformats.org/drawingml/2006/main">
            <a:pPr>
              <a:defRPr sz="2025" b="0">
                <a:solidFill>
                  <a:srgbClr val="173C31"/>
                </a:solidFill>
                <a:latin typeface="Arial"/>
                <a:ea typeface="Arial"/>
                <a:cs typeface="Arial"/>
              </a:defRPr>
            </a:pPr>
            <a:r>
              <a:rPr sz="2025" b="0">
                <a:solidFill>
                  <a:srgbClr val="173C31"/>
                </a:solidFill>
                <a:latin typeface="Arial"/>
                <a:ea typeface="Arial"/>
                <a:cs typeface="Arial"/>
              </a:rPr>
              <a:t>Station and calendar features</a:t>
            </a:r>
          </a:p>
        </p:txBody>
      </p:sp>
      <p:sp>
        <p:nvSpPr>
          <p:cNvPr id="7" name="">
            <a:extLst xmlns:a="http://schemas.openxmlformats.org/drawingml/2006/main">
              <a:ext uri="{FF2B5EF4-FFF2-40B4-BE49-F238E27FC236}">
                <a16:creationId xmlns:a16="http://schemas.microsoft.com/office/drawing/2014/main" id="{C807047C-8E8F-49C3-895E-320C466B8EA2}"/>
              </a:ext>
            </a:extLst>
          </p:cNvPr>
          <p:cNvSpPr>
            <a:spLocks xmlns:a="http://schemas.openxmlformats.org/drawingml/2006/main" noGrp="1"/>
          </p:cNvSpPr>
          <p:nvPr/>
        </p:nvSpPr>
        <p:spPr>
          <a:xfrm xmlns:a="http://schemas.openxmlformats.org/drawingml/2006/main">
            <a:off x="8153400" y="4505325"/>
            <a:ext cx="3429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1">
                <a:solidFill>
                  <a:srgbClr val="173C31"/>
                </a:solidFill>
                <a:latin typeface="Arial"/>
                <a:ea typeface="Arial"/>
                <a:cs typeface="Arial"/>
              </a:defRPr>
            </a:defPPr>
            <a:lvl1pPr>
              <a:defRPr sz="2100" b="1">
                <a:solidFill>
                  <a:srgbClr val="173C31"/>
                </a:solidFill>
                <a:latin typeface="Arial"/>
                <a:ea typeface="Arial"/>
                <a:cs typeface="Arial"/>
              </a:defRPr>
            </a:lvl1pPr>
            <a:lvl2pPr>
              <a:defRPr sz="2100" b="1">
                <a:solidFill>
                  <a:srgbClr val="173C31"/>
                </a:solidFill>
                <a:latin typeface="Arial"/>
                <a:ea typeface="Arial"/>
                <a:cs typeface="Arial"/>
              </a:defRPr>
            </a:lvl2pPr>
            <a:lvl3pPr>
              <a:defRPr sz="2100" b="1">
                <a:solidFill>
                  <a:srgbClr val="173C31"/>
                </a:solidFill>
                <a:latin typeface="Arial"/>
                <a:ea typeface="Arial"/>
                <a:cs typeface="Arial"/>
              </a:defRPr>
            </a:lvl3pPr>
            <a:lvl4pPr>
              <a:defRPr sz="2100" b="1">
                <a:solidFill>
                  <a:srgbClr val="173C31"/>
                </a:solidFill>
                <a:latin typeface="Arial"/>
                <a:ea typeface="Arial"/>
                <a:cs typeface="Arial"/>
              </a:defRPr>
            </a:lvl4pPr>
            <a:lvl5pPr>
              <a:defRPr sz="2100" b="1">
                <a:solidFill>
                  <a:srgbClr val="173C31"/>
                </a:solidFill>
                <a:latin typeface="Arial"/>
                <a:ea typeface="Arial"/>
                <a:cs typeface="Arial"/>
              </a:defRPr>
            </a:lvl5pPr>
            <a:lvl6pPr>
              <a:defRPr sz="2100" b="1">
                <a:solidFill>
                  <a:srgbClr val="173C31"/>
                </a:solidFill>
                <a:latin typeface="Arial"/>
                <a:ea typeface="Arial"/>
                <a:cs typeface="Arial"/>
              </a:defRPr>
            </a:lvl6pPr>
            <a:lvl7pPr>
              <a:defRPr sz="2100" b="1">
                <a:solidFill>
                  <a:srgbClr val="173C31"/>
                </a:solidFill>
                <a:latin typeface="Arial"/>
                <a:ea typeface="Arial"/>
                <a:cs typeface="Arial"/>
              </a:defRPr>
            </a:lvl7pPr>
            <a:lvl8pPr>
              <a:defRPr sz="2100" b="1">
                <a:solidFill>
                  <a:srgbClr val="173C31"/>
                </a:solidFill>
                <a:latin typeface="Arial"/>
                <a:ea typeface="Arial"/>
                <a:cs typeface="Arial"/>
              </a:defRPr>
            </a:lvl8pPr>
            <a:lvl9pPr>
              <a:defRPr sz="2100" b="1">
                <a:solidFill>
                  <a:srgbClr val="173C31"/>
                </a:solidFill>
                <a:latin typeface="Arial"/>
                <a:ea typeface="Arial"/>
                <a:cs typeface="Arial"/>
              </a:defRPr>
            </a:lvl9pPr>
          </a:lstStyle>
          <a:p xmlns:a="http://schemas.openxmlformats.org/drawingml/2006/main">
            <a:pPr>
              <a:defRPr sz="2100" b="1">
                <a:solidFill>
                  <a:srgbClr val="173C31"/>
                </a:solidFill>
                <a:latin typeface="Arial"/>
                <a:ea typeface="Arial"/>
                <a:cs typeface="Arial"/>
              </a:defRPr>
            </a:pPr>
            <a:r>
              <a:rPr sz="2100" b="1">
                <a:solidFill>
                  <a:srgbClr val="173C31"/>
                </a:solidFill>
                <a:latin typeface="Arial"/>
                <a:ea typeface="Arial"/>
                <a:cs typeface="Arial"/>
              </a:rPr>
              <a:t>Output</a:t>
            </a:r>
          </a:p>
          <a:p xmlns:a="http://schemas.openxmlformats.org/drawingml/2006/main">
            <a:pPr>
              <a:defRPr sz="2100" b="1">
                <a:solidFill>
                  <a:srgbClr val="173C31"/>
                </a:solidFill>
                <a:latin typeface="Arial"/>
                <a:ea typeface="Arial"/>
                <a:cs typeface="Arial"/>
              </a:defRPr>
            </a:pPr>
            <a:r>
              <a:rPr sz="2100" b="1">
                <a:solidFill>
                  <a:srgbClr val="173C31"/>
                </a:solidFill>
                <a:latin typeface="Arial"/>
                <a:ea typeface="Arial"/>
                <a:cs typeface="Arial"/>
              </a:rPr>
              <a:t>Station temperature</a:t>
            </a:r>
          </a:p>
          <a:p xmlns:a="http://schemas.openxmlformats.org/drawingml/2006/main">
            <a:pPr>
              <a:defRPr sz="2100" b="1">
                <a:solidFill>
                  <a:srgbClr val="173C31"/>
                </a:solidFill>
                <a:latin typeface="Arial"/>
                <a:ea typeface="Arial"/>
                <a:cs typeface="Arial"/>
              </a:defRPr>
            </a:pPr>
            <a:r>
              <a:rPr sz="2100" b="1">
                <a:solidFill>
                  <a:srgbClr val="173C31"/>
                </a:solidFill>
                <a:latin typeface="Arial"/>
                <a:ea typeface="Arial"/>
                <a:cs typeface="Arial"/>
              </a:rPr>
              <a:t>24 hours later</a:t>
            </a:r>
          </a:p>
        </p:txBody>
      </p:sp>
      <p:sp>
        <p:nvSpPr>
          <p:cNvPr id="8" name="">
            <a:extLst xmlns:a="http://schemas.openxmlformats.org/drawingml/2006/main">
              <a:ext uri="{FF2B5EF4-FFF2-40B4-BE49-F238E27FC236}">
                <a16:creationId xmlns:a16="http://schemas.microsoft.com/office/drawing/2014/main" id="{D02F2DBA-CF3E-4274-9395-1B57D249A50C}"/>
              </a:ext>
            </a:extLst>
          </p:cNvPr>
          <p:cNvSpPr>
            <a:spLocks xmlns:a="http://schemas.openxmlformats.org/drawingml/2006/main" noGrp="1"/>
          </p:cNvSpPr>
          <p:nvPr/>
        </p:nvSpPr>
        <p:spPr>
          <a:xfrm xmlns:a="http://schemas.openxmlformats.org/drawingml/2006/main">
            <a:off x="609600" y="5867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27064"/>
                </a:solidFill>
                <a:latin typeface="Arial"/>
                <a:ea typeface="Arial"/>
                <a:cs typeface="Arial"/>
              </a:defRPr>
            </a:defPPr>
            <a:lvl1pPr>
              <a:defRPr sz="1725" b="0">
                <a:solidFill>
                  <a:srgbClr val="527064"/>
                </a:solidFill>
                <a:latin typeface="Arial"/>
                <a:ea typeface="Arial"/>
                <a:cs typeface="Arial"/>
              </a:defRPr>
            </a:lvl1pPr>
            <a:lvl2pPr>
              <a:defRPr sz="1725" b="0">
                <a:solidFill>
                  <a:srgbClr val="527064"/>
                </a:solidFill>
                <a:latin typeface="Arial"/>
                <a:ea typeface="Arial"/>
                <a:cs typeface="Arial"/>
              </a:defRPr>
            </a:lvl2pPr>
            <a:lvl3pPr>
              <a:defRPr sz="1725" b="0">
                <a:solidFill>
                  <a:srgbClr val="527064"/>
                </a:solidFill>
                <a:latin typeface="Arial"/>
                <a:ea typeface="Arial"/>
                <a:cs typeface="Arial"/>
              </a:defRPr>
            </a:lvl3pPr>
            <a:lvl4pPr>
              <a:defRPr sz="1725" b="0">
                <a:solidFill>
                  <a:srgbClr val="527064"/>
                </a:solidFill>
                <a:latin typeface="Arial"/>
                <a:ea typeface="Arial"/>
                <a:cs typeface="Arial"/>
              </a:defRPr>
            </a:lvl4pPr>
            <a:lvl5pPr>
              <a:defRPr sz="1725" b="0">
                <a:solidFill>
                  <a:srgbClr val="527064"/>
                </a:solidFill>
                <a:latin typeface="Arial"/>
                <a:ea typeface="Arial"/>
                <a:cs typeface="Arial"/>
              </a:defRPr>
            </a:lvl5pPr>
            <a:lvl6pPr>
              <a:defRPr sz="1725" b="0">
                <a:solidFill>
                  <a:srgbClr val="527064"/>
                </a:solidFill>
                <a:latin typeface="Arial"/>
                <a:ea typeface="Arial"/>
                <a:cs typeface="Arial"/>
              </a:defRPr>
            </a:lvl6pPr>
            <a:lvl7pPr>
              <a:defRPr sz="1725" b="0">
                <a:solidFill>
                  <a:srgbClr val="527064"/>
                </a:solidFill>
                <a:latin typeface="Arial"/>
                <a:ea typeface="Arial"/>
                <a:cs typeface="Arial"/>
              </a:defRPr>
            </a:lvl7pPr>
            <a:lvl8pPr>
              <a:defRPr sz="1725" b="0">
                <a:solidFill>
                  <a:srgbClr val="527064"/>
                </a:solidFill>
                <a:latin typeface="Arial"/>
                <a:ea typeface="Arial"/>
                <a:cs typeface="Arial"/>
              </a:defRPr>
            </a:lvl8pPr>
            <a:lvl9pPr>
              <a:defRPr sz="1725" b="0">
                <a:solidFill>
                  <a:srgbClr val="527064"/>
                </a:solidFill>
                <a:latin typeface="Arial"/>
                <a:ea typeface="Arial"/>
                <a:cs typeface="Arial"/>
              </a:defRPr>
            </a:lvl9pPr>
          </a:lstStyle>
          <a:p xmlns:a="http://schemas.openxmlformats.org/drawingml/2006/main">
            <a:pPr>
              <a:defRPr sz="1725" b="0">
                <a:solidFill>
                  <a:srgbClr val="527064"/>
                </a:solidFill>
                <a:latin typeface="Arial"/>
                <a:ea typeface="Arial"/>
                <a:cs typeface="Arial"/>
              </a:defRPr>
            </a:pPr>
            <a:r>
              <a:rPr sz="1725" b="0">
                <a:solidFill>
                  <a:srgbClr val="527064"/>
                </a:solidFill>
                <a:latin typeface="Arial"/>
                <a:ea typeface="Arial"/>
                <a:cs typeface="Arial"/>
              </a:rPr>
              <a:t>Example captured on 21 October 2026. The model does not retrain on each request.</a:t>
            </a:r>
          </a:p>
        </p:txBody>
      </p:sp>
      <p:pic>
        <p:nvPicPr>
          <p:cNvPr id="9" name="">
            <a:extLst xmlns:a="http://schemas.openxmlformats.org/drawingml/2006/main">
              <a:ext uri="{FF2B5EF4-FFF2-40B4-BE49-F238E27FC236}">
                <a16:creationId xmlns:a16="http://schemas.microsoft.com/office/drawing/2014/main" id="{FD0DD832-8F7D-45D8-B629-02EC7839DFAB}"/>
              </a:ext>
            </a:extLst>
          </p:cNvPr>
          <p:cNvPicPr>
            <a:picLocks xmlns:a="http://schemas.openxmlformats.org/drawingml/2006/main" noChangeAspect="1"/>
          </p:cNvPicPr>
          <p:nvPr/>
        </p:nvPicPr>
        <p:blipFill>
          <a:blip xmlns:r="http://schemas.openxmlformats.org/officeDocument/2006/relationships" xmlns:a="http://schemas.openxmlformats.org/drawingml/2006/main" r:embed="R55ef4e5d3f2344c0"/>
          <a:stretch xmlns:a="http://schemas.openxmlformats.org/drawingml/2006/main"/>
        </p:blipFill>
        <p:spPr>
          <a:xfrm xmlns:a="http://schemas.openxmlformats.org/drawingml/2006/main">
            <a:off x="611801" y="1590675"/>
            <a:ext cx="7158399" cy="4029075"/>
          </a:xfrm>
          <a:prstGeom xmlns:a="http://schemas.openxmlformats.org/drawingml/2006/main" prst="rect">
            <a:avLst/>
          </a:prstGeom>
        </p:spPr>
      </p:pic>
    </p:spTree>
    <p:extLst>
      <p:ext uri="{BB962C8B-B14F-4D97-AF65-F5344CB8AC3E}">
        <p14:creationId xmlns:p14="http://schemas.microsoft.com/office/powerpoint/2010/main" val="425114348"/>
      </p:ext>
    </p:extLst>
  </p:cSld>
</p:sld>
</file>

<file path=ppt/slides/slide5.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8D1A993-DCAB-4A74-8E86-FB38F5106F0A}"/>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C31"/>
                </a:solidFill>
                <a:latin typeface="Arial"/>
                <a:ea typeface="Arial"/>
                <a:cs typeface="Arial"/>
              </a:defRPr>
            </a:defPPr>
            <a:lvl1pPr>
              <a:defRPr sz="3450" b="1">
                <a:solidFill>
                  <a:srgbClr val="173C31"/>
                </a:solidFill>
                <a:latin typeface="Arial"/>
                <a:ea typeface="Arial"/>
                <a:cs typeface="Arial"/>
              </a:defRPr>
            </a:lvl1pPr>
            <a:lvl2pPr>
              <a:defRPr sz="3450" b="1">
                <a:solidFill>
                  <a:srgbClr val="173C31"/>
                </a:solidFill>
                <a:latin typeface="Arial"/>
                <a:ea typeface="Arial"/>
                <a:cs typeface="Arial"/>
              </a:defRPr>
            </a:lvl2pPr>
            <a:lvl3pPr>
              <a:defRPr sz="3450" b="1">
                <a:solidFill>
                  <a:srgbClr val="173C31"/>
                </a:solidFill>
                <a:latin typeface="Arial"/>
                <a:ea typeface="Arial"/>
                <a:cs typeface="Arial"/>
              </a:defRPr>
            </a:lvl3pPr>
            <a:lvl4pPr>
              <a:defRPr sz="3450" b="1">
                <a:solidFill>
                  <a:srgbClr val="173C31"/>
                </a:solidFill>
                <a:latin typeface="Arial"/>
                <a:ea typeface="Arial"/>
                <a:cs typeface="Arial"/>
              </a:defRPr>
            </a:lvl4pPr>
            <a:lvl5pPr>
              <a:defRPr sz="3450" b="1">
                <a:solidFill>
                  <a:srgbClr val="173C31"/>
                </a:solidFill>
                <a:latin typeface="Arial"/>
                <a:ea typeface="Arial"/>
                <a:cs typeface="Arial"/>
              </a:defRPr>
            </a:lvl5pPr>
            <a:lvl6pPr>
              <a:defRPr sz="3450" b="1">
                <a:solidFill>
                  <a:srgbClr val="173C31"/>
                </a:solidFill>
                <a:latin typeface="Arial"/>
                <a:ea typeface="Arial"/>
                <a:cs typeface="Arial"/>
              </a:defRPr>
            </a:lvl6pPr>
            <a:lvl7pPr>
              <a:defRPr sz="3450" b="1">
                <a:solidFill>
                  <a:srgbClr val="173C31"/>
                </a:solidFill>
                <a:latin typeface="Arial"/>
                <a:ea typeface="Arial"/>
                <a:cs typeface="Arial"/>
              </a:defRPr>
            </a:lvl7pPr>
            <a:lvl8pPr>
              <a:defRPr sz="3450" b="1">
                <a:solidFill>
                  <a:srgbClr val="173C31"/>
                </a:solidFill>
                <a:latin typeface="Arial"/>
                <a:ea typeface="Arial"/>
                <a:cs typeface="Arial"/>
              </a:defRPr>
            </a:lvl8pPr>
            <a:lvl9pPr>
              <a:defRPr sz="3450" b="1">
                <a:solidFill>
                  <a:srgbClr val="173C31"/>
                </a:solidFill>
                <a:latin typeface="Arial"/>
                <a:ea typeface="Arial"/>
                <a:cs typeface="Arial"/>
              </a:defRPr>
            </a:lvl9pPr>
          </a:lstStyle>
          <a:p xmlns:a="http://schemas.openxmlformats.org/drawingml/2006/main">
            <a:pPr>
              <a:defRPr sz="3450" b="1">
                <a:solidFill>
                  <a:srgbClr val="173C31"/>
                </a:solidFill>
                <a:latin typeface="Arial"/>
                <a:ea typeface="Arial"/>
                <a:cs typeface="Arial"/>
              </a:defRPr>
            </a:pPr>
            <a:r>
              <a:rPr sz="3450" b="1">
                <a:solidFill>
                  <a:srgbClr val="173C31"/>
                </a:solidFill>
                <a:latin typeface="Arial"/>
                <a:ea typeface="Arial"/>
                <a:cs typeface="Arial"/>
              </a:rPr>
              <a:t>Mateen’s two agents</a:t>
            </a:r>
          </a:p>
        </p:txBody>
      </p:sp>
      <p:sp>
        <p:nvSpPr>
          <p:cNvPr id="3" name="">
            <a:extLst xmlns:a="http://schemas.openxmlformats.org/drawingml/2006/main">
              <a:ext uri="{FF2B5EF4-FFF2-40B4-BE49-F238E27FC236}">
                <a16:creationId xmlns:a16="http://schemas.microsoft.com/office/drawing/2014/main" id="{D09BF42E-1FEB-4F1D-8437-47ADB103C6A5}"/>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HeatShift  /  HackInsight 26</a:t>
            </a:r>
          </a:p>
        </p:txBody>
      </p:sp>
      <p:sp>
        <p:nvSpPr>
          <p:cNvPr id="4" name="">
            <a:extLst xmlns:a="http://schemas.openxmlformats.org/drawingml/2006/main">
              <a:ext uri="{FF2B5EF4-FFF2-40B4-BE49-F238E27FC236}">
                <a16:creationId xmlns:a16="http://schemas.microsoft.com/office/drawing/2014/main" id="{C0DD94FE-172F-4F5D-AD1E-96117585EA60}"/>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0936E96-476E-4365-AFA1-50F47A66F541}"/>
              </a:ext>
            </a:extLst>
          </p:cNvPr>
          <p:cNvSpPr>
            <a:spLocks xmlns:a="http://schemas.openxmlformats.org/drawingml/2006/main" noGrp="1"/>
          </p:cNvSpPr>
          <p:nvPr/>
        </p:nvSpPr>
        <p:spPr>
          <a:xfrm xmlns:a="http://schemas.openxmlformats.org/drawingml/2006/main">
            <a:off x="609600" y="16002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43D33"/>
                </a:solidFill>
                <a:latin typeface="Arial"/>
                <a:ea typeface="Arial"/>
                <a:cs typeface="Arial"/>
              </a:defRPr>
            </a:defPPr>
            <a:lvl1pPr>
              <a:defRPr sz="2400" b="1">
                <a:solidFill>
                  <a:srgbClr val="143D33"/>
                </a:solidFill>
                <a:latin typeface="Arial"/>
                <a:ea typeface="Arial"/>
                <a:cs typeface="Arial"/>
              </a:defRPr>
            </a:lvl1pPr>
            <a:lvl2pPr>
              <a:defRPr sz="2400" b="1">
                <a:solidFill>
                  <a:srgbClr val="143D33"/>
                </a:solidFill>
                <a:latin typeface="Arial"/>
                <a:ea typeface="Arial"/>
                <a:cs typeface="Arial"/>
              </a:defRPr>
            </a:lvl2pPr>
            <a:lvl3pPr>
              <a:defRPr sz="2400" b="1">
                <a:solidFill>
                  <a:srgbClr val="143D33"/>
                </a:solidFill>
                <a:latin typeface="Arial"/>
                <a:ea typeface="Arial"/>
                <a:cs typeface="Arial"/>
              </a:defRPr>
            </a:lvl3pPr>
            <a:lvl4pPr>
              <a:defRPr sz="2400" b="1">
                <a:solidFill>
                  <a:srgbClr val="143D33"/>
                </a:solidFill>
                <a:latin typeface="Arial"/>
                <a:ea typeface="Arial"/>
                <a:cs typeface="Arial"/>
              </a:defRPr>
            </a:lvl4pPr>
            <a:lvl5pPr>
              <a:defRPr sz="2400" b="1">
                <a:solidFill>
                  <a:srgbClr val="143D33"/>
                </a:solidFill>
                <a:latin typeface="Arial"/>
                <a:ea typeface="Arial"/>
                <a:cs typeface="Arial"/>
              </a:defRPr>
            </a:lvl5pPr>
            <a:lvl6pPr>
              <a:defRPr sz="2400" b="1">
                <a:solidFill>
                  <a:srgbClr val="143D33"/>
                </a:solidFill>
                <a:latin typeface="Arial"/>
                <a:ea typeface="Arial"/>
                <a:cs typeface="Arial"/>
              </a:defRPr>
            </a:lvl6pPr>
            <a:lvl7pPr>
              <a:defRPr sz="2400" b="1">
                <a:solidFill>
                  <a:srgbClr val="143D33"/>
                </a:solidFill>
                <a:latin typeface="Arial"/>
                <a:ea typeface="Arial"/>
                <a:cs typeface="Arial"/>
              </a:defRPr>
            </a:lvl7pPr>
            <a:lvl8pPr>
              <a:defRPr sz="2400" b="1">
                <a:solidFill>
                  <a:srgbClr val="143D33"/>
                </a:solidFill>
                <a:latin typeface="Arial"/>
                <a:ea typeface="Arial"/>
                <a:cs typeface="Arial"/>
              </a:defRPr>
            </a:lvl8pPr>
            <a:lvl9pPr>
              <a:defRPr sz="2400" b="1">
                <a:solidFill>
                  <a:srgbClr val="143D33"/>
                </a:solidFill>
                <a:latin typeface="Arial"/>
                <a:ea typeface="Arial"/>
                <a:cs typeface="Arial"/>
              </a:defRPr>
            </a:lvl9pPr>
          </a:lstStyle>
          <a:p xmlns:a="http://schemas.openxmlformats.org/drawingml/2006/main">
            <a:pPr>
              <a:defRPr sz="2400" b="1">
                <a:solidFill>
                  <a:srgbClr val="143D33"/>
                </a:solidFill>
                <a:latin typeface="Arial"/>
                <a:ea typeface="Arial"/>
                <a:cs typeface="Arial"/>
              </a:defRPr>
            </a:pPr>
            <a:r>
              <a:rPr sz="2400" b="1">
                <a:solidFill>
                  <a:srgbClr val="143D33"/>
                </a:solidFill>
                <a:latin typeface="Arial"/>
                <a:ea typeface="Arial"/>
                <a:cs typeface="Arial"/>
              </a:rPr>
              <a:t>Data Quality Agent</a:t>
            </a:r>
          </a:p>
        </p:txBody>
      </p:sp>
      <p:sp>
        <p:nvSpPr>
          <p:cNvPr id="6" name="">
            <a:extLst xmlns:a="http://schemas.openxmlformats.org/drawingml/2006/main">
              <a:ext uri="{FF2B5EF4-FFF2-40B4-BE49-F238E27FC236}">
                <a16:creationId xmlns:a16="http://schemas.microsoft.com/office/drawing/2014/main" id="{95C9CB78-854E-4C8E-8EB5-53F2FD3F40C7}"/>
              </a:ext>
            </a:extLst>
          </p:cNvPr>
          <p:cNvSpPr>
            <a:spLocks xmlns:a="http://schemas.openxmlformats.org/drawingml/2006/main" noGrp="1"/>
          </p:cNvSpPr>
          <p:nvPr/>
        </p:nvSpPr>
        <p:spPr>
          <a:xfrm xmlns:a="http://schemas.openxmlformats.org/drawingml/2006/main">
            <a:off x="6343650" y="16002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43D33"/>
                </a:solidFill>
                <a:latin typeface="Arial"/>
                <a:ea typeface="Arial"/>
                <a:cs typeface="Arial"/>
              </a:defRPr>
            </a:defPPr>
            <a:lvl1pPr>
              <a:defRPr sz="2400" b="1">
                <a:solidFill>
                  <a:srgbClr val="143D33"/>
                </a:solidFill>
                <a:latin typeface="Arial"/>
                <a:ea typeface="Arial"/>
                <a:cs typeface="Arial"/>
              </a:defRPr>
            </a:lvl1pPr>
            <a:lvl2pPr>
              <a:defRPr sz="2400" b="1">
                <a:solidFill>
                  <a:srgbClr val="143D33"/>
                </a:solidFill>
                <a:latin typeface="Arial"/>
                <a:ea typeface="Arial"/>
                <a:cs typeface="Arial"/>
              </a:defRPr>
            </a:lvl2pPr>
            <a:lvl3pPr>
              <a:defRPr sz="2400" b="1">
                <a:solidFill>
                  <a:srgbClr val="143D33"/>
                </a:solidFill>
                <a:latin typeface="Arial"/>
                <a:ea typeface="Arial"/>
                <a:cs typeface="Arial"/>
              </a:defRPr>
            </a:lvl3pPr>
            <a:lvl4pPr>
              <a:defRPr sz="2400" b="1">
                <a:solidFill>
                  <a:srgbClr val="143D33"/>
                </a:solidFill>
                <a:latin typeface="Arial"/>
                <a:ea typeface="Arial"/>
                <a:cs typeface="Arial"/>
              </a:defRPr>
            </a:lvl4pPr>
            <a:lvl5pPr>
              <a:defRPr sz="2400" b="1">
                <a:solidFill>
                  <a:srgbClr val="143D33"/>
                </a:solidFill>
                <a:latin typeface="Arial"/>
                <a:ea typeface="Arial"/>
                <a:cs typeface="Arial"/>
              </a:defRPr>
            </a:lvl5pPr>
            <a:lvl6pPr>
              <a:defRPr sz="2400" b="1">
                <a:solidFill>
                  <a:srgbClr val="143D33"/>
                </a:solidFill>
                <a:latin typeface="Arial"/>
                <a:ea typeface="Arial"/>
                <a:cs typeface="Arial"/>
              </a:defRPr>
            </a:lvl6pPr>
            <a:lvl7pPr>
              <a:defRPr sz="2400" b="1">
                <a:solidFill>
                  <a:srgbClr val="143D33"/>
                </a:solidFill>
                <a:latin typeface="Arial"/>
                <a:ea typeface="Arial"/>
                <a:cs typeface="Arial"/>
              </a:defRPr>
            </a:lvl7pPr>
            <a:lvl8pPr>
              <a:defRPr sz="2400" b="1">
                <a:solidFill>
                  <a:srgbClr val="143D33"/>
                </a:solidFill>
                <a:latin typeface="Arial"/>
                <a:ea typeface="Arial"/>
                <a:cs typeface="Arial"/>
              </a:defRPr>
            </a:lvl8pPr>
            <a:lvl9pPr>
              <a:defRPr sz="2400" b="1">
                <a:solidFill>
                  <a:srgbClr val="143D33"/>
                </a:solidFill>
                <a:latin typeface="Arial"/>
                <a:ea typeface="Arial"/>
                <a:cs typeface="Arial"/>
              </a:defRPr>
            </a:lvl9pPr>
          </a:lstStyle>
          <a:p xmlns:a="http://schemas.openxmlformats.org/drawingml/2006/main">
            <a:pPr>
              <a:defRPr sz="2400" b="1">
                <a:solidFill>
                  <a:srgbClr val="143D33"/>
                </a:solidFill>
                <a:latin typeface="Arial"/>
                <a:ea typeface="Arial"/>
                <a:cs typeface="Arial"/>
              </a:defRPr>
            </a:pPr>
            <a:r>
              <a:rPr sz="2400" b="1">
                <a:solidFill>
                  <a:srgbClr val="143D33"/>
                </a:solidFill>
                <a:latin typeface="Arial"/>
                <a:ea typeface="Arial"/>
                <a:cs typeface="Arial"/>
              </a:rPr>
              <a:t>Insight Agent</a:t>
            </a:r>
          </a:p>
        </p:txBody>
      </p:sp>
      <p:sp>
        <p:nvSpPr>
          <p:cNvPr id="7" name="">
            <a:extLst xmlns:a="http://schemas.openxmlformats.org/drawingml/2006/main">
              <a:ext uri="{FF2B5EF4-FFF2-40B4-BE49-F238E27FC236}">
                <a16:creationId xmlns:a16="http://schemas.microsoft.com/office/drawing/2014/main" id="{CAB0CE6F-372F-4822-BAFB-33EC986A9C89}"/>
              </a:ext>
            </a:extLst>
          </p:cNvPr>
          <p:cNvSpPr>
            <a:spLocks xmlns:a="http://schemas.openxmlformats.org/drawingml/2006/main" noGrp="1"/>
          </p:cNvSpPr>
          <p:nvPr/>
        </p:nvSpPr>
        <p:spPr>
          <a:xfrm xmlns:a="http://schemas.openxmlformats.org/drawingml/2006/main">
            <a:off x="609600" y="5334000"/>
            <a:ext cx="523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3C31"/>
                </a:solidFill>
                <a:latin typeface="Arial"/>
                <a:ea typeface="Arial"/>
                <a:cs typeface="Arial"/>
              </a:defRPr>
            </a:defPPr>
            <a:lvl1pPr>
              <a:defRPr sz="2025" b="0">
                <a:solidFill>
                  <a:srgbClr val="173C31"/>
                </a:solidFill>
                <a:latin typeface="Arial"/>
                <a:ea typeface="Arial"/>
                <a:cs typeface="Arial"/>
              </a:defRPr>
            </a:lvl1pPr>
            <a:lvl2pPr>
              <a:defRPr sz="2025" b="0">
                <a:solidFill>
                  <a:srgbClr val="173C31"/>
                </a:solidFill>
                <a:latin typeface="Arial"/>
                <a:ea typeface="Arial"/>
                <a:cs typeface="Arial"/>
              </a:defRPr>
            </a:lvl2pPr>
            <a:lvl3pPr>
              <a:defRPr sz="2025" b="0">
                <a:solidFill>
                  <a:srgbClr val="173C31"/>
                </a:solidFill>
                <a:latin typeface="Arial"/>
                <a:ea typeface="Arial"/>
                <a:cs typeface="Arial"/>
              </a:defRPr>
            </a:lvl3pPr>
            <a:lvl4pPr>
              <a:defRPr sz="2025" b="0">
                <a:solidFill>
                  <a:srgbClr val="173C31"/>
                </a:solidFill>
                <a:latin typeface="Arial"/>
                <a:ea typeface="Arial"/>
                <a:cs typeface="Arial"/>
              </a:defRPr>
            </a:lvl4pPr>
            <a:lvl5pPr>
              <a:defRPr sz="2025" b="0">
                <a:solidFill>
                  <a:srgbClr val="173C31"/>
                </a:solidFill>
                <a:latin typeface="Arial"/>
                <a:ea typeface="Arial"/>
                <a:cs typeface="Arial"/>
              </a:defRPr>
            </a:lvl5pPr>
            <a:lvl6pPr>
              <a:defRPr sz="2025" b="0">
                <a:solidFill>
                  <a:srgbClr val="173C31"/>
                </a:solidFill>
                <a:latin typeface="Arial"/>
                <a:ea typeface="Arial"/>
                <a:cs typeface="Arial"/>
              </a:defRPr>
            </a:lvl6pPr>
            <a:lvl7pPr>
              <a:defRPr sz="2025" b="0">
                <a:solidFill>
                  <a:srgbClr val="173C31"/>
                </a:solidFill>
                <a:latin typeface="Arial"/>
                <a:ea typeface="Arial"/>
                <a:cs typeface="Arial"/>
              </a:defRPr>
            </a:lvl7pPr>
            <a:lvl8pPr>
              <a:defRPr sz="2025" b="0">
                <a:solidFill>
                  <a:srgbClr val="173C31"/>
                </a:solidFill>
                <a:latin typeface="Arial"/>
                <a:ea typeface="Arial"/>
                <a:cs typeface="Arial"/>
              </a:defRPr>
            </a:lvl8pPr>
            <a:lvl9pPr>
              <a:defRPr sz="2025" b="0">
                <a:solidFill>
                  <a:srgbClr val="173C31"/>
                </a:solidFill>
                <a:latin typeface="Arial"/>
                <a:ea typeface="Arial"/>
                <a:cs typeface="Arial"/>
              </a:defRPr>
            </a:lvl9pPr>
          </a:lstStyle>
          <a:p xmlns:a="http://schemas.openxmlformats.org/drawingml/2006/main">
            <a:pPr>
              <a:defRPr sz="2025" b="0">
                <a:solidFill>
                  <a:srgbClr val="173C31"/>
                </a:solidFill>
                <a:latin typeface="Arial"/>
                <a:ea typeface="Arial"/>
                <a:cs typeface="Arial"/>
              </a:defRPr>
            </a:pPr>
            <a:r>
              <a:rPr sz="2025" b="0">
                <a:solidFill>
                  <a:srgbClr val="173C31"/>
                </a:solidFill>
                <a:latin typeface="Arial"/>
                <a:ea typeface="Arial"/>
                <a:cs typeface="Arial"/>
              </a:rPr>
              <a:t>Removes duplicates, fills small gaps</a:t>
            </a:r>
          </a:p>
          <a:p xmlns:a="http://schemas.openxmlformats.org/drawingml/2006/main">
            <a:pPr>
              <a:defRPr sz="2025" b="0">
                <a:solidFill>
                  <a:srgbClr val="173C31"/>
                </a:solidFill>
                <a:latin typeface="Arial"/>
                <a:ea typeface="Arial"/>
                <a:cs typeface="Arial"/>
              </a:defRPr>
            </a:pPr>
            <a:r>
              <a:rPr sz="2025" b="0">
                <a:solidFill>
                  <a:srgbClr val="173C31"/>
                </a:solidFill>
                <a:latin typeface="Arial"/>
                <a:ea typeface="Arial"/>
                <a:cs typeface="Arial"/>
              </a:rPr>
              <a:t>and flags suspect values with a log</a:t>
            </a:r>
          </a:p>
        </p:txBody>
      </p:sp>
      <p:sp>
        <p:nvSpPr>
          <p:cNvPr id="8" name="">
            <a:extLst xmlns:a="http://schemas.openxmlformats.org/drawingml/2006/main">
              <a:ext uri="{FF2B5EF4-FFF2-40B4-BE49-F238E27FC236}">
                <a16:creationId xmlns:a16="http://schemas.microsoft.com/office/drawing/2014/main" id="{635E9E2F-BDC3-43BD-8931-9B6B5922AEA0}"/>
              </a:ext>
            </a:extLst>
          </p:cNvPr>
          <p:cNvSpPr>
            <a:spLocks xmlns:a="http://schemas.openxmlformats.org/drawingml/2006/main" noGrp="1"/>
          </p:cNvSpPr>
          <p:nvPr/>
        </p:nvSpPr>
        <p:spPr>
          <a:xfrm xmlns:a="http://schemas.openxmlformats.org/drawingml/2006/main">
            <a:off x="6343650" y="5334000"/>
            <a:ext cx="523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3C31"/>
                </a:solidFill>
                <a:latin typeface="Arial"/>
                <a:ea typeface="Arial"/>
                <a:cs typeface="Arial"/>
              </a:defRPr>
            </a:defPPr>
            <a:lvl1pPr>
              <a:defRPr sz="2025" b="0">
                <a:solidFill>
                  <a:srgbClr val="173C31"/>
                </a:solidFill>
                <a:latin typeface="Arial"/>
                <a:ea typeface="Arial"/>
                <a:cs typeface="Arial"/>
              </a:defRPr>
            </a:lvl1pPr>
            <a:lvl2pPr>
              <a:defRPr sz="2025" b="0">
                <a:solidFill>
                  <a:srgbClr val="173C31"/>
                </a:solidFill>
                <a:latin typeface="Arial"/>
                <a:ea typeface="Arial"/>
                <a:cs typeface="Arial"/>
              </a:defRPr>
            </a:lvl2pPr>
            <a:lvl3pPr>
              <a:defRPr sz="2025" b="0">
                <a:solidFill>
                  <a:srgbClr val="173C31"/>
                </a:solidFill>
                <a:latin typeface="Arial"/>
                <a:ea typeface="Arial"/>
                <a:cs typeface="Arial"/>
              </a:defRPr>
            </a:lvl3pPr>
            <a:lvl4pPr>
              <a:defRPr sz="2025" b="0">
                <a:solidFill>
                  <a:srgbClr val="173C31"/>
                </a:solidFill>
                <a:latin typeface="Arial"/>
                <a:ea typeface="Arial"/>
                <a:cs typeface="Arial"/>
              </a:defRPr>
            </a:lvl4pPr>
            <a:lvl5pPr>
              <a:defRPr sz="2025" b="0">
                <a:solidFill>
                  <a:srgbClr val="173C31"/>
                </a:solidFill>
                <a:latin typeface="Arial"/>
                <a:ea typeface="Arial"/>
                <a:cs typeface="Arial"/>
              </a:defRPr>
            </a:lvl5pPr>
            <a:lvl6pPr>
              <a:defRPr sz="2025" b="0">
                <a:solidFill>
                  <a:srgbClr val="173C31"/>
                </a:solidFill>
                <a:latin typeface="Arial"/>
                <a:ea typeface="Arial"/>
                <a:cs typeface="Arial"/>
              </a:defRPr>
            </a:lvl6pPr>
            <a:lvl7pPr>
              <a:defRPr sz="2025" b="0">
                <a:solidFill>
                  <a:srgbClr val="173C31"/>
                </a:solidFill>
                <a:latin typeface="Arial"/>
                <a:ea typeface="Arial"/>
                <a:cs typeface="Arial"/>
              </a:defRPr>
            </a:lvl7pPr>
            <a:lvl8pPr>
              <a:defRPr sz="2025" b="0">
                <a:solidFill>
                  <a:srgbClr val="173C31"/>
                </a:solidFill>
                <a:latin typeface="Arial"/>
                <a:ea typeface="Arial"/>
                <a:cs typeface="Arial"/>
              </a:defRPr>
            </a:lvl8pPr>
            <a:lvl9pPr>
              <a:defRPr sz="2025" b="0">
                <a:solidFill>
                  <a:srgbClr val="173C31"/>
                </a:solidFill>
                <a:latin typeface="Arial"/>
                <a:ea typeface="Arial"/>
                <a:cs typeface="Arial"/>
              </a:defRPr>
            </a:lvl9pPr>
          </a:lstStyle>
          <a:p xmlns:a="http://schemas.openxmlformats.org/drawingml/2006/main">
            <a:pPr>
              <a:defRPr sz="2025" b="0">
                <a:solidFill>
                  <a:srgbClr val="173C31"/>
                </a:solidFill>
                <a:latin typeface="Arial"/>
                <a:ea typeface="Arial"/>
                <a:cs typeface="Arial"/>
              </a:defRPr>
            </a:pPr>
            <a:r>
              <a:rPr sz="2025" b="0">
                <a:solidFill>
                  <a:srgbClr val="173C31"/>
                </a:solidFill>
                <a:latin typeface="Arial"/>
                <a:ea typeface="Arial"/>
                <a:cs typeface="Arial"/>
              </a:rPr>
              <a:t>Retrieves trusted notes and computes</a:t>
            </a:r>
          </a:p>
          <a:p xmlns:a="http://schemas.openxmlformats.org/drawingml/2006/main">
            <a:pPr>
              <a:defRPr sz="2025" b="0">
                <a:solidFill>
                  <a:srgbClr val="173C31"/>
                </a:solidFill>
                <a:latin typeface="Arial"/>
                <a:ea typeface="Arial"/>
                <a:cs typeface="Arial"/>
              </a:defRPr>
            </a:pPr>
            <a:r>
              <a:rPr sz="2025" b="0">
                <a:solidFill>
                  <a:srgbClr val="173C31"/>
                </a:solidFill>
                <a:latin typeface="Arial"/>
                <a:ea typeface="Arial"/>
                <a:cs typeface="Arial"/>
              </a:rPr>
              <a:t>table summaries with row or section citations</a:t>
            </a:r>
          </a:p>
        </p:txBody>
      </p:sp>
      <p:pic>
        <p:nvPicPr>
          <p:cNvPr id="9" name="">
            <a:extLst xmlns:a="http://schemas.openxmlformats.org/drawingml/2006/main">
              <a:ext uri="{FF2B5EF4-FFF2-40B4-BE49-F238E27FC236}">
                <a16:creationId xmlns:a16="http://schemas.microsoft.com/office/drawing/2014/main" id="{DA898702-D35D-49C8-A10A-84D845C42D6A}"/>
              </a:ext>
            </a:extLst>
          </p:cNvPr>
          <p:cNvPicPr>
            <a:picLocks xmlns:a="http://schemas.openxmlformats.org/drawingml/2006/main" noChangeAspect="1"/>
          </p:cNvPicPr>
          <p:nvPr/>
        </p:nvPicPr>
        <p:blipFill>
          <a:blip xmlns:r="http://schemas.openxmlformats.org/officeDocument/2006/relationships" xmlns:a="http://schemas.openxmlformats.org/drawingml/2006/main" r:embed="R9c989acab1b84478"/>
          <a:stretch xmlns:a="http://schemas.openxmlformats.org/drawingml/2006/main"/>
        </p:blipFill>
        <p:spPr>
          <a:xfrm xmlns:a="http://schemas.openxmlformats.org/drawingml/2006/main">
            <a:off x="609600" y="2192821"/>
            <a:ext cx="5238750" cy="294860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6EED5A3-1BC4-449D-9E8A-56518F457E36}"/>
              </a:ext>
            </a:extLst>
          </p:cNvPr>
          <p:cNvPicPr>
            <a:picLocks xmlns:a="http://schemas.openxmlformats.org/drawingml/2006/main" noChangeAspect="1"/>
          </p:cNvPicPr>
          <p:nvPr/>
        </p:nvPicPr>
        <p:blipFill>
          <a:blip xmlns:r="http://schemas.openxmlformats.org/officeDocument/2006/relationships" xmlns:a="http://schemas.openxmlformats.org/drawingml/2006/main" r:embed="Rf66deb5d7e8746c2"/>
          <a:stretch xmlns:a="http://schemas.openxmlformats.org/drawingml/2006/main"/>
        </p:blipFill>
        <p:spPr>
          <a:xfrm xmlns:a="http://schemas.openxmlformats.org/drawingml/2006/main">
            <a:off x="6343650" y="2192821"/>
            <a:ext cx="5238750" cy="2948609"/>
          </a:xfrm>
          <a:prstGeom xmlns:a="http://schemas.openxmlformats.org/drawingml/2006/main" prst="rect">
            <a:avLst/>
          </a:prstGeom>
        </p:spPr>
      </p:pic>
    </p:spTree>
    <p:extLst>
      <p:ext uri="{BB962C8B-B14F-4D97-AF65-F5344CB8AC3E}">
        <p14:creationId xmlns:p14="http://schemas.microsoft.com/office/powerpoint/2010/main" val="733676608"/>
      </p:ext>
    </p:extLst>
  </p:cSld>
</p:sld>
</file>

<file path=ppt/slides/slide6.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CA483F6-6E25-420A-AEF2-78D0EB648B5A}"/>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C31"/>
                </a:solidFill>
                <a:latin typeface="Arial"/>
                <a:ea typeface="Arial"/>
                <a:cs typeface="Arial"/>
              </a:defRPr>
            </a:defPPr>
            <a:lvl1pPr>
              <a:defRPr sz="3450" b="1">
                <a:solidFill>
                  <a:srgbClr val="173C31"/>
                </a:solidFill>
                <a:latin typeface="Arial"/>
                <a:ea typeface="Arial"/>
                <a:cs typeface="Arial"/>
              </a:defRPr>
            </a:lvl1pPr>
            <a:lvl2pPr>
              <a:defRPr sz="3450" b="1">
                <a:solidFill>
                  <a:srgbClr val="173C31"/>
                </a:solidFill>
                <a:latin typeface="Arial"/>
                <a:ea typeface="Arial"/>
                <a:cs typeface="Arial"/>
              </a:defRPr>
            </a:lvl2pPr>
            <a:lvl3pPr>
              <a:defRPr sz="3450" b="1">
                <a:solidFill>
                  <a:srgbClr val="173C31"/>
                </a:solidFill>
                <a:latin typeface="Arial"/>
                <a:ea typeface="Arial"/>
                <a:cs typeface="Arial"/>
              </a:defRPr>
            </a:lvl3pPr>
            <a:lvl4pPr>
              <a:defRPr sz="3450" b="1">
                <a:solidFill>
                  <a:srgbClr val="173C31"/>
                </a:solidFill>
                <a:latin typeface="Arial"/>
                <a:ea typeface="Arial"/>
                <a:cs typeface="Arial"/>
              </a:defRPr>
            </a:lvl4pPr>
            <a:lvl5pPr>
              <a:defRPr sz="3450" b="1">
                <a:solidFill>
                  <a:srgbClr val="173C31"/>
                </a:solidFill>
                <a:latin typeface="Arial"/>
                <a:ea typeface="Arial"/>
                <a:cs typeface="Arial"/>
              </a:defRPr>
            </a:lvl5pPr>
            <a:lvl6pPr>
              <a:defRPr sz="3450" b="1">
                <a:solidFill>
                  <a:srgbClr val="173C31"/>
                </a:solidFill>
                <a:latin typeface="Arial"/>
                <a:ea typeface="Arial"/>
                <a:cs typeface="Arial"/>
              </a:defRPr>
            </a:lvl6pPr>
            <a:lvl7pPr>
              <a:defRPr sz="3450" b="1">
                <a:solidFill>
                  <a:srgbClr val="173C31"/>
                </a:solidFill>
                <a:latin typeface="Arial"/>
                <a:ea typeface="Arial"/>
                <a:cs typeface="Arial"/>
              </a:defRPr>
            </a:lvl7pPr>
            <a:lvl8pPr>
              <a:defRPr sz="3450" b="1">
                <a:solidFill>
                  <a:srgbClr val="173C31"/>
                </a:solidFill>
                <a:latin typeface="Arial"/>
                <a:ea typeface="Arial"/>
                <a:cs typeface="Arial"/>
              </a:defRPr>
            </a:lvl8pPr>
            <a:lvl9pPr>
              <a:defRPr sz="3450" b="1">
                <a:solidFill>
                  <a:srgbClr val="173C31"/>
                </a:solidFill>
                <a:latin typeface="Arial"/>
                <a:ea typeface="Arial"/>
                <a:cs typeface="Arial"/>
              </a:defRPr>
            </a:lvl9pPr>
          </a:lstStyle>
          <a:p xmlns:a="http://schemas.openxmlformats.org/drawingml/2006/main">
            <a:pPr>
              <a:defRPr sz="3450" b="1">
                <a:solidFill>
                  <a:srgbClr val="173C31"/>
                </a:solidFill>
                <a:latin typeface="Arial"/>
                <a:ea typeface="Arial"/>
                <a:cs typeface="Arial"/>
              </a:defRPr>
            </a:pPr>
            <a:r>
              <a:rPr sz="3450" b="1">
                <a:solidFill>
                  <a:srgbClr val="173C31"/>
                </a:solidFill>
                <a:latin typeface="Arial"/>
                <a:ea typeface="Arial"/>
                <a:cs typeface="Arial"/>
              </a:rPr>
              <a:t>Live demonstration</a:t>
            </a:r>
          </a:p>
        </p:txBody>
      </p:sp>
      <p:sp>
        <p:nvSpPr>
          <p:cNvPr id="3" name="">
            <a:extLst xmlns:a="http://schemas.openxmlformats.org/drawingml/2006/main">
              <a:ext uri="{FF2B5EF4-FFF2-40B4-BE49-F238E27FC236}">
                <a16:creationId xmlns:a16="http://schemas.microsoft.com/office/drawing/2014/main" id="{EF6314CF-55AE-482F-81AB-344A2CFD706C}"/>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HeatShift  /  HackInsight 26</a:t>
            </a:r>
          </a:p>
        </p:txBody>
      </p:sp>
      <p:sp>
        <p:nvSpPr>
          <p:cNvPr id="4" name="">
            <a:extLst xmlns:a="http://schemas.openxmlformats.org/drawingml/2006/main">
              <a:ext uri="{FF2B5EF4-FFF2-40B4-BE49-F238E27FC236}">
                <a16:creationId xmlns:a16="http://schemas.microsoft.com/office/drawing/2014/main" id="{0A328D6B-0850-43F5-B8F1-843E63E13E1C}"/>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8B68F7D-B3EC-4A28-9A91-DD9CADD893CF}"/>
              </a:ext>
            </a:extLst>
          </p:cNvPr>
          <p:cNvSpPr>
            <a:spLocks xmlns:a="http://schemas.openxmlformats.org/drawingml/2006/main" noGrp="1"/>
          </p:cNvSpPr>
          <p:nvPr/>
        </p:nvSpPr>
        <p:spPr>
          <a:xfrm xmlns:a="http://schemas.openxmlformats.org/drawingml/2006/main">
            <a:off x="609600" y="16192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73C31"/>
                </a:solidFill>
                <a:latin typeface="Arial"/>
                <a:ea typeface="Arial"/>
                <a:cs typeface="Arial"/>
              </a:defRPr>
            </a:defPPr>
            <a:lvl1pPr>
              <a:defRPr sz="2475" b="1">
                <a:solidFill>
                  <a:srgbClr val="173C31"/>
                </a:solidFill>
                <a:latin typeface="Arial"/>
                <a:ea typeface="Arial"/>
                <a:cs typeface="Arial"/>
              </a:defRPr>
            </a:lvl1pPr>
            <a:lvl2pPr>
              <a:defRPr sz="2475" b="1">
                <a:solidFill>
                  <a:srgbClr val="173C31"/>
                </a:solidFill>
                <a:latin typeface="Arial"/>
                <a:ea typeface="Arial"/>
                <a:cs typeface="Arial"/>
              </a:defRPr>
            </a:lvl2pPr>
            <a:lvl3pPr>
              <a:defRPr sz="2475" b="1">
                <a:solidFill>
                  <a:srgbClr val="173C31"/>
                </a:solidFill>
                <a:latin typeface="Arial"/>
                <a:ea typeface="Arial"/>
                <a:cs typeface="Arial"/>
              </a:defRPr>
            </a:lvl3pPr>
            <a:lvl4pPr>
              <a:defRPr sz="2475" b="1">
                <a:solidFill>
                  <a:srgbClr val="173C31"/>
                </a:solidFill>
                <a:latin typeface="Arial"/>
                <a:ea typeface="Arial"/>
                <a:cs typeface="Arial"/>
              </a:defRPr>
            </a:lvl4pPr>
            <a:lvl5pPr>
              <a:defRPr sz="2475" b="1">
                <a:solidFill>
                  <a:srgbClr val="173C31"/>
                </a:solidFill>
                <a:latin typeface="Arial"/>
                <a:ea typeface="Arial"/>
                <a:cs typeface="Arial"/>
              </a:defRPr>
            </a:lvl5pPr>
            <a:lvl6pPr>
              <a:defRPr sz="2475" b="1">
                <a:solidFill>
                  <a:srgbClr val="173C31"/>
                </a:solidFill>
                <a:latin typeface="Arial"/>
                <a:ea typeface="Arial"/>
                <a:cs typeface="Arial"/>
              </a:defRPr>
            </a:lvl6pPr>
            <a:lvl7pPr>
              <a:defRPr sz="2475" b="1">
                <a:solidFill>
                  <a:srgbClr val="173C31"/>
                </a:solidFill>
                <a:latin typeface="Arial"/>
                <a:ea typeface="Arial"/>
                <a:cs typeface="Arial"/>
              </a:defRPr>
            </a:lvl7pPr>
            <a:lvl8pPr>
              <a:defRPr sz="2475" b="1">
                <a:solidFill>
                  <a:srgbClr val="173C31"/>
                </a:solidFill>
                <a:latin typeface="Arial"/>
                <a:ea typeface="Arial"/>
                <a:cs typeface="Arial"/>
              </a:defRPr>
            </a:lvl8pPr>
            <a:lvl9pPr>
              <a:defRPr sz="2475" b="1">
                <a:solidFill>
                  <a:srgbClr val="173C31"/>
                </a:solidFill>
                <a:latin typeface="Arial"/>
                <a:ea typeface="Arial"/>
                <a:cs typeface="Arial"/>
              </a:defRPr>
            </a:lvl9pPr>
          </a:lstStyle>
          <a:p xmlns:a="http://schemas.openxmlformats.org/drawingml/2006/main">
            <a:pPr>
              <a:defRPr sz="2475" b="1">
                <a:solidFill>
                  <a:srgbClr val="173C31"/>
                </a:solidFill>
                <a:latin typeface="Arial"/>
                <a:ea typeface="Arial"/>
                <a:cs typeface="Arial"/>
              </a:defRPr>
            </a:pPr>
            <a:r>
              <a:rPr sz="2475" b="1">
                <a:solidFill>
                  <a:srgbClr val="173C31"/>
                </a:solidFill>
                <a:latin typeface="Arial"/>
                <a:ea typeface="Arial"/>
                <a:cs typeface="Arial"/>
              </a:rPr>
              <a:t>1  Prediction and uncertainty</a:t>
            </a:r>
          </a:p>
        </p:txBody>
      </p:sp>
      <p:sp>
        <p:nvSpPr>
          <p:cNvPr id="6" name="">
            <a:extLst xmlns:a="http://schemas.openxmlformats.org/drawingml/2006/main">
              <a:ext uri="{FF2B5EF4-FFF2-40B4-BE49-F238E27FC236}">
                <a16:creationId xmlns:a16="http://schemas.microsoft.com/office/drawing/2014/main" id="{FDEF800C-FC16-4D16-8EC3-C584A7C2E5AD}"/>
              </a:ext>
            </a:extLst>
          </p:cNvPr>
          <p:cNvSpPr>
            <a:spLocks xmlns:a="http://schemas.openxmlformats.org/drawingml/2006/main" noGrp="1"/>
          </p:cNvSpPr>
          <p:nvPr/>
        </p:nvSpPr>
        <p:spPr>
          <a:xfrm xmlns:a="http://schemas.openxmlformats.org/drawingml/2006/main">
            <a:off x="609600" y="25336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73C31"/>
                </a:solidFill>
                <a:latin typeface="Arial"/>
                <a:ea typeface="Arial"/>
                <a:cs typeface="Arial"/>
              </a:defRPr>
            </a:defPPr>
            <a:lvl1pPr>
              <a:defRPr sz="2475" b="1">
                <a:solidFill>
                  <a:srgbClr val="173C31"/>
                </a:solidFill>
                <a:latin typeface="Arial"/>
                <a:ea typeface="Arial"/>
                <a:cs typeface="Arial"/>
              </a:defRPr>
            </a:lvl1pPr>
            <a:lvl2pPr>
              <a:defRPr sz="2475" b="1">
                <a:solidFill>
                  <a:srgbClr val="173C31"/>
                </a:solidFill>
                <a:latin typeface="Arial"/>
                <a:ea typeface="Arial"/>
                <a:cs typeface="Arial"/>
              </a:defRPr>
            </a:lvl2pPr>
            <a:lvl3pPr>
              <a:defRPr sz="2475" b="1">
                <a:solidFill>
                  <a:srgbClr val="173C31"/>
                </a:solidFill>
                <a:latin typeface="Arial"/>
                <a:ea typeface="Arial"/>
                <a:cs typeface="Arial"/>
              </a:defRPr>
            </a:lvl3pPr>
            <a:lvl4pPr>
              <a:defRPr sz="2475" b="1">
                <a:solidFill>
                  <a:srgbClr val="173C31"/>
                </a:solidFill>
                <a:latin typeface="Arial"/>
                <a:ea typeface="Arial"/>
                <a:cs typeface="Arial"/>
              </a:defRPr>
            </a:lvl4pPr>
            <a:lvl5pPr>
              <a:defRPr sz="2475" b="1">
                <a:solidFill>
                  <a:srgbClr val="173C31"/>
                </a:solidFill>
                <a:latin typeface="Arial"/>
                <a:ea typeface="Arial"/>
                <a:cs typeface="Arial"/>
              </a:defRPr>
            </a:lvl5pPr>
            <a:lvl6pPr>
              <a:defRPr sz="2475" b="1">
                <a:solidFill>
                  <a:srgbClr val="173C31"/>
                </a:solidFill>
                <a:latin typeface="Arial"/>
                <a:ea typeface="Arial"/>
                <a:cs typeface="Arial"/>
              </a:defRPr>
            </a:lvl6pPr>
            <a:lvl7pPr>
              <a:defRPr sz="2475" b="1">
                <a:solidFill>
                  <a:srgbClr val="173C31"/>
                </a:solidFill>
                <a:latin typeface="Arial"/>
                <a:ea typeface="Arial"/>
                <a:cs typeface="Arial"/>
              </a:defRPr>
            </a:lvl7pPr>
            <a:lvl8pPr>
              <a:defRPr sz="2475" b="1">
                <a:solidFill>
                  <a:srgbClr val="173C31"/>
                </a:solidFill>
                <a:latin typeface="Arial"/>
                <a:ea typeface="Arial"/>
                <a:cs typeface="Arial"/>
              </a:defRPr>
            </a:lvl8pPr>
            <a:lvl9pPr>
              <a:defRPr sz="2475" b="1">
                <a:solidFill>
                  <a:srgbClr val="173C31"/>
                </a:solidFill>
                <a:latin typeface="Arial"/>
                <a:ea typeface="Arial"/>
                <a:cs typeface="Arial"/>
              </a:defRPr>
            </a:lvl9pPr>
          </a:lstStyle>
          <a:p xmlns:a="http://schemas.openxmlformats.org/drawingml/2006/main">
            <a:pPr>
              <a:defRPr sz="2475" b="1">
                <a:solidFill>
                  <a:srgbClr val="173C31"/>
                </a:solidFill>
                <a:latin typeface="Arial"/>
                <a:ea typeface="Arial"/>
                <a:cs typeface="Arial"/>
              </a:defRPr>
            </a:pPr>
            <a:r>
              <a:rPr sz="2475" b="1">
                <a:solidFill>
                  <a:srgbClr val="173C31"/>
                </a:solidFill>
                <a:latin typeface="Arial"/>
                <a:ea typeface="Arial"/>
                <a:cs typeface="Arial"/>
              </a:rPr>
              <a:t>2  Quality decisions and downloadable log</a:t>
            </a:r>
          </a:p>
        </p:txBody>
      </p:sp>
      <p:sp>
        <p:nvSpPr>
          <p:cNvPr id="7" name="">
            <a:extLst xmlns:a="http://schemas.openxmlformats.org/drawingml/2006/main">
              <a:ext uri="{FF2B5EF4-FFF2-40B4-BE49-F238E27FC236}">
                <a16:creationId xmlns:a16="http://schemas.microsoft.com/office/drawing/2014/main" id="{36DA0063-91B8-4C23-A26C-7B478705D406}"/>
              </a:ext>
            </a:extLst>
          </p:cNvPr>
          <p:cNvSpPr>
            <a:spLocks xmlns:a="http://schemas.openxmlformats.org/drawingml/2006/main" noGrp="1"/>
          </p:cNvSpPr>
          <p:nvPr/>
        </p:nvSpPr>
        <p:spPr>
          <a:xfrm xmlns:a="http://schemas.openxmlformats.org/drawingml/2006/main">
            <a:off x="609600" y="365760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73C31"/>
                </a:solidFill>
                <a:latin typeface="Arial"/>
                <a:ea typeface="Arial"/>
                <a:cs typeface="Arial"/>
              </a:defRPr>
            </a:defPPr>
            <a:lvl1pPr>
              <a:defRPr sz="2475" b="1">
                <a:solidFill>
                  <a:srgbClr val="173C31"/>
                </a:solidFill>
                <a:latin typeface="Arial"/>
                <a:ea typeface="Arial"/>
                <a:cs typeface="Arial"/>
              </a:defRPr>
            </a:lvl1pPr>
            <a:lvl2pPr>
              <a:defRPr sz="2475" b="1">
                <a:solidFill>
                  <a:srgbClr val="173C31"/>
                </a:solidFill>
                <a:latin typeface="Arial"/>
                <a:ea typeface="Arial"/>
                <a:cs typeface="Arial"/>
              </a:defRPr>
            </a:lvl2pPr>
            <a:lvl3pPr>
              <a:defRPr sz="2475" b="1">
                <a:solidFill>
                  <a:srgbClr val="173C31"/>
                </a:solidFill>
                <a:latin typeface="Arial"/>
                <a:ea typeface="Arial"/>
                <a:cs typeface="Arial"/>
              </a:defRPr>
            </a:lvl3pPr>
            <a:lvl4pPr>
              <a:defRPr sz="2475" b="1">
                <a:solidFill>
                  <a:srgbClr val="173C31"/>
                </a:solidFill>
                <a:latin typeface="Arial"/>
                <a:ea typeface="Arial"/>
                <a:cs typeface="Arial"/>
              </a:defRPr>
            </a:lvl4pPr>
            <a:lvl5pPr>
              <a:defRPr sz="2475" b="1">
                <a:solidFill>
                  <a:srgbClr val="173C31"/>
                </a:solidFill>
                <a:latin typeface="Arial"/>
                <a:ea typeface="Arial"/>
                <a:cs typeface="Arial"/>
              </a:defRPr>
            </a:lvl5pPr>
            <a:lvl6pPr>
              <a:defRPr sz="2475" b="1">
                <a:solidFill>
                  <a:srgbClr val="173C31"/>
                </a:solidFill>
                <a:latin typeface="Arial"/>
                <a:ea typeface="Arial"/>
                <a:cs typeface="Arial"/>
              </a:defRPr>
            </a:lvl6pPr>
            <a:lvl7pPr>
              <a:defRPr sz="2475" b="1">
                <a:solidFill>
                  <a:srgbClr val="173C31"/>
                </a:solidFill>
                <a:latin typeface="Arial"/>
                <a:ea typeface="Arial"/>
                <a:cs typeface="Arial"/>
              </a:defRPr>
            </a:lvl7pPr>
            <a:lvl8pPr>
              <a:defRPr sz="2475" b="1">
                <a:solidFill>
                  <a:srgbClr val="173C31"/>
                </a:solidFill>
                <a:latin typeface="Arial"/>
                <a:ea typeface="Arial"/>
                <a:cs typeface="Arial"/>
              </a:defRPr>
            </a:lvl8pPr>
            <a:lvl9pPr>
              <a:defRPr sz="2475" b="1">
                <a:solidFill>
                  <a:srgbClr val="173C31"/>
                </a:solidFill>
                <a:latin typeface="Arial"/>
                <a:ea typeface="Arial"/>
                <a:cs typeface="Arial"/>
              </a:defRPr>
            </a:lvl9pPr>
          </a:lstStyle>
          <a:p xmlns:a="http://schemas.openxmlformats.org/drawingml/2006/main">
            <a:pPr>
              <a:defRPr sz="2475" b="1">
                <a:solidFill>
                  <a:srgbClr val="173C31"/>
                </a:solidFill>
                <a:latin typeface="Arial"/>
                <a:ea typeface="Arial"/>
                <a:cs typeface="Arial"/>
              </a:defRPr>
            </a:pPr>
            <a:r>
              <a:rPr sz="2475" b="1">
                <a:solidFill>
                  <a:srgbClr val="173C31"/>
                </a:solidFill>
                <a:latin typeface="Arial"/>
                <a:ea typeface="Arial"/>
                <a:cs typeface="Arial"/>
              </a:rPr>
              <a:t>3  A cited temperature summary</a:t>
            </a:r>
          </a:p>
        </p:txBody>
      </p:sp>
      <p:sp>
        <p:nvSpPr>
          <p:cNvPr id="8" name="">
            <a:extLst xmlns:a="http://schemas.openxmlformats.org/drawingml/2006/main">
              <a:ext uri="{FF2B5EF4-FFF2-40B4-BE49-F238E27FC236}">
                <a16:creationId xmlns:a16="http://schemas.microsoft.com/office/drawing/2014/main" id="{B0A8F5C2-51DC-4B9A-B0CB-6AFD629F27A3}"/>
              </a:ext>
            </a:extLst>
          </p:cNvPr>
          <p:cNvSpPr>
            <a:spLocks xmlns:a="http://schemas.openxmlformats.org/drawingml/2006/main" noGrp="1"/>
          </p:cNvSpPr>
          <p:nvPr/>
        </p:nvSpPr>
        <p:spPr>
          <a:xfrm xmlns:a="http://schemas.openxmlformats.org/drawingml/2006/main">
            <a:off x="609600" y="4581525"/>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73C31"/>
                </a:solidFill>
                <a:latin typeface="Arial"/>
                <a:ea typeface="Arial"/>
                <a:cs typeface="Arial"/>
              </a:defRPr>
            </a:defPPr>
            <a:lvl1pPr>
              <a:defRPr sz="2475" b="1">
                <a:solidFill>
                  <a:srgbClr val="173C31"/>
                </a:solidFill>
                <a:latin typeface="Arial"/>
                <a:ea typeface="Arial"/>
                <a:cs typeface="Arial"/>
              </a:defRPr>
            </a:lvl1pPr>
            <a:lvl2pPr>
              <a:defRPr sz="2475" b="1">
                <a:solidFill>
                  <a:srgbClr val="173C31"/>
                </a:solidFill>
                <a:latin typeface="Arial"/>
                <a:ea typeface="Arial"/>
                <a:cs typeface="Arial"/>
              </a:defRPr>
            </a:lvl2pPr>
            <a:lvl3pPr>
              <a:defRPr sz="2475" b="1">
                <a:solidFill>
                  <a:srgbClr val="173C31"/>
                </a:solidFill>
                <a:latin typeface="Arial"/>
                <a:ea typeface="Arial"/>
                <a:cs typeface="Arial"/>
              </a:defRPr>
            </a:lvl3pPr>
            <a:lvl4pPr>
              <a:defRPr sz="2475" b="1">
                <a:solidFill>
                  <a:srgbClr val="173C31"/>
                </a:solidFill>
                <a:latin typeface="Arial"/>
                <a:ea typeface="Arial"/>
                <a:cs typeface="Arial"/>
              </a:defRPr>
            </a:lvl4pPr>
            <a:lvl5pPr>
              <a:defRPr sz="2475" b="1">
                <a:solidFill>
                  <a:srgbClr val="173C31"/>
                </a:solidFill>
                <a:latin typeface="Arial"/>
                <a:ea typeface="Arial"/>
                <a:cs typeface="Arial"/>
              </a:defRPr>
            </a:lvl5pPr>
            <a:lvl6pPr>
              <a:defRPr sz="2475" b="1">
                <a:solidFill>
                  <a:srgbClr val="173C31"/>
                </a:solidFill>
                <a:latin typeface="Arial"/>
                <a:ea typeface="Arial"/>
                <a:cs typeface="Arial"/>
              </a:defRPr>
            </a:lvl6pPr>
            <a:lvl7pPr>
              <a:defRPr sz="2475" b="1">
                <a:solidFill>
                  <a:srgbClr val="173C31"/>
                </a:solidFill>
                <a:latin typeface="Arial"/>
                <a:ea typeface="Arial"/>
                <a:cs typeface="Arial"/>
              </a:defRPr>
            </a:lvl7pPr>
            <a:lvl8pPr>
              <a:defRPr sz="2475" b="1">
                <a:solidFill>
                  <a:srgbClr val="173C31"/>
                </a:solidFill>
                <a:latin typeface="Arial"/>
                <a:ea typeface="Arial"/>
                <a:cs typeface="Arial"/>
              </a:defRPr>
            </a:lvl8pPr>
            <a:lvl9pPr>
              <a:defRPr sz="2475" b="1">
                <a:solidFill>
                  <a:srgbClr val="173C31"/>
                </a:solidFill>
                <a:latin typeface="Arial"/>
                <a:ea typeface="Arial"/>
                <a:cs typeface="Arial"/>
              </a:defRPr>
            </a:lvl9pPr>
          </a:lstStyle>
          <a:p xmlns:a="http://schemas.openxmlformats.org/drawingml/2006/main">
            <a:pPr>
              <a:defRPr sz="2475" b="1">
                <a:solidFill>
                  <a:srgbClr val="173C31"/>
                </a:solidFill>
                <a:latin typeface="Arial"/>
                <a:ea typeface="Arial"/>
                <a:cs typeface="Arial"/>
              </a:defRPr>
            </a:pPr>
            <a:r>
              <a:rPr sz="2475" b="1">
                <a:solidFill>
                  <a:srgbClr val="173C31"/>
                </a:solidFill>
                <a:latin typeface="Arial"/>
                <a:ea typeface="Arial"/>
                <a:cs typeface="Arial"/>
              </a:rPr>
              <a:t>4  An unsupported AQI question</a:t>
            </a:r>
          </a:p>
        </p:txBody>
      </p:sp>
      <p:sp>
        <p:nvSpPr>
          <p:cNvPr id="9" name="">
            <a:extLst xmlns:a="http://schemas.openxmlformats.org/drawingml/2006/main">
              <a:ext uri="{FF2B5EF4-FFF2-40B4-BE49-F238E27FC236}">
                <a16:creationId xmlns:a16="http://schemas.microsoft.com/office/drawing/2014/main" id="{64549DAD-DF86-48F5-A00E-AE990CF53B90}"/>
              </a:ext>
            </a:extLst>
          </p:cNvPr>
          <p:cNvSpPr>
            <a:spLocks xmlns:a="http://schemas.openxmlformats.org/drawingml/2006/main" noGrp="1"/>
          </p:cNvSpPr>
          <p:nvPr/>
        </p:nvSpPr>
        <p:spPr>
          <a:xfrm xmlns:a="http://schemas.openxmlformats.org/drawingml/2006/main">
            <a:off x="6800850" y="4819650"/>
            <a:ext cx="4781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43D33"/>
                </a:solidFill>
                <a:latin typeface="Arial"/>
                <a:ea typeface="Arial"/>
                <a:cs typeface="Arial"/>
              </a:defRPr>
            </a:defPPr>
            <a:lvl1pPr>
              <a:defRPr sz="1875" b="0">
                <a:solidFill>
                  <a:srgbClr val="143D33"/>
                </a:solidFill>
                <a:latin typeface="Arial"/>
                <a:ea typeface="Arial"/>
                <a:cs typeface="Arial"/>
              </a:defRPr>
            </a:lvl1pPr>
            <a:lvl2pPr>
              <a:defRPr sz="1875" b="0">
                <a:solidFill>
                  <a:srgbClr val="143D33"/>
                </a:solidFill>
                <a:latin typeface="Arial"/>
                <a:ea typeface="Arial"/>
                <a:cs typeface="Arial"/>
              </a:defRPr>
            </a:lvl2pPr>
            <a:lvl3pPr>
              <a:defRPr sz="1875" b="0">
                <a:solidFill>
                  <a:srgbClr val="143D33"/>
                </a:solidFill>
                <a:latin typeface="Arial"/>
                <a:ea typeface="Arial"/>
                <a:cs typeface="Arial"/>
              </a:defRPr>
            </a:lvl3pPr>
            <a:lvl4pPr>
              <a:defRPr sz="1875" b="0">
                <a:solidFill>
                  <a:srgbClr val="143D33"/>
                </a:solidFill>
                <a:latin typeface="Arial"/>
                <a:ea typeface="Arial"/>
                <a:cs typeface="Arial"/>
              </a:defRPr>
            </a:lvl4pPr>
            <a:lvl5pPr>
              <a:defRPr sz="1875" b="0">
                <a:solidFill>
                  <a:srgbClr val="143D33"/>
                </a:solidFill>
                <a:latin typeface="Arial"/>
                <a:ea typeface="Arial"/>
                <a:cs typeface="Arial"/>
              </a:defRPr>
            </a:lvl5pPr>
            <a:lvl6pPr>
              <a:defRPr sz="1875" b="0">
                <a:solidFill>
                  <a:srgbClr val="143D33"/>
                </a:solidFill>
                <a:latin typeface="Arial"/>
                <a:ea typeface="Arial"/>
                <a:cs typeface="Arial"/>
              </a:defRPr>
            </a:lvl6pPr>
            <a:lvl7pPr>
              <a:defRPr sz="1875" b="0">
                <a:solidFill>
                  <a:srgbClr val="143D33"/>
                </a:solidFill>
                <a:latin typeface="Arial"/>
                <a:ea typeface="Arial"/>
                <a:cs typeface="Arial"/>
              </a:defRPr>
            </a:lvl7pPr>
            <a:lvl8pPr>
              <a:defRPr sz="1875" b="0">
                <a:solidFill>
                  <a:srgbClr val="143D33"/>
                </a:solidFill>
                <a:latin typeface="Arial"/>
                <a:ea typeface="Arial"/>
                <a:cs typeface="Arial"/>
              </a:defRPr>
            </a:lvl8pPr>
            <a:lvl9pPr>
              <a:defRPr sz="1875" b="0">
                <a:solidFill>
                  <a:srgbClr val="143D33"/>
                </a:solidFill>
                <a:latin typeface="Arial"/>
                <a:ea typeface="Arial"/>
                <a:cs typeface="Arial"/>
              </a:defRPr>
            </a:lvl9pPr>
          </a:lstStyle>
          <a:p xmlns:a="http://schemas.openxmlformats.org/drawingml/2006/main">
            <a:pPr>
              <a:defRPr sz="1875" b="0">
                <a:solidFill>
                  <a:srgbClr val="143D33"/>
                </a:solidFill>
                <a:latin typeface="Arial"/>
                <a:ea typeface="Arial"/>
                <a:cs typeface="Arial"/>
              </a:defRPr>
            </a:pPr>
            <a:r>
              <a:rPr u="sng">
                <a:hlinkClick xmlns:r="http://schemas.openxmlformats.org/officeDocument/2006/relationships" r:id="R0c994114509d40e1"/>
              </a:rPr>
              <a:t>Open the public dashboard</a:t>
            </a:r>
          </a:p>
        </p:txBody>
      </p:sp>
      <p:sp>
        <p:nvSpPr>
          <p:cNvPr id="10" name="">
            <a:extLst xmlns:a="http://schemas.openxmlformats.org/drawingml/2006/main">
              <a:ext uri="{FF2B5EF4-FFF2-40B4-BE49-F238E27FC236}">
                <a16:creationId xmlns:a16="http://schemas.microsoft.com/office/drawing/2014/main" id="{22348EA2-B905-4502-B542-27CF640B0F68}"/>
              </a:ext>
            </a:extLst>
          </p:cNvPr>
          <p:cNvSpPr>
            <a:spLocks xmlns:a="http://schemas.openxmlformats.org/drawingml/2006/main" noGrp="1"/>
          </p:cNvSpPr>
          <p:nvPr/>
        </p:nvSpPr>
        <p:spPr>
          <a:xfrm xmlns:a="http://schemas.openxmlformats.org/drawingml/2006/main">
            <a:off x="6800850" y="5381625"/>
            <a:ext cx="4781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7064"/>
                </a:solidFill>
                <a:latin typeface="Arial"/>
                <a:ea typeface="Arial"/>
                <a:cs typeface="Arial"/>
              </a:defRPr>
            </a:defPPr>
            <a:lvl1pPr>
              <a:defRPr sz="1875" b="0">
                <a:solidFill>
                  <a:srgbClr val="527064"/>
                </a:solidFill>
                <a:latin typeface="Arial"/>
                <a:ea typeface="Arial"/>
                <a:cs typeface="Arial"/>
              </a:defRPr>
            </a:lvl1pPr>
            <a:lvl2pPr>
              <a:defRPr sz="1875" b="0">
                <a:solidFill>
                  <a:srgbClr val="527064"/>
                </a:solidFill>
                <a:latin typeface="Arial"/>
                <a:ea typeface="Arial"/>
                <a:cs typeface="Arial"/>
              </a:defRPr>
            </a:lvl2pPr>
            <a:lvl3pPr>
              <a:defRPr sz="1875" b="0">
                <a:solidFill>
                  <a:srgbClr val="527064"/>
                </a:solidFill>
                <a:latin typeface="Arial"/>
                <a:ea typeface="Arial"/>
                <a:cs typeface="Arial"/>
              </a:defRPr>
            </a:lvl3pPr>
            <a:lvl4pPr>
              <a:defRPr sz="1875" b="0">
                <a:solidFill>
                  <a:srgbClr val="527064"/>
                </a:solidFill>
                <a:latin typeface="Arial"/>
                <a:ea typeface="Arial"/>
                <a:cs typeface="Arial"/>
              </a:defRPr>
            </a:lvl4pPr>
            <a:lvl5pPr>
              <a:defRPr sz="1875" b="0">
                <a:solidFill>
                  <a:srgbClr val="527064"/>
                </a:solidFill>
                <a:latin typeface="Arial"/>
                <a:ea typeface="Arial"/>
                <a:cs typeface="Arial"/>
              </a:defRPr>
            </a:lvl5pPr>
            <a:lvl6pPr>
              <a:defRPr sz="1875" b="0">
                <a:solidFill>
                  <a:srgbClr val="527064"/>
                </a:solidFill>
                <a:latin typeface="Arial"/>
                <a:ea typeface="Arial"/>
                <a:cs typeface="Arial"/>
              </a:defRPr>
            </a:lvl6pPr>
            <a:lvl7pPr>
              <a:defRPr sz="1875" b="0">
                <a:solidFill>
                  <a:srgbClr val="527064"/>
                </a:solidFill>
                <a:latin typeface="Arial"/>
                <a:ea typeface="Arial"/>
                <a:cs typeface="Arial"/>
              </a:defRPr>
            </a:lvl7pPr>
            <a:lvl8pPr>
              <a:defRPr sz="1875" b="0">
                <a:solidFill>
                  <a:srgbClr val="527064"/>
                </a:solidFill>
                <a:latin typeface="Arial"/>
                <a:ea typeface="Arial"/>
                <a:cs typeface="Arial"/>
              </a:defRPr>
            </a:lvl8pPr>
            <a:lvl9pPr>
              <a:defRPr sz="1875" b="0">
                <a:solidFill>
                  <a:srgbClr val="527064"/>
                </a:solidFill>
                <a:latin typeface="Arial"/>
                <a:ea typeface="Arial"/>
                <a:cs typeface="Arial"/>
              </a:defRPr>
            </a:lvl9pPr>
          </a:lstStyle>
          <a:p xmlns:a="http://schemas.openxmlformats.org/drawingml/2006/main">
            <a:pPr>
              <a:defRPr sz="1875" b="0">
                <a:solidFill>
                  <a:srgbClr val="527064"/>
                </a:solidFill>
                <a:latin typeface="Arial"/>
                <a:ea typeface="Arial"/>
                <a:cs typeface="Arial"/>
              </a:defRPr>
            </a:pPr>
            <a:r>
              <a:rPr sz="1875" b="0">
                <a:solidFill>
                  <a:srgbClr val="527064"/>
                </a:solidFill>
                <a:latin typeface="Arial"/>
                <a:ea typeface="Arial"/>
                <a:cs typeface="Arial"/>
              </a:rPr>
              <a:t>Offline backup: the 2 min 24 sec demo video</a:t>
            </a:r>
          </a:p>
        </p:txBody>
      </p:sp>
      <p:pic>
        <p:nvPicPr>
          <p:cNvPr id="11" name="">
            <a:extLst xmlns:a="http://schemas.openxmlformats.org/drawingml/2006/main">
              <a:ext uri="{FF2B5EF4-FFF2-40B4-BE49-F238E27FC236}">
                <a16:creationId xmlns:a16="http://schemas.microsoft.com/office/drawing/2014/main" id="{E983C000-C566-43C3-BD0F-EF737EF54FE2}"/>
              </a:ext>
            </a:extLst>
          </p:cNvPr>
          <p:cNvPicPr>
            <a:picLocks xmlns:a="http://schemas.openxmlformats.org/drawingml/2006/main" noChangeAspect="1"/>
          </p:cNvPicPr>
          <p:nvPr/>
        </p:nvPicPr>
        <p:blipFill>
          <a:blip xmlns:r="http://schemas.openxmlformats.org/officeDocument/2006/relationships" xmlns:a="http://schemas.openxmlformats.org/drawingml/2006/main" r:embed="Rc5fac2eb590a457e"/>
          <a:stretch xmlns:a="http://schemas.openxmlformats.org/drawingml/2006/main"/>
        </p:blipFill>
        <p:spPr>
          <a:xfrm xmlns:a="http://schemas.openxmlformats.org/drawingml/2006/main">
            <a:off x="6800850" y="1773800"/>
            <a:ext cx="4781550" cy="2691276"/>
          </a:xfrm>
          <a:prstGeom xmlns:a="http://schemas.openxmlformats.org/drawingml/2006/main" prst="rect">
            <a:avLst/>
          </a:prstGeom>
        </p:spPr>
      </p:pic>
    </p:spTree>
    <p:extLst>
      <p:ext uri="{BB962C8B-B14F-4D97-AF65-F5344CB8AC3E}">
        <p14:creationId xmlns:p14="http://schemas.microsoft.com/office/powerpoint/2010/main" val="1713522088"/>
      </p:ext>
    </p:extLst>
  </p:cSld>
</p:sld>
</file>

<file path=ppt/slides/slide7.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CE215ED-87C5-4C9D-AB90-C17C4C852EDB}"/>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C31"/>
                </a:solidFill>
                <a:latin typeface="Arial"/>
                <a:ea typeface="Arial"/>
                <a:cs typeface="Arial"/>
              </a:defRPr>
            </a:defPPr>
            <a:lvl1pPr>
              <a:defRPr sz="3450" b="1">
                <a:solidFill>
                  <a:srgbClr val="173C31"/>
                </a:solidFill>
                <a:latin typeface="Arial"/>
                <a:ea typeface="Arial"/>
                <a:cs typeface="Arial"/>
              </a:defRPr>
            </a:lvl1pPr>
            <a:lvl2pPr>
              <a:defRPr sz="3450" b="1">
                <a:solidFill>
                  <a:srgbClr val="173C31"/>
                </a:solidFill>
                <a:latin typeface="Arial"/>
                <a:ea typeface="Arial"/>
                <a:cs typeface="Arial"/>
              </a:defRPr>
            </a:lvl2pPr>
            <a:lvl3pPr>
              <a:defRPr sz="3450" b="1">
                <a:solidFill>
                  <a:srgbClr val="173C31"/>
                </a:solidFill>
                <a:latin typeface="Arial"/>
                <a:ea typeface="Arial"/>
                <a:cs typeface="Arial"/>
              </a:defRPr>
            </a:lvl3pPr>
            <a:lvl4pPr>
              <a:defRPr sz="3450" b="1">
                <a:solidFill>
                  <a:srgbClr val="173C31"/>
                </a:solidFill>
                <a:latin typeface="Arial"/>
                <a:ea typeface="Arial"/>
                <a:cs typeface="Arial"/>
              </a:defRPr>
            </a:lvl4pPr>
            <a:lvl5pPr>
              <a:defRPr sz="3450" b="1">
                <a:solidFill>
                  <a:srgbClr val="173C31"/>
                </a:solidFill>
                <a:latin typeface="Arial"/>
                <a:ea typeface="Arial"/>
                <a:cs typeface="Arial"/>
              </a:defRPr>
            </a:lvl5pPr>
            <a:lvl6pPr>
              <a:defRPr sz="3450" b="1">
                <a:solidFill>
                  <a:srgbClr val="173C31"/>
                </a:solidFill>
                <a:latin typeface="Arial"/>
                <a:ea typeface="Arial"/>
                <a:cs typeface="Arial"/>
              </a:defRPr>
            </a:lvl6pPr>
            <a:lvl7pPr>
              <a:defRPr sz="3450" b="1">
                <a:solidFill>
                  <a:srgbClr val="173C31"/>
                </a:solidFill>
                <a:latin typeface="Arial"/>
                <a:ea typeface="Arial"/>
                <a:cs typeface="Arial"/>
              </a:defRPr>
            </a:lvl7pPr>
            <a:lvl8pPr>
              <a:defRPr sz="3450" b="1">
                <a:solidFill>
                  <a:srgbClr val="173C31"/>
                </a:solidFill>
                <a:latin typeface="Arial"/>
                <a:ea typeface="Arial"/>
                <a:cs typeface="Arial"/>
              </a:defRPr>
            </a:lvl8pPr>
            <a:lvl9pPr>
              <a:defRPr sz="3450" b="1">
                <a:solidFill>
                  <a:srgbClr val="173C31"/>
                </a:solidFill>
                <a:latin typeface="Arial"/>
                <a:ea typeface="Arial"/>
                <a:cs typeface="Arial"/>
              </a:defRPr>
            </a:lvl9pPr>
          </a:lstStyle>
          <a:p xmlns:a="http://schemas.openxmlformats.org/drawingml/2006/main">
            <a:pPr>
              <a:defRPr sz="3450" b="1">
                <a:solidFill>
                  <a:srgbClr val="173C31"/>
                </a:solidFill>
                <a:latin typeface="Arial"/>
                <a:ea typeface="Arial"/>
                <a:cs typeface="Arial"/>
              </a:defRPr>
            </a:pPr>
            <a:r>
              <a:rPr sz="3450" b="1">
                <a:solidFill>
                  <a:srgbClr val="173C31"/>
                </a:solidFill>
                <a:latin typeface="Arial"/>
                <a:ea typeface="Arial"/>
                <a:cs typeface="Arial"/>
              </a:rPr>
              <a:t>Lower average validation error</a:t>
            </a:r>
          </a:p>
        </p:txBody>
      </p:sp>
      <p:sp>
        <p:nvSpPr>
          <p:cNvPr id="3" name="">
            <a:extLst xmlns:a="http://schemas.openxmlformats.org/drawingml/2006/main">
              <a:ext uri="{FF2B5EF4-FFF2-40B4-BE49-F238E27FC236}">
                <a16:creationId xmlns:a16="http://schemas.microsoft.com/office/drawing/2014/main" id="{C9EFFB43-04D6-4E77-8952-E6EEF372E05F}"/>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HeatShift  /  HackInsight 26</a:t>
            </a:r>
          </a:p>
        </p:txBody>
      </p:sp>
      <p:sp>
        <p:nvSpPr>
          <p:cNvPr id="4" name="">
            <a:extLst xmlns:a="http://schemas.openxmlformats.org/drawingml/2006/main">
              <a:ext uri="{FF2B5EF4-FFF2-40B4-BE49-F238E27FC236}">
                <a16:creationId xmlns:a16="http://schemas.microsoft.com/office/drawing/2014/main" id="{DB0BA299-3829-4E85-8BD7-7E035906D612}"/>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07</a:t>
            </a:r>
          </a:p>
        </p:txBody>
      </p:sp>
      <p:graphicFrame>
        <p:nvGraphicFramePr>
          <p:cNvPr id="5" name="Chart">
            <a:extLst xmlns:a="http://schemas.openxmlformats.org/drawingml/2006/main">
              <a:ext uri="{FF2B5EF4-FFF2-40B4-BE49-F238E27FC236}">
                <a16:creationId xmlns:a16="http://schemas.microsoft.com/office/drawing/2014/main" id="{274DEED5-247B-451F-B209-5373FC85E7D8}"/>
              </a:ext>
            </a:extLst>
          </p:cNvPr>
          <p:cNvGraphicFramePr/>
          <p:nvPr/>
        </p:nvGraphicFramePr>
        <p:xfrm>
          <a:off xmlns:a="http://schemas.openxmlformats.org/drawingml/2006/main" x="609600" y="1685925"/>
          <a:ext xmlns:a="http://schemas.openxmlformats.org/drawingml/2006/main" cx="6515100" cy="3476625"/>
        </p:xfrm>
        <a:graphic xmlns:a="http://schemas.openxmlformats.org/drawingml/2006/main">
          <a:graphicData uri="http://schemas.openxmlformats.org/drawingml/2006/chart">
            <c:chart xmlns:r="http://schemas.openxmlformats.org/officeDocument/2006/relationships" xmlns:c="http://schemas.openxmlformats.org/drawingml/2006/chart" r:id="R556b775345f642ee"/>
          </a:graphicData>
        </a:graphic>
      </p:graphicFrame>
      <p:sp>
        <p:nvSpPr>
          <p:cNvPr id="6" name="">
            <a:extLst xmlns:a="http://schemas.openxmlformats.org/drawingml/2006/main">
              <a:ext uri="{FF2B5EF4-FFF2-40B4-BE49-F238E27FC236}">
                <a16:creationId xmlns:a16="http://schemas.microsoft.com/office/drawing/2014/main" id="{AC22F254-B45A-402F-A9F8-344F3B9BD893}"/>
              </a:ext>
            </a:extLst>
          </p:cNvPr>
          <p:cNvSpPr>
            <a:spLocks xmlns:a="http://schemas.openxmlformats.org/drawingml/2006/main" noGrp="1"/>
          </p:cNvSpPr>
          <p:nvPr/>
        </p:nvSpPr>
        <p:spPr>
          <a:xfrm xmlns:a="http://schemas.openxmlformats.org/drawingml/2006/main">
            <a:off x="7810500" y="1647825"/>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5925" b="1">
                <a:solidFill>
                  <a:srgbClr val="143D33"/>
                </a:solidFill>
                <a:latin typeface="Arial"/>
                <a:ea typeface="Arial"/>
                <a:cs typeface="Arial"/>
              </a:defRPr>
            </a:defPPr>
            <a:lvl1pPr>
              <a:defRPr sz="5925" b="1">
                <a:solidFill>
                  <a:srgbClr val="143D33"/>
                </a:solidFill>
                <a:latin typeface="Arial"/>
                <a:ea typeface="Arial"/>
                <a:cs typeface="Arial"/>
              </a:defRPr>
            </a:lvl1pPr>
            <a:lvl2pPr>
              <a:defRPr sz="5925" b="1">
                <a:solidFill>
                  <a:srgbClr val="143D33"/>
                </a:solidFill>
                <a:latin typeface="Arial"/>
                <a:ea typeface="Arial"/>
                <a:cs typeface="Arial"/>
              </a:defRPr>
            </a:lvl2pPr>
            <a:lvl3pPr>
              <a:defRPr sz="5925" b="1">
                <a:solidFill>
                  <a:srgbClr val="143D33"/>
                </a:solidFill>
                <a:latin typeface="Arial"/>
                <a:ea typeface="Arial"/>
                <a:cs typeface="Arial"/>
              </a:defRPr>
            </a:lvl3pPr>
            <a:lvl4pPr>
              <a:defRPr sz="5925" b="1">
                <a:solidFill>
                  <a:srgbClr val="143D33"/>
                </a:solidFill>
                <a:latin typeface="Arial"/>
                <a:ea typeface="Arial"/>
                <a:cs typeface="Arial"/>
              </a:defRPr>
            </a:lvl4pPr>
            <a:lvl5pPr>
              <a:defRPr sz="5925" b="1">
                <a:solidFill>
                  <a:srgbClr val="143D33"/>
                </a:solidFill>
                <a:latin typeface="Arial"/>
                <a:ea typeface="Arial"/>
                <a:cs typeface="Arial"/>
              </a:defRPr>
            </a:lvl5pPr>
            <a:lvl6pPr>
              <a:defRPr sz="5925" b="1">
                <a:solidFill>
                  <a:srgbClr val="143D33"/>
                </a:solidFill>
                <a:latin typeface="Arial"/>
                <a:ea typeface="Arial"/>
                <a:cs typeface="Arial"/>
              </a:defRPr>
            </a:lvl6pPr>
            <a:lvl7pPr>
              <a:defRPr sz="5925" b="1">
                <a:solidFill>
                  <a:srgbClr val="143D33"/>
                </a:solidFill>
                <a:latin typeface="Arial"/>
                <a:ea typeface="Arial"/>
                <a:cs typeface="Arial"/>
              </a:defRPr>
            </a:lvl7pPr>
            <a:lvl8pPr>
              <a:defRPr sz="5925" b="1">
                <a:solidFill>
                  <a:srgbClr val="143D33"/>
                </a:solidFill>
                <a:latin typeface="Arial"/>
                <a:ea typeface="Arial"/>
                <a:cs typeface="Arial"/>
              </a:defRPr>
            </a:lvl8pPr>
            <a:lvl9pPr>
              <a:defRPr sz="5925" b="1">
                <a:solidFill>
                  <a:srgbClr val="143D33"/>
                </a:solidFill>
                <a:latin typeface="Arial"/>
                <a:ea typeface="Arial"/>
                <a:cs typeface="Arial"/>
              </a:defRPr>
            </a:lvl9pPr>
          </a:lstStyle>
          <a:p xmlns:a="http://schemas.openxmlformats.org/drawingml/2006/main">
            <a:pPr>
              <a:defRPr sz="5925" b="1">
                <a:solidFill>
                  <a:srgbClr val="143D33"/>
                </a:solidFill>
                <a:latin typeface="Arial"/>
                <a:ea typeface="Arial"/>
                <a:cs typeface="Arial"/>
              </a:defRPr>
            </a:pPr>
            <a:r>
              <a:rPr sz="5925" b="1">
                <a:solidFill>
                  <a:srgbClr val="143D33"/>
                </a:solidFill>
                <a:latin typeface="Arial"/>
                <a:ea typeface="Arial"/>
                <a:cs typeface="Arial"/>
              </a:rPr>
              <a:t>10.8%</a:t>
            </a:r>
          </a:p>
        </p:txBody>
      </p:sp>
      <p:sp>
        <p:nvSpPr>
          <p:cNvPr id="7" name="">
            <a:extLst xmlns:a="http://schemas.openxmlformats.org/drawingml/2006/main">
              <a:ext uri="{FF2B5EF4-FFF2-40B4-BE49-F238E27FC236}">
                <a16:creationId xmlns:a16="http://schemas.microsoft.com/office/drawing/2014/main" id="{72883B09-D998-4C3D-9EE9-F464EC14055B}"/>
              </a:ext>
            </a:extLst>
          </p:cNvPr>
          <p:cNvSpPr>
            <a:spLocks xmlns:a="http://schemas.openxmlformats.org/drawingml/2006/main" noGrp="1"/>
          </p:cNvSpPr>
          <p:nvPr/>
        </p:nvSpPr>
        <p:spPr>
          <a:xfrm xmlns:a="http://schemas.openxmlformats.org/drawingml/2006/main">
            <a:off x="7810500" y="2781300"/>
            <a:ext cx="3619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C31"/>
                </a:solidFill>
                <a:latin typeface="Arial"/>
                <a:ea typeface="Arial"/>
                <a:cs typeface="Arial"/>
              </a:defRPr>
            </a:defPPr>
            <a:lvl1pPr>
              <a:defRPr sz="2250" b="1">
                <a:solidFill>
                  <a:srgbClr val="173C31"/>
                </a:solidFill>
                <a:latin typeface="Arial"/>
                <a:ea typeface="Arial"/>
                <a:cs typeface="Arial"/>
              </a:defRPr>
            </a:lvl1pPr>
            <a:lvl2pPr>
              <a:defRPr sz="2250" b="1">
                <a:solidFill>
                  <a:srgbClr val="173C31"/>
                </a:solidFill>
                <a:latin typeface="Arial"/>
                <a:ea typeface="Arial"/>
                <a:cs typeface="Arial"/>
              </a:defRPr>
            </a:lvl2pPr>
            <a:lvl3pPr>
              <a:defRPr sz="2250" b="1">
                <a:solidFill>
                  <a:srgbClr val="173C31"/>
                </a:solidFill>
                <a:latin typeface="Arial"/>
                <a:ea typeface="Arial"/>
                <a:cs typeface="Arial"/>
              </a:defRPr>
            </a:lvl3pPr>
            <a:lvl4pPr>
              <a:defRPr sz="2250" b="1">
                <a:solidFill>
                  <a:srgbClr val="173C31"/>
                </a:solidFill>
                <a:latin typeface="Arial"/>
                <a:ea typeface="Arial"/>
                <a:cs typeface="Arial"/>
              </a:defRPr>
            </a:lvl4pPr>
            <a:lvl5pPr>
              <a:defRPr sz="2250" b="1">
                <a:solidFill>
                  <a:srgbClr val="173C31"/>
                </a:solidFill>
                <a:latin typeface="Arial"/>
                <a:ea typeface="Arial"/>
                <a:cs typeface="Arial"/>
              </a:defRPr>
            </a:lvl5pPr>
            <a:lvl6pPr>
              <a:defRPr sz="2250" b="1">
                <a:solidFill>
                  <a:srgbClr val="173C31"/>
                </a:solidFill>
                <a:latin typeface="Arial"/>
                <a:ea typeface="Arial"/>
                <a:cs typeface="Arial"/>
              </a:defRPr>
            </a:lvl6pPr>
            <a:lvl7pPr>
              <a:defRPr sz="2250" b="1">
                <a:solidFill>
                  <a:srgbClr val="173C31"/>
                </a:solidFill>
                <a:latin typeface="Arial"/>
                <a:ea typeface="Arial"/>
                <a:cs typeface="Arial"/>
              </a:defRPr>
            </a:lvl7pPr>
            <a:lvl8pPr>
              <a:defRPr sz="2250" b="1">
                <a:solidFill>
                  <a:srgbClr val="173C31"/>
                </a:solidFill>
                <a:latin typeface="Arial"/>
                <a:ea typeface="Arial"/>
                <a:cs typeface="Arial"/>
              </a:defRPr>
            </a:lvl8pPr>
            <a:lvl9pPr>
              <a:defRPr sz="2250" b="1">
                <a:solidFill>
                  <a:srgbClr val="173C31"/>
                </a:solidFill>
                <a:latin typeface="Arial"/>
                <a:ea typeface="Arial"/>
                <a:cs typeface="Arial"/>
              </a:defRPr>
            </a:lvl9pPr>
          </a:lstStyle>
          <a:p xmlns:a="http://schemas.openxmlformats.org/drawingml/2006/main">
            <a:pPr>
              <a:defRPr sz="2250" b="1">
                <a:solidFill>
                  <a:srgbClr val="173C31"/>
                </a:solidFill>
                <a:latin typeface="Arial"/>
                <a:ea typeface="Arial"/>
                <a:cs typeface="Arial"/>
              </a:defRPr>
            </a:pPr>
            <a:r>
              <a:rPr sz="2250" b="1">
                <a:solidFill>
                  <a:srgbClr val="173C31"/>
                </a:solidFill>
                <a:latin typeface="Arial"/>
                <a:ea typeface="Arial"/>
                <a:cs typeface="Arial"/>
              </a:rPr>
              <a:t>observed reduction</a:t>
            </a:r>
          </a:p>
          <a:p xmlns:a="http://schemas.openxmlformats.org/drawingml/2006/main">
            <a:pPr>
              <a:defRPr sz="2250" b="1">
                <a:solidFill>
                  <a:srgbClr val="173C31"/>
                </a:solidFill>
                <a:latin typeface="Arial"/>
                <a:ea typeface="Arial"/>
                <a:cs typeface="Arial"/>
              </a:defRPr>
            </a:pPr>
            <a:r>
              <a:rPr sz="2250" b="1">
                <a:solidFill>
                  <a:srgbClr val="173C31"/>
                </a:solidFill>
                <a:latin typeface="Arial"/>
                <a:ea typeface="Arial"/>
                <a:cs typeface="Arial"/>
              </a:rPr>
              <a:t>in average absolute error</a:t>
            </a:r>
          </a:p>
        </p:txBody>
      </p:sp>
      <p:sp>
        <p:nvSpPr>
          <p:cNvPr id="8" name="">
            <a:extLst xmlns:a="http://schemas.openxmlformats.org/drawingml/2006/main">
              <a:ext uri="{FF2B5EF4-FFF2-40B4-BE49-F238E27FC236}">
                <a16:creationId xmlns:a16="http://schemas.microsoft.com/office/drawing/2014/main" id="{F2757167-BF1D-4F57-9401-A7B83E712EDD}"/>
              </a:ext>
            </a:extLst>
          </p:cNvPr>
          <p:cNvSpPr>
            <a:spLocks xmlns:a="http://schemas.openxmlformats.org/drawingml/2006/main" noGrp="1"/>
          </p:cNvSpPr>
          <p:nvPr/>
        </p:nvSpPr>
        <p:spPr>
          <a:xfrm xmlns:a="http://schemas.openxmlformats.org/drawingml/2006/main">
            <a:off x="7810500" y="4086225"/>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527064"/>
                </a:solidFill>
                <a:latin typeface="Arial"/>
                <a:ea typeface="Arial"/>
                <a:cs typeface="Arial"/>
              </a:defRPr>
            </a:defPPr>
            <a:lvl1pPr>
              <a:defRPr sz="2025" b="0">
                <a:solidFill>
                  <a:srgbClr val="527064"/>
                </a:solidFill>
                <a:latin typeface="Arial"/>
                <a:ea typeface="Arial"/>
                <a:cs typeface="Arial"/>
              </a:defRPr>
            </a:lvl1pPr>
            <a:lvl2pPr>
              <a:defRPr sz="2025" b="0">
                <a:solidFill>
                  <a:srgbClr val="527064"/>
                </a:solidFill>
                <a:latin typeface="Arial"/>
                <a:ea typeface="Arial"/>
                <a:cs typeface="Arial"/>
              </a:defRPr>
            </a:lvl2pPr>
            <a:lvl3pPr>
              <a:defRPr sz="2025" b="0">
                <a:solidFill>
                  <a:srgbClr val="527064"/>
                </a:solidFill>
                <a:latin typeface="Arial"/>
                <a:ea typeface="Arial"/>
                <a:cs typeface="Arial"/>
              </a:defRPr>
            </a:lvl3pPr>
            <a:lvl4pPr>
              <a:defRPr sz="2025" b="0">
                <a:solidFill>
                  <a:srgbClr val="527064"/>
                </a:solidFill>
                <a:latin typeface="Arial"/>
                <a:ea typeface="Arial"/>
                <a:cs typeface="Arial"/>
              </a:defRPr>
            </a:lvl4pPr>
            <a:lvl5pPr>
              <a:defRPr sz="2025" b="0">
                <a:solidFill>
                  <a:srgbClr val="527064"/>
                </a:solidFill>
                <a:latin typeface="Arial"/>
                <a:ea typeface="Arial"/>
                <a:cs typeface="Arial"/>
              </a:defRPr>
            </a:lvl5pPr>
            <a:lvl6pPr>
              <a:defRPr sz="2025" b="0">
                <a:solidFill>
                  <a:srgbClr val="527064"/>
                </a:solidFill>
                <a:latin typeface="Arial"/>
                <a:ea typeface="Arial"/>
                <a:cs typeface="Arial"/>
              </a:defRPr>
            </a:lvl6pPr>
            <a:lvl7pPr>
              <a:defRPr sz="2025" b="0">
                <a:solidFill>
                  <a:srgbClr val="527064"/>
                </a:solidFill>
                <a:latin typeface="Arial"/>
                <a:ea typeface="Arial"/>
                <a:cs typeface="Arial"/>
              </a:defRPr>
            </a:lvl7pPr>
            <a:lvl8pPr>
              <a:defRPr sz="2025" b="0">
                <a:solidFill>
                  <a:srgbClr val="527064"/>
                </a:solidFill>
                <a:latin typeface="Arial"/>
                <a:ea typeface="Arial"/>
                <a:cs typeface="Arial"/>
              </a:defRPr>
            </a:lvl8pPr>
            <a:lvl9pPr>
              <a:defRPr sz="2025" b="0">
                <a:solidFill>
                  <a:srgbClr val="527064"/>
                </a:solidFill>
                <a:latin typeface="Arial"/>
                <a:ea typeface="Arial"/>
                <a:cs typeface="Arial"/>
              </a:defRPr>
            </a:lvl9pPr>
          </a:lstStyle>
          <a:p xmlns:a="http://schemas.openxmlformats.org/drawingml/2006/main">
            <a:pPr>
              <a:defRPr sz="2025" b="0">
                <a:solidFill>
                  <a:srgbClr val="527064"/>
                </a:solidFill>
                <a:latin typeface="Arial"/>
                <a:ea typeface="Arial"/>
                <a:cs typeface="Arial"/>
              </a:defRPr>
            </a:pPr>
            <a:r>
              <a:rPr sz="2025" b="0">
                <a:solidFill>
                  <a:srgbClr val="527064"/>
                </a:solidFill>
                <a:latin typeface="Arial"/>
                <a:ea typeface="Arial"/>
                <a:cs typeface="Arial"/>
              </a:rPr>
              <a:t>1,783 identical validation rows</a:t>
            </a:r>
          </a:p>
          <a:p xmlns:a="http://schemas.openxmlformats.org/drawingml/2006/main">
            <a:pPr>
              <a:defRPr sz="2025" b="0">
                <a:solidFill>
                  <a:srgbClr val="527064"/>
                </a:solidFill>
                <a:latin typeface="Arial"/>
                <a:ea typeface="Arial"/>
                <a:cs typeface="Arial"/>
              </a:defRPr>
            </a:pPr>
            <a:r>
              <a:rPr sz="2025" b="0">
                <a:solidFill>
                  <a:srgbClr val="527064"/>
                </a:solidFill>
                <a:latin typeface="Arial"/>
                <a:ea typeface="Arial"/>
                <a:cs typeface="Arial"/>
              </a:rPr>
              <a:t>Lower MAE is better</a:t>
            </a:r>
          </a:p>
        </p:txBody>
      </p:sp>
      <p:sp>
        <p:nvSpPr>
          <p:cNvPr id="9" name="">
            <a:extLst xmlns:a="http://schemas.openxmlformats.org/drawingml/2006/main">
              <a:ext uri="{FF2B5EF4-FFF2-40B4-BE49-F238E27FC236}">
                <a16:creationId xmlns:a16="http://schemas.microsoft.com/office/drawing/2014/main" id="{E6A39814-ABA2-458A-ADB2-82DF6029069C}"/>
              </a:ext>
            </a:extLst>
          </p:cNvPr>
          <p:cNvSpPr>
            <a:spLocks xmlns:a="http://schemas.openxmlformats.org/drawingml/2006/main" noGrp="1"/>
          </p:cNvSpPr>
          <p:nvPr/>
        </p:nvSpPr>
        <p:spPr>
          <a:xfrm xmlns:a="http://schemas.openxmlformats.org/drawingml/2006/main">
            <a:off x="609600" y="538162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B15C32"/>
                </a:solidFill>
                <a:latin typeface="Arial"/>
                <a:ea typeface="Arial"/>
                <a:cs typeface="Arial"/>
              </a:defRPr>
            </a:defPPr>
            <a:lvl1pPr>
              <a:defRPr sz="2025" b="0">
                <a:solidFill>
                  <a:srgbClr val="B15C32"/>
                </a:solidFill>
                <a:latin typeface="Arial"/>
                <a:ea typeface="Arial"/>
                <a:cs typeface="Arial"/>
              </a:defRPr>
            </a:lvl1pPr>
            <a:lvl2pPr>
              <a:defRPr sz="2025" b="0">
                <a:solidFill>
                  <a:srgbClr val="B15C32"/>
                </a:solidFill>
                <a:latin typeface="Arial"/>
                <a:ea typeface="Arial"/>
                <a:cs typeface="Arial"/>
              </a:defRPr>
            </a:lvl2pPr>
            <a:lvl3pPr>
              <a:defRPr sz="2025" b="0">
                <a:solidFill>
                  <a:srgbClr val="B15C32"/>
                </a:solidFill>
                <a:latin typeface="Arial"/>
                <a:ea typeface="Arial"/>
                <a:cs typeface="Arial"/>
              </a:defRPr>
            </a:lvl3pPr>
            <a:lvl4pPr>
              <a:defRPr sz="2025" b="0">
                <a:solidFill>
                  <a:srgbClr val="B15C32"/>
                </a:solidFill>
                <a:latin typeface="Arial"/>
                <a:ea typeface="Arial"/>
                <a:cs typeface="Arial"/>
              </a:defRPr>
            </a:lvl4pPr>
            <a:lvl5pPr>
              <a:defRPr sz="2025" b="0">
                <a:solidFill>
                  <a:srgbClr val="B15C32"/>
                </a:solidFill>
                <a:latin typeface="Arial"/>
                <a:ea typeface="Arial"/>
                <a:cs typeface="Arial"/>
              </a:defRPr>
            </a:lvl5pPr>
            <a:lvl6pPr>
              <a:defRPr sz="2025" b="0">
                <a:solidFill>
                  <a:srgbClr val="B15C32"/>
                </a:solidFill>
                <a:latin typeface="Arial"/>
                <a:ea typeface="Arial"/>
                <a:cs typeface="Arial"/>
              </a:defRPr>
            </a:lvl6pPr>
            <a:lvl7pPr>
              <a:defRPr sz="2025" b="0">
                <a:solidFill>
                  <a:srgbClr val="B15C32"/>
                </a:solidFill>
                <a:latin typeface="Arial"/>
                <a:ea typeface="Arial"/>
                <a:cs typeface="Arial"/>
              </a:defRPr>
            </a:lvl7pPr>
            <a:lvl8pPr>
              <a:defRPr sz="2025" b="0">
                <a:solidFill>
                  <a:srgbClr val="B15C32"/>
                </a:solidFill>
                <a:latin typeface="Arial"/>
                <a:ea typeface="Arial"/>
                <a:cs typeface="Arial"/>
              </a:defRPr>
            </a:lvl8pPr>
            <a:lvl9pPr>
              <a:defRPr sz="2025" b="0">
                <a:solidFill>
                  <a:srgbClr val="B15C32"/>
                </a:solidFill>
                <a:latin typeface="Arial"/>
                <a:ea typeface="Arial"/>
                <a:cs typeface="Arial"/>
              </a:defRPr>
            </a:lvl9pPr>
          </a:lstStyle>
          <a:p xmlns:a="http://schemas.openxmlformats.org/drawingml/2006/main">
            <a:pPr>
              <a:defRPr sz="2025" b="0">
                <a:solidFill>
                  <a:srgbClr val="B15C32"/>
                </a:solidFill>
                <a:latin typeface="Arial"/>
                <a:ea typeface="Arial"/>
                <a:cs typeface="Arial"/>
              </a:defRPr>
            </a:pPr>
            <a:r>
              <a:rPr sz="2025" b="0">
                <a:solidFill>
                  <a:srgbClr val="B15C32"/>
                </a:solidFill>
                <a:latin typeface="Arial"/>
                <a:ea typeface="Arial"/>
                <a:cs typeface="Arial"/>
              </a:rPr>
              <a:t>January performed worse than baseline. The improvement interval includes zero.</a:t>
            </a:r>
          </a:p>
          <a:p xmlns:a="http://schemas.openxmlformats.org/drawingml/2006/main">
            <a:pPr>
              <a:defRPr sz="2025" b="0">
                <a:solidFill>
                  <a:srgbClr val="B15C32"/>
                </a:solidFill>
                <a:latin typeface="Arial"/>
                <a:ea typeface="Arial"/>
                <a:cs typeface="Arial"/>
              </a:defRPr>
            </a:pPr>
            <a:r>
              <a:rPr sz="2025" b="0">
                <a:solidFill>
                  <a:srgbClr val="B15C32"/>
                </a:solidFill>
                <a:latin typeface="Arial"/>
                <a:ea typeface="Arial"/>
                <a:cs typeface="Arial"/>
              </a:rPr>
              <a:t>These reused validation results do not prove future performance.</a:t>
            </a:r>
          </a:p>
        </p:txBody>
      </p:sp>
    </p:spTree>
    <p:extLst>
      <p:ext uri="{BB962C8B-B14F-4D97-AF65-F5344CB8AC3E}">
        <p14:creationId xmlns:p14="http://schemas.microsoft.com/office/powerpoint/2010/main" val="687501258"/>
      </p:ext>
    </p:extLst>
  </p:cSld>
</p:sld>
</file>

<file path=ppt/slides/slide8.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A00954-5435-4E0A-932C-D952D3EB7A18}"/>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C31"/>
                </a:solidFill>
                <a:latin typeface="Arial"/>
                <a:ea typeface="Arial"/>
                <a:cs typeface="Arial"/>
              </a:defRPr>
            </a:defPPr>
            <a:lvl1pPr>
              <a:defRPr sz="3450" b="1">
                <a:solidFill>
                  <a:srgbClr val="173C31"/>
                </a:solidFill>
                <a:latin typeface="Arial"/>
                <a:ea typeface="Arial"/>
                <a:cs typeface="Arial"/>
              </a:defRPr>
            </a:lvl1pPr>
            <a:lvl2pPr>
              <a:defRPr sz="3450" b="1">
                <a:solidFill>
                  <a:srgbClr val="173C31"/>
                </a:solidFill>
                <a:latin typeface="Arial"/>
                <a:ea typeface="Arial"/>
                <a:cs typeface="Arial"/>
              </a:defRPr>
            </a:lvl2pPr>
            <a:lvl3pPr>
              <a:defRPr sz="3450" b="1">
                <a:solidFill>
                  <a:srgbClr val="173C31"/>
                </a:solidFill>
                <a:latin typeface="Arial"/>
                <a:ea typeface="Arial"/>
                <a:cs typeface="Arial"/>
              </a:defRPr>
            </a:lvl3pPr>
            <a:lvl4pPr>
              <a:defRPr sz="3450" b="1">
                <a:solidFill>
                  <a:srgbClr val="173C31"/>
                </a:solidFill>
                <a:latin typeface="Arial"/>
                <a:ea typeface="Arial"/>
                <a:cs typeface="Arial"/>
              </a:defRPr>
            </a:lvl4pPr>
            <a:lvl5pPr>
              <a:defRPr sz="3450" b="1">
                <a:solidFill>
                  <a:srgbClr val="173C31"/>
                </a:solidFill>
                <a:latin typeface="Arial"/>
                <a:ea typeface="Arial"/>
                <a:cs typeface="Arial"/>
              </a:defRPr>
            </a:lvl5pPr>
            <a:lvl6pPr>
              <a:defRPr sz="3450" b="1">
                <a:solidFill>
                  <a:srgbClr val="173C31"/>
                </a:solidFill>
                <a:latin typeface="Arial"/>
                <a:ea typeface="Arial"/>
                <a:cs typeface="Arial"/>
              </a:defRPr>
            </a:lvl6pPr>
            <a:lvl7pPr>
              <a:defRPr sz="3450" b="1">
                <a:solidFill>
                  <a:srgbClr val="173C31"/>
                </a:solidFill>
                <a:latin typeface="Arial"/>
                <a:ea typeface="Arial"/>
                <a:cs typeface="Arial"/>
              </a:defRPr>
            </a:lvl7pPr>
            <a:lvl8pPr>
              <a:defRPr sz="3450" b="1">
                <a:solidFill>
                  <a:srgbClr val="173C31"/>
                </a:solidFill>
                <a:latin typeface="Arial"/>
                <a:ea typeface="Arial"/>
                <a:cs typeface="Arial"/>
              </a:defRPr>
            </a:lvl8pPr>
            <a:lvl9pPr>
              <a:defRPr sz="3450" b="1">
                <a:solidFill>
                  <a:srgbClr val="173C31"/>
                </a:solidFill>
                <a:latin typeface="Arial"/>
                <a:ea typeface="Arial"/>
                <a:cs typeface="Arial"/>
              </a:defRPr>
            </a:lvl9pPr>
          </a:lstStyle>
          <a:p xmlns:a="http://schemas.openxmlformats.org/drawingml/2006/main">
            <a:pPr>
              <a:defRPr sz="3450" b="1">
                <a:solidFill>
                  <a:srgbClr val="173C31"/>
                </a:solidFill>
                <a:latin typeface="Arial"/>
                <a:ea typeface="Arial"/>
                <a:cs typeface="Arial"/>
              </a:defRPr>
            </a:pPr>
            <a:r>
              <a:rPr sz="3450" b="1">
                <a:solidFill>
                  <a:srgbClr val="173C31"/>
                </a:solidFill>
                <a:latin typeface="Arial"/>
                <a:ea typeface="Arial"/>
                <a:cs typeface="Arial"/>
              </a:rPr>
              <a:t>Feasibility and business model</a:t>
            </a:r>
          </a:p>
        </p:txBody>
      </p:sp>
      <p:sp>
        <p:nvSpPr>
          <p:cNvPr id="3" name="">
            <a:extLst xmlns:a="http://schemas.openxmlformats.org/drawingml/2006/main">
              <a:ext uri="{FF2B5EF4-FFF2-40B4-BE49-F238E27FC236}">
                <a16:creationId xmlns:a16="http://schemas.microsoft.com/office/drawing/2014/main" id="{4835E96E-7B99-4CE8-BE4E-86C986F332E1}"/>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HeatShift  /  HackInsight 26</a:t>
            </a:r>
          </a:p>
        </p:txBody>
      </p:sp>
      <p:sp>
        <p:nvSpPr>
          <p:cNvPr id="4" name="">
            <a:extLst xmlns:a="http://schemas.openxmlformats.org/drawingml/2006/main">
              <a:ext uri="{FF2B5EF4-FFF2-40B4-BE49-F238E27FC236}">
                <a16:creationId xmlns:a16="http://schemas.microsoft.com/office/drawing/2014/main" id="{0A7A5FF0-B023-4002-AE5E-84D8DD880419}"/>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2453B6E3-A1F6-4F2F-A54C-A0EBB699B240}"/>
              </a:ext>
            </a:extLst>
          </p:cNvPr>
          <p:cNvSpPr>
            <a:spLocks xmlns:a="http://schemas.openxmlformats.org/drawingml/2006/main" noGrp="1"/>
          </p:cNvSpPr>
          <p:nvPr/>
        </p:nvSpPr>
        <p:spPr>
          <a:xfrm xmlns:a="http://schemas.openxmlformats.org/drawingml/2006/main">
            <a:off x="609600" y="163830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43D33"/>
                </a:solidFill>
                <a:latin typeface="Arial"/>
                <a:ea typeface="Arial"/>
                <a:cs typeface="Arial"/>
              </a:defRPr>
            </a:defPPr>
            <a:lvl1pPr>
              <a:defRPr sz="2475" b="1">
                <a:solidFill>
                  <a:srgbClr val="143D33"/>
                </a:solidFill>
                <a:latin typeface="Arial"/>
                <a:ea typeface="Arial"/>
                <a:cs typeface="Arial"/>
              </a:defRPr>
            </a:lvl1pPr>
            <a:lvl2pPr>
              <a:defRPr sz="2475" b="1">
                <a:solidFill>
                  <a:srgbClr val="143D33"/>
                </a:solidFill>
                <a:latin typeface="Arial"/>
                <a:ea typeface="Arial"/>
                <a:cs typeface="Arial"/>
              </a:defRPr>
            </a:lvl2pPr>
            <a:lvl3pPr>
              <a:defRPr sz="2475" b="1">
                <a:solidFill>
                  <a:srgbClr val="143D33"/>
                </a:solidFill>
                <a:latin typeface="Arial"/>
                <a:ea typeface="Arial"/>
                <a:cs typeface="Arial"/>
              </a:defRPr>
            </a:lvl3pPr>
            <a:lvl4pPr>
              <a:defRPr sz="2475" b="1">
                <a:solidFill>
                  <a:srgbClr val="143D33"/>
                </a:solidFill>
                <a:latin typeface="Arial"/>
                <a:ea typeface="Arial"/>
                <a:cs typeface="Arial"/>
              </a:defRPr>
            </a:lvl4pPr>
            <a:lvl5pPr>
              <a:defRPr sz="2475" b="1">
                <a:solidFill>
                  <a:srgbClr val="143D33"/>
                </a:solidFill>
                <a:latin typeface="Arial"/>
                <a:ea typeface="Arial"/>
                <a:cs typeface="Arial"/>
              </a:defRPr>
            </a:lvl5pPr>
            <a:lvl6pPr>
              <a:defRPr sz="2475" b="1">
                <a:solidFill>
                  <a:srgbClr val="143D33"/>
                </a:solidFill>
                <a:latin typeface="Arial"/>
                <a:ea typeface="Arial"/>
                <a:cs typeface="Arial"/>
              </a:defRPr>
            </a:lvl6pPr>
            <a:lvl7pPr>
              <a:defRPr sz="2475" b="1">
                <a:solidFill>
                  <a:srgbClr val="143D33"/>
                </a:solidFill>
                <a:latin typeface="Arial"/>
                <a:ea typeface="Arial"/>
                <a:cs typeface="Arial"/>
              </a:defRPr>
            </a:lvl7pPr>
            <a:lvl8pPr>
              <a:defRPr sz="2475" b="1">
                <a:solidFill>
                  <a:srgbClr val="143D33"/>
                </a:solidFill>
                <a:latin typeface="Arial"/>
                <a:ea typeface="Arial"/>
                <a:cs typeface="Arial"/>
              </a:defRPr>
            </a:lvl8pPr>
            <a:lvl9pPr>
              <a:defRPr sz="2475" b="1">
                <a:solidFill>
                  <a:srgbClr val="143D33"/>
                </a:solidFill>
                <a:latin typeface="Arial"/>
                <a:ea typeface="Arial"/>
                <a:cs typeface="Arial"/>
              </a:defRPr>
            </a:lvl9pPr>
          </a:lstStyle>
          <a:p xmlns:a="http://schemas.openxmlformats.org/drawingml/2006/main">
            <a:pPr>
              <a:defRPr sz="2475" b="1">
                <a:solidFill>
                  <a:srgbClr val="143D33"/>
                </a:solidFill>
                <a:latin typeface="Arial"/>
                <a:ea typeface="Arial"/>
                <a:cs typeface="Arial"/>
              </a:defRPr>
            </a:pPr>
            <a:r>
              <a:rPr sz="2475" b="1">
                <a:solidFill>
                  <a:srgbClr val="143D33"/>
                </a:solidFill>
                <a:latin typeface="Arial"/>
                <a:ea typeface="Arial"/>
                <a:cs typeface="Arial"/>
              </a:rPr>
              <a:t>Who could benefit?</a:t>
            </a:r>
          </a:p>
        </p:txBody>
      </p:sp>
      <p:sp>
        <p:nvSpPr>
          <p:cNvPr id="6" name="">
            <a:extLst xmlns:a="http://schemas.openxmlformats.org/drawingml/2006/main">
              <a:ext uri="{FF2B5EF4-FFF2-40B4-BE49-F238E27FC236}">
                <a16:creationId xmlns:a16="http://schemas.microsoft.com/office/drawing/2014/main" id="{1F860459-D8DB-48B8-9F25-835C4E0EFF47}"/>
              </a:ext>
            </a:extLst>
          </p:cNvPr>
          <p:cNvSpPr>
            <a:spLocks xmlns:a="http://schemas.openxmlformats.org/drawingml/2006/main" noGrp="1"/>
          </p:cNvSpPr>
          <p:nvPr/>
        </p:nvSpPr>
        <p:spPr>
          <a:xfrm xmlns:a="http://schemas.openxmlformats.org/drawingml/2006/main">
            <a:off x="609600" y="2447925"/>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73C31"/>
                </a:solidFill>
                <a:latin typeface="Arial"/>
                <a:ea typeface="Arial"/>
                <a:cs typeface="Arial"/>
              </a:defRPr>
            </a:defPPr>
            <a:lvl1pPr>
              <a:defRPr sz="2325" b="0">
                <a:solidFill>
                  <a:srgbClr val="173C31"/>
                </a:solidFill>
                <a:latin typeface="Arial"/>
                <a:ea typeface="Arial"/>
                <a:cs typeface="Arial"/>
              </a:defRPr>
            </a:lvl1pPr>
            <a:lvl2pPr>
              <a:defRPr sz="2325" b="0">
                <a:solidFill>
                  <a:srgbClr val="173C31"/>
                </a:solidFill>
                <a:latin typeface="Arial"/>
                <a:ea typeface="Arial"/>
                <a:cs typeface="Arial"/>
              </a:defRPr>
            </a:lvl2pPr>
            <a:lvl3pPr>
              <a:defRPr sz="2325" b="0">
                <a:solidFill>
                  <a:srgbClr val="173C31"/>
                </a:solidFill>
                <a:latin typeface="Arial"/>
                <a:ea typeface="Arial"/>
                <a:cs typeface="Arial"/>
              </a:defRPr>
            </a:lvl3pPr>
            <a:lvl4pPr>
              <a:defRPr sz="2325" b="0">
                <a:solidFill>
                  <a:srgbClr val="173C31"/>
                </a:solidFill>
                <a:latin typeface="Arial"/>
                <a:ea typeface="Arial"/>
                <a:cs typeface="Arial"/>
              </a:defRPr>
            </a:lvl4pPr>
            <a:lvl5pPr>
              <a:defRPr sz="2325" b="0">
                <a:solidFill>
                  <a:srgbClr val="173C31"/>
                </a:solidFill>
                <a:latin typeface="Arial"/>
                <a:ea typeface="Arial"/>
                <a:cs typeface="Arial"/>
              </a:defRPr>
            </a:lvl5pPr>
            <a:lvl6pPr>
              <a:defRPr sz="2325" b="0">
                <a:solidFill>
                  <a:srgbClr val="173C31"/>
                </a:solidFill>
                <a:latin typeface="Arial"/>
                <a:ea typeface="Arial"/>
                <a:cs typeface="Arial"/>
              </a:defRPr>
            </a:lvl6pPr>
            <a:lvl7pPr>
              <a:defRPr sz="2325" b="0">
                <a:solidFill>
                  <a:srgbClr val="173C31"/>
                </a:solidFill>
                <a:latin typeface="Arial"/>
                <a:ea typeface="Arial"/>
                <a:cs typeface="Arial"/>
              </a:defRPr>
            </a:lvl7pPr>
            <a:lvl8pPr>
              <a:defRPr sz="2325" b="0">
                <a:solidFill>
                  <a:srgbClr val="173C31"/>
                </a:solidFill>
                <a:latin typeface="Arial"/>
                <a:ea typeface="Arial"/>
                <a:cs typeface="Arial"/>
              </a:defRPr>
            </a:lvl8pPr>
            <a:lvl9pPr>
              <a:defRPr sz="2325" b="0">
                <a:solidFill>
                  <a:srgbClr val="173C31"/>
                </a:solidFill>
                <a:latin typeface="Arial"/>
                <a:ea typeface="Arial"/>
                <a:cs typeface="Arial"/>
              </a:defRPr>
            </a:lvl9pPr>
          </a:lstStyle>
          <a:p xmlns:a="http://schemas.openxmlformats.org/drawingml/2006/main">
            <a:pPr>
              <a:defRPr sz="2325" b="0">
                <a:solidFill>
                  <a:srgbClr val="173C31"/>
                </a:solidFill>
                <a:latin typeface="Arial"/>
                <a:ea typeface="Arial"/>
                <a:cs typeface="Arial"/>
              </a:defRPr>
            </a:pPr>
            <a:r>
              <a:rPr sz="2325" b="0">
                <a:solidFill>
                  <a:srgbClr val="173C31"/>
                </a:solidFill>
                <a:latin typeface="Arial"/>
                <a:ea typeface="Arial"/>
                <a:cs typeface="Arial"/>
              </a:rPr>
              <a:t>Everyday planners and students</a:t>
            </a:r>
          </a:p>
          <a:p xmlns:a="http://schemas.openxmlformats.org/drawingml/2006/main">
            <a:pPr>
              <a:defRPr sz="2325" b="0">
                <a:solidFill>
                  <a:srgbClr val="173C31"/>
                </a:solidFill>
                <a:latin typeface="Arial"/>
                <a:ea typeface="Arial"/>
                <a:cs typeface="Arial"/>
              </a:defRPr>
            </a:pPr>
            <a:r>
              <a:rPr sz="2325" b="0">
                <a:solidFill>
                  <a:srgbClr val="173C31"/>
                </a:solidFill>
                <a:latin typeface="Arial"/>
                <a:ea typeface="Arial"/>
                <a:cs typeface="Arial"/>
              </a:rPr>
              <a:t>Potential institutional payers:</a:t>
            </a:r>
          </a:p>
          <a:p xmlns:a="http://schemas.openxmlformats.org/drawingml/2006/main">
            <a:pPr>
              <a:defRPr sz="2325" b="0">
                <a:solidFill>
                  <a:srgbClr val="173C31"/>
                </a:solidFill>
                <a:latin typeface="Arial"/>
                <a:ea typeface="Arial"/>
                <a:cs typeface="Arial"/>
              </a:defRPr>
            </a:pPr>
            <a:r>
              <a:rPr sz="2325" b="0">
                <a:solidFill>
                  <a:srgbClr val="173C31"/>
                </a:solidFill>
                <a:latin typeface="Arial"/>
                <a:ea typeface="Arial"/>
                <a:cs typeface="Arial"/>
              </a:rPr>
              <a:t>campuses, event teams and logistics firms</a:t>
            </a:r>
          </a:p>
        </p:txBody>
      </p:sp>
      <p:sp>
        <p:nvSpPr>
          <p:cNvPr id="7" name="">
            <a:extLst xmlns:a="http://schemas.openxmlformats.org/drawingml/2006/main">
              <a:ext uri="{FF2B5EF4-FFF2-40B4-BE49-F238E27FC236}">
                <a16:creationId xmlns:a16="http://schemas.microsoft.com/office/drawing/2014/main" id="{7FB7CAEA-4E3F-4576-87E5-B5E6D6D7B4E8}"/>
              </a:ext>
            </a:extLst>
          </p:cNvPr>
          <p:cNvSpPr>
            <a:spLocks xmlns:a="http://schemas.openxmlformats.org/drawingml/2006/main" noGrp="1"/>
          </p:cNvSpPr>
          <p:nvPr/>
        </p:nvSpPr>
        <p:spPr>
          <a:xfrm xmlns:a="http://schemas.openxmlformats.org/drawingml/2006/main">
            <a:off x="609600" y="47815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C31"/>
                </a:solidFill>
                <a:latin typeface="Arial"/>
                <a:ea typeface="Arial"/>
                <a:cs typeface="Arial"/>
              </a:defRPr>
            </a:defPPr>
            <a:lvl1pPr>
              <a:defRPr sz="2175" b="0">
                <a:solidFill>
                  <a:srgbClr val="173C31"/>
                </a:solidFill>
                <a:latin typeface="Arial"/>
                <a:ea typeface="Arial"/>
                <a:cs typeface="Arial"/>
              </a:defRPr>
            </a:lvl1pPr>
            <a:lvl2pPr>
              <a:defRPr sz="2175" b="0">
                <a:solidFill>
                  <a:srgbClr val="173C31"/>
                </a:solidFill>
                <a:latin typeface="Arial"/>
                <a:ea typeface="Arial"/>
                <a:cs typeface="Arial"/>
              </a:defRPr>
            </a:lvl2pPr>
            <a:lvl3pPr>
              <a:defRPr sz="2175" b="0">
                <a:solidFill>
                  <a:srgbClr val="173C31"/>
                </a:solidFill>
                <a:latin typeface="Arial"/>
                <a:ea typeface="Arial"/>
                <a:cs typeface="Arial"/>
              </a:defRPr>
            </a:lvl3pPr>
            <a:lvl4pPr>
              <a:defRPr sz="2175" b="0">
                <a:solidFill>
                  <a:srgbClr val="173C31"/>
                </a:solidFill>
                <a:latin typeface="Arial"/>
                <a:ea typeface="Arial"/>
                <a:cs typeface="Arial"/>
              </a:defRPr>
            </a:lvl4pPr>
            <a:lvl5pPr>
              <a:defRPr sz="2175" b="0">
                <a:solidFill>
                  <a:srgbClr val="173C31"/>
                </a:solidFill>
                <a:latin typeface="Arial"/>
                <a:ea typeface="Arial"/>
                <a:cs typeface="Arial"/>
              </a:defRPr>
            </a:lvl5pPr>
            <a:lvl6pPr>
              <a:defRPr sz="2175" b="0">
                <a:solidFill>
                  <a:srgbClr val="173C31"/>
                </a:solidFill>
                <a:latin typeface="Arial"/>
                <a:ea typeface="Arial"/>
                <a:cs typeface="Arial"/>
              </a:defRPr>
            </a:lvl6pPr>
            <a:lvl7pPr>
              <a:defRPr sz="2175" b="0">
                <a:solidFill>
                  <a:srgbClr val="173C31"/>
                </a:solidFill>
                <a:latin typeface="Arial"/>
                <a:ea typeface="Arial"/>
                <a:cs typeface="Arial"/>
              </a:defRPr>
            </a:lvl7pPr>
            <a:lvl8pPr>
              <a:defRPr sz="2175" b="0">
                <a:solidFill>
                  <a:srgbClr val="173C31"/>
                </a:solidFill>
                <a:latin typeface="Arial"/>
                <a:ea typeface="Arial"/>
                <a:cs typeface="Arial"/>
              </a:defRPr>
            </a:lvl8pPr>
            <a:lvl9pPr>
              <a:defRPr sz="2175" b="0">
                <a:solidFill>
                  <a:srgbClr val="173C31"/>
                </a:solidFill>
                <a:latin typeface="Arial"/>
                <a:ea typeface="Arial"/>
                <a:cs typeface="Arial"/>
              </a:defRPr>
            </a:lvl9pPr>
          </a:lstStyle>
          <a:p xmlns:a="http://schemas.openxmlformats.org/drawingml/2006/main">
            <a:pPr>
              <a:defRPr sz="2175" b="0">
                <a:solidFill>
                  <a:srgbClr val="173C31"/>
                </a:solidFill>
                <a:latin typeface="Arial"/>
                <a:ea typeface="Arial"/>
                <a:cs typeface="Arial"/>
              </a:defRPr>
            </a:pPr>
            <a:r>
              <a:rPr sz="2175" b="0">
                <a:solidFill>
                  <a:srgbClr val="173C31"/>
                </a:solidFill>
                <a:latin typeface="Arial"/>
                <a:ea typeface="Arial"/>
                <a:cs typeface="Arial"/>
              </a:rPr>
              <a:t>Basic public view, with paid reporting</a:t>
            </a:r>
          </a:p>
          <a:p xmlns:a="http://schemas.openxmlformats.org/drawingml/2006/main">
            <a:pPr>
              <a:defRPr sz="2175" b="0">
                <a:solidFill>
                  <a:srgbClr val="173C31"/>
                </a:solidFill>
                <a:latin typeface="Arial"/>
                <a:ea typeface="Arial"/>
                <a:cs typeface="Arial"/>
              </a:defRPr>
            </a:pPr>
            <a:r>
              <a:rPr sz="2175" b="0">
                <a:solidFill>
                  <a:srgbClr val="173C31"/>
                </a:solidFill>
                <a:latin typeface="Arial"/>
                <a:ea typeface="Arial"/>
                <a:cs typeface="Arial"/>
              </a:rPr>
              <a:t>and support as a future hypothesis</a:t>
            </a:r>
          </a:p>
        </p:txBody>
      </p:sp>
      <p:sp>
        <p:nvSpPr>
          <p:cNvPr id="8" name="">
            <a:extLst xmlns:a="http://schemas.openxmlformats.org/drawingml/2006/main">
              <a:ext uri="{FF2B5EF4-FFF2-40B4-BE49-F238E27FC236}">
                <a16:creationId xmlns:a16="http://schemas.microsoft.com/office/drawing/2014/main" id="{FEC7FD04-4109-43B3-990C-DE0E85AC9527}"/>
              </a:ext>
            </a:extLst>
          </p:cNvPr>
          <p:cNvSpPr>
            <a:spLocks xmlns:a="http://schemas.openxmlformats.org/drawingml/2006/main" noGrp="1"/>
          </p:cNvSpPr>
          <p:nvPr/>
        </p:nvSpPr>
        <p:spPr>
          <a:xfrm xmlns:a="http://schemas.openxmlformats.org/drawingml/2006/main">
            <a:off x="6591300" y="1638300"/>
            <a:ext cx="4991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43D33"/>
                </a:solidFill>
                <a:latin typeface="Arial"/>
                <a:ea typeface="Arial"/>
                <a:cs typeface="Arial"/>
              </a:defRPr>
            </a:defPPr>
            <a:lvl1pPr>
              <a:defRPr sz="2475" b="1">
                <a:solidFill>
                  <a:srgbClr val="143D33"/>
                </a:solidFill>
                <a:latin typeface="Arial"/>
                <a:ea typeface="Arial"/>
                <a:cs typeface="Arial"/>
              </a:defRPr>
            </a:lvl1pPr>
            <a:lvl2pPr>
              <a:defRPr sz="2475" b="1">
                <a:solidFill>
                  <a:srgbClr val="143D33"/>
                </a:solidFill>
                <a:latin typeface="Arial"/>
                <a:ea typeface="Arial"/>
                <a:cs typeface="Arial"/>
              </a:defRPr>
            </a:lvl2pPr>
            <a:lvl3pPr>
              <a:defRPr sz="2475" b="1">
                <a:solidFill>
                  <a:srgbClr val="143D33"/>
                </a:solidFill>
                <a:latin typeface="Arial"/>
                <a:ea typeface="Arial"/>
                <a:cs typeface="Arial"/>
              </a:defRPr>
            </a:lvl3pPr>
            <a:lvl4pPr>
              <a:defRPr sz="2475" b="1">
                <a:solidFill>
                  <a:srgbClr val="143D33"/>
                </a:solidFill>
                <a:latin typeface="Arial"/>
                <a:ea typeface="Arial"/>
                <a:cs typeface="Arial"/>
              </a:defRPr>
            </a:lvl4pPr>
            <a:lvl5pPr>
              <a:defRPr sz="2475" b="1">
                <a:solidFill>
                  <a:srgbClr val="143D33"/>
                </a:solidFill>
                <a:latin typeface="Arial"/>
                <a:ea typeface="Arial"/>
                <a:cs typeface="Arial"/>
              </a:defRPr>
            </a:lvl5pPr>
            <a:lvl6pPr>
              <a:defRPr sz="2475" b="1">
                <a:solidFill>
                  <a:srgbClr val="143D33"/>
                </a:solidFill>
                <a:latin typeface="Arial"/>
                <a:ea typeface="Arial"/>
                <a:cs typeface="Arial"/>
              </a:defRPr>
            </a:lvl6pPr>
            <a:lvl7pPr>
              <a:defRPr sz="2475" b="1">
                <a:solidFill>
                  <a:srgbClr val="143D33"/>
                </a:solidFill>
                <a:latin typeface="Arial"/>
                <a:ea typeface="Arial"/>
                <a:cs typeface="Arial"/>
              </a:defRPr>
            </a:lvl7pPr>
            <a:lvl8pPr>
              <a:defRPr sz="2475" b="1">
                <a:solidFill>
                  <a:srgbClr val="143D33"/>
                </a:solidFill>
                <a:latin typeface="Arial"/>
                <a:ea typeface="Arial"/>
                <a:cs typeface="Arial"/>
              </a:defRPr>
            </a:lvl8pPr>
            <a:lvl9pPr>
              <a:defRPr sz="2475" b="1">
                <a:solidFill>
                  <a:srgbClr val="143D33"/>
                </a:solidFill>
                <a:latin typeface="Arial"/>
                <a:ea typeface="Arial"/>
                <a:cs typeface="Arial"/>
              </a:defRPr>
            </a:lvl9pPr>
          </a:lstStyle>
          <a:p xmlns:a="http://schemas.openxmlformats.org/drawingml/2006/main">
            <a:pPr>
              <a:defRPr sz="2475" b="1">
                <a:solidFill>
                  <a:srgbClr val="143D33"/>
                </a:solidFill>
                <a:latin typeface="Arial"/>
                <a:ea typeface="Arial"/>
                <a:cs typeface="Arial"/>
              </a:defRPr>
            </a:pPr>
            <a:r>
              <a:rPr sz="2475" b="1">
                <a:solidFill>
                  <a:srgbClr val="143D33"/>
                </a:solidFill>
                <a:latin typeface="Arial"/>
                <a:ea typeface="Arial"/>
                <a:cs typeface="Arial"/>
              </a:rPr>
              <a:t>What would it cost?</a:t>
            </a:r>
          </a:p>
        </p:txBody>
      </p:sp>
      <p:sp>
        <p:nvSpPr>
          <p:cNvPr id="9" name="">
            <a:extLst xmlns:a="http://schemas.openxmlformats.org/drawingml/2006/main">
              <a:ext uri="{FF2B5EF4-FFF2-40B4-BE49-F238E27FC236}">
                <a16:creationId xmlns:a16="http://schemas.microsoft.com/office/drawing/2014/main" id="{608F550F-7208-43B4-B296-6CD57B753128}"/>
              </a:ext>
            </a:extLst>
          </p:cNvPr>
          <p:cNvSpPr>
            <a:spLocks xmlns:a="http://schemas.openxmlformats.org/drawingml/2006/main" noGrp="1"/>
          </p:cNvSpPr>
          <p:nvPr/>
        </p:nvSpPr>
        <p:spPr>
          <a:xfrm xmlns:a="http://schemas.openxmlformats.org/drawingml/2006/main">
            <a:off x="6591300" y="2447925"/>
            <a:ext cx="49911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73C31"/>
                </a:solidFill>
                <a:latin typeface="Arial"/>
                <a:ea typeface="Arial"/>
                <a:cs typeface="Arial"/>
              </a:defRPr>
            </a:defPPr>
            <a:lvl1pPr>
              <a:defRPr sz="2325" b="0">
                <a:solidFill>
                  <a:srgbClr val="173C31"/>
                </a:solidFill>
                <a:latin typeface="Arial"/>
                <a:ea typeface="Arial"/>
                <a:cs typeface="Arial"/>
              </a:defRPr>
            </a:lvl1pPr>
            <a:lvl2pPr>
              <a:defRPr sz="2325" b="0">
                <a:solidFill>
                  <a:srgbClr val="173C31"/>
                </a:solidFill>
                <a:latin typeface="Arial"/>
                <a:ea typeface="Arial"/>
                <a:cs typeface="Arial"/>
              </a:defRPr>
            </a:lvl2pPr>
            <a:lvl3pPr>
              <a:defRPr sz="2325" b="0">
                <a:solidFill>
                  <a:srgbClr val="173C31"/>
                </a:solidFill>
                <a:latin typeface="Arial"/>
                <a:ea typeface="Arial"/>
                <a:cs typeface="Arial"/>
              </a:defRPr>
            </a:lvl3pPr>
            <a:lvl4pPr>
              <a:defRPr sz="2325" b="0">
                <a:solidFill>
                  <a:srgbClr val="173C31"/>
                </a:solidFill>
                <a:latin typeface="Arial"/>
                <a:ea typeface="Arial"/>
                <a:cs typeface="Arial"/>
              </a:defRPr>
            </a:lvl4pPr>
            <a:lvl5pPr>
              <a:defRPr sz="2325" b="0">
                <a:solidFill>
                  <a:srgbClr val="173C31"/>
                </a:solidFill>
                <a:latin typeface="Arial"/>
                <a:ea typeface="Arial"/>
                <a:cs typeface="Arial"/>
              </a:defRPr>
            </a:lvl5pPr>
            <a:lvl6pPr>
              <a:defRPr sz="2325" b="0">
                <a:solidFill>
                  <a:srgbClr val="173C31"/>
                </a:solidFill>
                <a:latin typeface="Arial"/>
                <a:ea typeface="Arial"/>
                <a:cs typeface="Arial"/>
              </a:defRPr>
            </a:lvl6pPr>
            <a:lvl7pPr>
              <a:defRPr sz="2325" b="0">
                <a:solidFill>
                  <a:srgbClr val="173C31"/>
                </a:solidFill>
                <a:latin typeface="Arial"/>
                <a:ea typeface="Arial"/>
                <a:cs typeface="Arial"/>
              </a:defRPr>
            </a:lvl7pPr>
            <a:lvl8pPr>
              <a:defRPr sz="2325" b="0">
                <a:solidFill>
                  <a:srgbClr val="173C31"/>
                </a:solidFill>
                <a:latin typeface="Arial"/>
                <a:ea typeface="Arial"/>
                <a:cs typeface="Arial"/>
              </a:defRPr>
            </a:lvl8pPr>
            <a:lvl9pPr>
              <a:defRPr sz="2325" b="0">
                <a:solidFill>
                  <a:srgbClr val="173C31"/>
                </a:solidFill>
                <a:latin typeface="Arial"/>
                <a:ea typeface="Arial"/>
                <a:cs typeface="Arial"/>
              </a:defRPr>
            </a:lvl9pPr>
          </a:lstStyle>
          <a:p xmlns:a="http://schemas.openxmlformats.org/drawingml/2006/main">
            <a:pPr>
              <a:defRPr sz="2325" b="0">
                <a:solidFill>
                  <a:srgbClr val="173C31"/>
                </a:solidFill>
                <a:latin typeface="Arial"/>
                <a:ea typeface="Arial"/>
                <a:cs typeface="Arial"/>
              </a:defRPr>
            </a:pPr>
            <a:r>
              <a:rPr sz="2325" b="0">
                <a:solidFill>
                  <a:srgbClr val="173C31"/>
                </a:solidFill>
                <a:latin typeface="Arial"/>
                <a:ea typeface="Arial"/>
                <a:cs typeface="Arial"/>
              </a:rPr>
              <a:t>Current free static prototype</a:t>
            </a:r>
          </a:p>
          <a:p xmlns:a="http://schemas.openxmlformats.org/drawingml/2006/main">
            <a:pPr>
              <a:defRPr sz="2325" b="0">
                <a:solidFill>
                  <a:srgbClr val="173C31"/>
                </a:solidFill>
                <a:latin typeface="Arial"/>
                <a:ea typeface="Arial"/>
                <a:cs typeface="Arial"/>
              </a:defRPr>
            </a:pPr>
            <a:r>
              <a:rPr sz="2325" b="0">
                <a:solidFill>
                  <a:srgbClr val="173C31"/>
                </a:solidFill>
                <a:latin typeface="Arial"/>
                <a:ea typeface="Arial"/>
                <a:cs typeface="Arial"/>
              </a:rPr>
              <a:t>Hourly GitHub pipeline</a:t>
            </a:r>
          </a:p>
          <a:p xmlns:a="http://schemas.openxmlformats.org/drawingml/2006/main">
            <a:pPr>
              <a:defRPr sz="2325" b="0">
                <a:solidFill>
                  <a:srgbClr val="173C31"/>
                </a:solidFill>
                <a:latin typeface="Arial"/>
                <a:ea typeface="Arial"/>
                <a:cs typeface="Arial"/>
              </a:defRPr>
            </a:pPr>
            <a:r>
              <a:rPr sz="2325" b="0">
                <a:solidFill>
                  <a:srgbClr val="173C31"/>
                </a:solidFill>
                <a:latin typeface="Arial"/>
                <a:ea typeface="Arial"/>
                <a:cs typeface="Arial"/>
              </a:rPr>
              <a:t>Commercial weather-data rights</a:t>
            </a:r>
          </a:p>
          <a:p xmlns:a="http://schemas.openxmlformats.org/drawingml/2006/main">
            <a:pPr>
              <a:defRPr sz="2325" b="0">
                <a:solidFill>
                  <a:srgbClr val="173C31"/>
                </a:solidFill>
                <a:latin typeface="Arial"/>
                <a:ea typeface="Arial"/>
                <a:cs typeface="Arial"/>
              </a:defRPr>
            </a:pPr>
            <a:r>
              <a:rPr sz="2325" b="0">
                <a:solidFill>
                  <a:srgbClr val="173C31"/>
                </a:solidFill>
                <a:latin typeface="Arial"/>
                <a:ea typeface="Arial"/>
                <a:cs typeface="Arial"/>
              </a:rPr>
              <a:t>Maintenance and support</a:t>
            </a:r>
          </a:p>
        </p:txBody>
      </p:sp>
      <p:sp>
        <p:nvSpPr>
          <p:cNvPr id="10" name="">
            <a:extLst xmlns:a="http://schemas.openxmlformats.org/drawingml/2006/main">
              <a:ext uri="{FF2B5EF4-FFF2-40B4-BE49-F238E27FC236}">
                <a16:creationId xmlns:a16="http://schemas.microsoft.com/office/drawing/2014/main" id="{7EACD2BC-AC18-4A11-B306-2D22ACD7C1FC}"/>
              </a:ext>
            </a:extLst>
          </p:cNvPr>
          <p:cNvSpPr>
            <a:spLocks xmlns:a="http://schemas.openxmlformats.org/drawingml/2006/main" noGrp="1"/>
          </p:cNvSpPr>
          <p:nvPr/>
        </p:nvSpPr>
        <p:spPr>
          <a:xfrm xmlns:a="http://schemas.openxmlformats.org/drawingml/2006/main">
            <a:off x="6591300" y="4895850"/>
            <a:ext cx="4991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B15C32"/>
                </a:solidFill>
                <a:latin typeface="Arial"/>
                <a:ea typeface="Arial"/>
                <a:cs typeface="Arial"/>
              </a:defRPr>
            </a:defPPr>
            <a:lvl1pPr>
              <a:defRPr sz="2175" b="1">
                <a:solidFill>
                  <a:srgbClr val="B15C32"/>
                </a:solidFill>
                <a:latin typeface="Arial"/>
                <a:ea typeface="Arial"/>
                <a:cs typeface="Arial"/>
              </a:defRPr>
            </a:lvl1pPr>
            <a:lvl2pPr>
              <a:defRPr sz="2175" b="1">
                <a:solidFill>
                  <a:srgbClr val="B15C32"/>
                </a:solidFill>
                <a:latin typeface="Arial"/>
                <a:ea typeface="Arial"/>
                <a:cs typeface="Arial"/>
              </a:defRPr>
            </a:lvl2pPr>
            <a:lvl3pPr>
              <a:defRPr sz="2175" b="1">
                <a:solidFill>
                  <a:srgbClr val="B15C32"/>
                </a:solidFill>
                <a:latin typeface="Arial"/>
                <a:ea typeface="Arial"/>
                <a:cs typeface="Arial"/>
              </a:defRPr>
            </a:lvl3pPr>
            <a:lvl4pPr>
              <a:defRPr sz="2175" b="1">
                <a:solidFill>
                  <a:srgbClr val="B15C32"/>
                </a:solidFill>
                <a:latin typeface="Arial"/>
                <a:ea typeface="Arial"/>
                <a:cs typeface="Arial"/>
              </a:defRPr>
            </a:lvl4pPr>
            <a:lvl5pPr>
              <a:defRPr sz="2175" b="1">
                <a:solidFill>
                  <a:srgbClr val="B15C32"/>
                </a:solidFill>
                <a:latin typeface="Arial"/>
                <a:ea typeface="Arial"/>
                <a:cs typeface="Arial"/>
              </a:defRPr>
            </a:lvl5pPr>
            <a:lvl6pPr>
              <a:defRPr sz="2175" b="1">
                <a:solidFill>
                  <a:srgbClr val="B15C32"/>
                </a:solidFill>
                <a:latin typeface="Arial"/>
                <a:ea typeface="Arial"/>
                <a:cs typeface="Arial"/>
              </a:defRPr>
            </a:lvl6pPr>
            <a:lvl7pPr>
              <a:defRPr sz="2175" b="1">
                <a:solidFill>
                  <a:srgbClr val="B15C32"/>
                </a:solidFill>
                <a:latin typeface="Arial"/>
                <a:ea typeface="Arial"/>
                <a:cs typeface="Arial"/>
              </a:defRPr>
            </a:lvl7pPr>
            <a:lvl8pPr>
              <a:defRPr sz="2175" b="1">
                <a:solidFill>
                  <a:srgbClr val="B15C32"/>
                </a:solidFill>
                <a:latin typeface="Arial"/>
                <a:ea typeface="Arial"/>
                <a:cs typeface="Arial"/>
              </a:defRPr>
            </a:lvl8pPr>
            <a:lvl9pPr>
              <a:defRPr sz="2175" b="1">
                <a:solidFill>
                  <a:srgbClr val="B15C32"/>
                </a:solidFill>
                <a:latin typeface="Arial"/>
                <a:ea typeface="Arial"/>
                <a:cs typeface="Arial"/>
              </a:defRPr>
            </a:lvl9pPr>
          </a:lstStyle>
          <a:p xmlns:a="http://schemas.openxmlformats.org/drawingml/2006/main">
            <a:pPr>
              <a:defRPr sz="2175" b="1">
                <a:solidFill>
                  <a:srgbClr val="B15C32"/>
                </a:solidFill>
                <a:latin typeface="Arial"/>
                <a:ea typeface="Arial"/>
                <a:cs typeface="Arial"/>
              </a:defRPr>
            </a:pPr>
            <a:r>
              <a:rPr sz="2175" b="1">
                <a:solidFill>
                  <a:srgbClr val="B15C32"/>
                </a:solidFill>
                <a:latin typeface="Arial"/>
                <a:ea typeface="Arial"/>
                <a:cs typeface="Arial"/>
              </a:rPr>
              <a:t>No verified paying customers or measured impact yet</a:t>
            </a:r>
          </a:p>
        </p:txBody>
      </p:sp>
    </p:spTree>
    <p:extLst>
      <p:ext uri="{BB962C8B-B14F-4D97-AF65-F5344CB8AC3E}">
        <p14:creationId xmlns:p14="http://schemas.microsoft.com/office/powerpoint/2010/main" val="1533881130"/>
      </p:ext>
    </p:extLst>
  </p:cSld>
</p:sld>
</file>

<file path=ppt/slides/slide9.xml><?xml version="1.0" encoding="utf-8"?>
<p:sld xmlns:p="http://schemas.openxmlformats.org/presentationml/2006/main">
  <p:cSld>
    <p:bg>
      <p:bgPr>
        <a:solidFill xmlns:a="http://schemas.openxmlformats.org/drawingml/2006/main">
          <a:srgbClr val="143D3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E5BEB9F-C121-4528-BF5C-B7E3695C1277}"/>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Team contributions and questions</a:t>
            </a:r>
          </a:p>
        </p:txBody>
      </p:sp>
      <p:sp>
        <p:nvSpPr>
          <p:cNvPr id="3" name="">
            <a:extLst xmlns:a="http://schemas.openxmlformats.org/drawingml/2006/main">
              <a:ext uri="{FF2B5EF4-FFF2-40B4-BE49-F238E27FC236}">
                <a16:creationId xmlns:a16="http://schemas.microsoft.com/office/drawing/2014/main" id="{736D4F2B-C400-4C12-9B90-5517A3D6DAE4}"/>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D9E9B4"/>
                </a:solidFill>
                <a:latin typeface="Arial"/>
                <a:ea typeface="Arial"/>
                <a:cs typeface="Arial"/>
              </a:defRPr>
            </a:defPPr>
            <a:lvl1pPr>
              <a:defRPr sz="1200" b="0">
                <a:solidFill>
                  <a:srgbClr val="D9E9B4"/>
                </a:solidFill>
                <a:latin typeface="Arial"/>
                <a:ea typeface="Arial"/>
                <a:cs typeface="Arial"/>
              </a:defRPr>
            </a:lvl1pPr>
            <a:lvl2pPr>
              <a:defRPr sz="1200" b="0">
                <a:solidFill>
                  <a:srgbClr val="D9E9B4"/>
                </a:solidFill>
                <a:latin typeface="Arial"/>
                <a:ea typeface="Arial"/>
                <a:cs typeface="Arial"/>
              </a:defRPr>
            </a:lvl2pPr>
            <a:lvl3pPr>
              <a:defRPr sz="1200" b="0">
                <a:solidFill>
                  <a:srgbClr val="D9E9B4"/>
                </a:solidFill>
                <a:latin typeface="Arial"/>
                <a:ea typeface="Arial"/>
                <a:cs typeface="Arial"/>
              </a:defRPr>
            </a:lvl3pPr>
            <a:lvl4pPr>
              <a:defRPr sz="1200" b="0">
                <a:solidFill>
                  <a:srgbClr val="D9E9B4"/>
                </a:solidFill>
                <a:latin typeface="Arial"/>
                <a:ea typeface="Arial"/>
                <a:cs typeface="Arial"/>
              </a:defRPr>
            </a:lvl4pPr>
            <a:lvl5pPr>
              <a:defRPr sz="1200" b="0">
                <a:solidFill>
                  <a:srgbClr val="D9E9B4"/>
                </a:solidFill>
                <a:latin typeface="Arial"/>
                <a:ea typeface="Arial"/>
                <a:cs typeface="Arial"/>
              </a:defRPr>
            </a:lvl5pPr>
            <a:lvl6pPr>
              <a:defRPr sz="1200" b="0">
                <a:solidFill>
                  <a:srgbClr val="D9E9B4"/>
                </a:solidFill>
                <a:latin typeface="Arial"/>
                <a:ea typeface="Arial"/>
                <a:cs typeface="Arial"/>
              </a:defRPr>
            </a:lvl6pPr>
            <a:lvl7pPr>
              <a:defRPr sz="1200" b="0">
                <a:solidFill>
                  <a:srgbClr val="D9E9B4"/>
                </a:solidFill>
                <a:latin typeface="Arial"/>
                <a:ea typeface="Arial"/>
                <a:cs typeface="Arial"/>
              </a:defRPr>
            </a:lvl7pPr>
            <a:lvl8pPr>
              <a:defRPr sz="1200" b="0">
                <a:solidFill>
                  <a:srgbClr val="D9E9B4"/>
                </a:solidFill>
                <a:latin typeface="Arial"/>
                <a:ea typeface="Arial"/>
                <a:cs typeface="Arial"/>
              </a:defRPr>
            </a:lvl8pPr>
            <a:lvl9pPr>
              <a:defRPr sz="1200" b="0">
                <a:solidFill>
                  <a:srgbClr val="D9E9B4"/>
                </a:solidFill>
                <a:latin typeface="Arial"/>
                <a:ea typeface="Arial"/>
                <a:cs typeface="Arial"/>
              </a:defRPr>
            </a:lvl9pPr>
          </a:lstStyle>
          <a:p xmlns:a="http://schemas.openxmlformats.org/drawingml/2006/main">
            <a:pPr>
              <a:defRPr sz="1200" b="0">
                <a:solidFill>
                  <a:srgbClr val="D9E9B4"/>
                </a:solidFill>
                <a:latin typeface="Arial"/>
                <a:ea typeface="Arial"/>
                <a:cs typeface="Arial"/>
              </a:defRPr>
            </a:pPr>
            <a:r>
              <a:rPr sz="1200" b="0">
                <a:solidFill>
                  <a:srgbClr val="D9E9B4"/>
                </a:solidFill>
                <a:latin typeface="Arial"/>
                <a:ea typeface="Arial"/>
                <a:cs typeface="Arial"/>
              </a:rPr>
              <a:t>HeatShift  /  HackInsight 26</a:t>
            </a:r>
          </a:p>
        </p:txBody>
      </p:sp>
      <p:sp>
        <p:nvSpPr>
          <p:cNvPr id="4" name="">
            <a:extLst xmlns:a="http://schemas.openxmlformats.org/drawingml/2006/main">
              <a:ext uri="{FF2B5EF4-FFF2-40B4-BE49-F238E27FC236}">
                <a16:creationId xmlns:a16="http://schemas.microsoft.com/office/drawing/2014/main" id="{5CD111AC-A25F-440D-BC27-C618F5FEE664}"/>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D9E9B4"/>
                </a:solidFill>
                <a:latin typeface="Arial"/>
                <a:ea typeface="Arial"/>
                <a:cs typeface="Arial"/>
              </a:defRPr>
            </a:defPPr>
            <a:lvl1pPr>
              <a:defRPr sz="1200" b="0">
                <a:solidFill>
                  <a:srgbClr val="D9E9B4"/>
                </a:solidFill>
                <a:latin typeface="Arial"/>
                <a:ea typeface="Arial"/>
                <a:cs typeface="Arial"/>
              </a:defRPr>
            </a:lvl1pPr>
            <a:lvl2pPr>
              <a:defRPr sz="1200" b="0">
                <a:solidFill>
                  <a:srgbClr val="D9E9B4"/>
                </a:solidFill>
                <a:latin typeface="Arial"/>
                <a:ea typeface="Arial"/>
                <a:cs typeface="Arial"/>
              </a:defRPr>
            </a:lvl2pPr>
            <a:lvl3pPr>
              <a:defRPr sz="1200" b="0">
                <a:solidFill>
                  <a:srgbClr val="D9E9B4"/>
                </a:solidFill>
                <a:latin typeface="Arial"/>
                <a:ea typeface="Arial"/>
                <a:cs typeface="Arial"/>
              </a:defRPr>
            </a:lvl3pPr>
            <a:lvl4pPr>
              <a:defRPr sz="1200" b="0">
                <a:solidFill>
                  <a:srgbClr val="D9E9B4"/>
                </a:solidFill>
                <a:latin typeface="Arial"/>
                <a:ea typeface="Arial"/>
                <a:cs typeface="Arial"/>
              </a:defRPr>
            </a:lvl4pPr>
            <a:lvl5pPr>
              <a:defRPr sz="1200" b="0">
                <a:solidFill>
                  <a:srgbClr val="D9E9B4"/>
                </a:solidFill>
                <a:latin typeface="Arial"/>
                <a:ea typeface="Arial"/>
                <a:cs typeface="Arial"/>
              </a:defRPr>
            </a:lvl5pPr>
            <a:lvl6pPr>
              <a:defRPr sz="1200" b="0">
                <a:solidFill>
                  <a:srgbClr val="D9E9B4"/>
                </a:solidFill>
                <a:latin typeface="Arial"/>
                <a:ea typeface="Arial"/>
                <a:cs typeface="Arial"/>
              </a:defRPr>
            </a:lvl6pPr>
            <a:lvl7pPr>
              <a:defRPr sz="1200" b="0">
                <a:solidFill>
                  <a:srgbClr val="D9E9B4"/>
                </a:solidFill>
                <a:latin typeface="Arial"/>
                <a:ea typeface="Arial"/>
                <a:cs typeface="Arial"/>
              </a:defRPr>
            </a:lvl7pPr>
            <a:lvl8pPr>
              <a:defRPr sz="1200" b="0">
                <a:solidFill>
                  <a:srgbClr val="D9E9B4"/>
                </a:solidFill>
                <a:latin typeface="Arial"/>
                <a:ea typeface="Arial"/>
                <a:cs typeface="Arial"/>
              </a:defRPr>
            </a:lvl8pPr>
            <a:lvl9pPr>
              <a:defRPr sz="1200" b="0">
                <a:solidFill>
                  <a:srgbClr val="D9E9B4"/>
                </a:solidFill>
                <a:latin typeface="Arial"/>
                <a:ea typeface="Arial"/>
                <a:cs typeface="Arial"/>
              </a:defRPr>
            </a:lvl9pPr>
          </a:lstStyle>
          <a:p xmlns:a="http://schemas.openxmlformats.org/drawingml/2006/main">
            <a:pPr>
              <a:defRPr sz="1200" b="0">
                <a:solidFill>
                  <a:srgbClr val="D9E9B4"/>
                </a:solidFill>
                <a:latin typeface="Arial"/>
                <a:ea typeface="Arial"/>
                <a:cs typeface="Arial"/>
              </a:defRPr>
            </a:pPr>
            <a:r>
              <a:rPr sz="1200" b="0">
                <a:solidFill>
                  <a:srgbClr val="D9E9B4"/>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B3E03509-996A-43BC-9582-1D33C7294101}"/>
              </a:ext>
            </a:extLst>
          </p:cNvPr>
          <p:cNvSpPr>
            <a:spLocks xmlns:a="http://schemas.openxmlformats.org/drawingml/2006/main" noGrp="1"/>
          </p:cNvSpPr>
          <p:nvPr/>
        </p:nvSpPr>
        <p:spPr>
          <a:xfrm xmlns:a="http://schemas.openxmlformats.org/drawingml/2006/main">
            <a:off x="609600" y="1762125"/>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D9E9B4"/>
                </a:solidFill>
                <a:latin typeface="Arial"/>
                <a:ea typeface="Arial"/>
                <a:cs typeface="Arial"/>
              </a:defRPr>
            </a:defPPr>
            <a:lvl1pPr>
              <a:defRPr sz="2550" b="1">
                <a:solidFill>
                  <a:srgbClr val="D9E9B4"/>
                </a:solidFill>
                <a:latin typeface="Arial"/>
                <a:ea typeface="Arial"/>
                <a:cs typeface="Arial"/>
              </a:defRPr>
            </a:lvl1pPr>
            <a:lvl2pPr>
              <a:defRPr sz="2550" b="1">
                <a:solidFill>
                  <a:srgbClr val="D9E9B4"/>
                </a:solidFill>
                <a:latin typeface="Arial"/>
                <a:ea typeface="Arial"/>
                <a:cs typeface="Arial"/>
              </a:defRPr>
            </a:lvl2pPr>
            <a:lvl3pPr>
              <a:defRPr sz="2550" b="1">
                <a:solidFill>
                  <a:srgbClr val="D9E9B4"/>
                </a:solidFill>
                <a:latin typeface="Arial"/>
                <a:ea typeface="Arial"/>
                <a:cs typeface="Arial"/>
              </a:defRPr>
            </a:lvl3pPr>
            <a:lvl4pPr>
              <a:defRPr sz="2550" b="1">
                <a:solidFill>
                  <a:srgbClr val="D9E9B4"/>
                </a:solidFill>
                <a:latin typeface="Arial"/>
                <a:ea typeface="Arial"/>
                <a:cs typeface="Arial"/>
              </a:defRPr>
            </a:lvl4pPr>
            <a:lvl5pPr>
              <a:defRPr sz="2550" b="1">
                <a:solidFill>
                  <a:srgbClr val="D9E9B4"/>
                </a:solidFill>
                <a:latin typeface="Arial"/>
                <a:ea typeface="Arial"/>
                <a:cs typeface="Arial"/>
              </a:defRPr>
            </a:lvl5pPr>
            <a:lvl6pPr>
              <a:defRPr sz="2550" b="1">
                <a:solidFill>
                  <a:srgbClr val="D9E9B4"/>
                </a:solidFill>
                <a:latin typeface="Arial"/>
                <a:ea typeface="Arial"/>
                <a:cs typeface="Arial"/>
              </a:defRPr>
            </a:lvl6pPr>
            <a:lvl7pPr>
              <a:defRPr sz="2550" b="1">
                <a:solidFill>
                  <a:srgbClr val="D9E9B4"/>
                </a:solidFill>
                <a:latin typeface="Arial"/>
                <a:ea typeface="Arial"/>
                <a:cs typeface="Arial"/>
              </a:defRPr>
            </a:lvl7pPr>
            <a:lvl8pPr>
              <a:defRPr sz="2550" b="1">
                <a:solidFill>
                  <a:srgbClr val="D9E9B4"/>
                </a:solidFill>
                <a:latin typeface="Arial"/>
                <a:ea typeface="Arial"/>
                <a:cs typeface="Arial"/>
              </a:defRPr>
            </a:lvl8pPr>
            <a:lvl9pPr>
              <a:defRPr sz="2550" b="1">
                <a:solidFill>
                  <a:srgbClr val="D9E9B4"/>
                </a:solidFill>
                <a:latin typeface="Arial"/>
                <a:ea typeface="Arial"/>
                <a:cs typeface="Arial"/>
              </a:defRPr>
            </a:lvl9pPr>
          </a:lstStyle>
          <a:p xmlns:a="http://schemas.openxmlformats.org/drawingml/2006/main">
            <a:pPr>
              <a:defRPr sz="2550" b="1">
                <a:solidFill>
                  <a:srgbClr val="D9E9B4"/>
                </a:solidFill>
                <a:latin typeface="Arial"/>
                <a:ea typeface="Arial"/>
                <a:cs typeface="Arial"/>
              </a:defRPr>
            </a:pPr>
            <a:r>
              <a:rPr sz="2550" b="1">
                <a:solidFill>
                  <a:srgbClr val="D9E9B4"/>
                </a:solidFill>
                <a:latin typeface="Arial"/>
                <a:ea typeface="Arial"/>
                <a:cs typeface="Arial"/>
              </a:rPr>
              <a:t>Waleed Irfan</a:t>
            </a:r>
          </a:p>
        </p:txBody>
      </p:sp>
      <p:sp>
        <p:nvSpPr>
          <p:cNvPr id="6" name="">
            <a:extLst xmlns:a="http://schemas.openxmlformats.org/drawingml/2006/main">
              <a:ext uri="{FF2B5EF4-FFF2-40B4-BE49-F238E27FC236}">
                <a16:creationId xmlns:a16="http://schemas.microsoft.com/office/drawing/2014/main" id="{B2FDFD40-E8C5-4363-AF17-694413CA6FE5}"/>
              </a:ext>
            </a:extLst>
          </p:cNvPr>
          <p:cNvSpPr>
            <a:spLocks xmlns:a="http://schemas.openxmlformats.org/drawingml/2006/main" noGrp="1"/>
          </p:cNvSpPr>
          <p:nvPr/>
        </p:nvSpPr>
        <p:spPr>
          <a:xfrm xmlns:a="http://schemas.openxmlformats.org/drawingml/2006/main">
            <a:off x="4857750" y="1762125"/>
            <a:ext cx="67246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FFFFFF"/>
                </a:solidFill>
                <a:latin typeface="Arial"/>
                <a:ea typeface="Arial"/>
                <a:cs typeface="Arial"/>
              </a:defRPr>
            </a:defPPr>
            <a:lvl1pPr>
              <a:defRPr sz="2250" b="0">
                <a:solidFill>
                  <a:srgbClr val="FFFFFF"/>
                </a:solidFill>
                <a:latin typeface="Arial"/>
                <a:ea typeface="Arial"/>
                <a:cs typeface="Arial"/>
              </a:defRPr>
            </a:lvl1pPr>
            <a:lvl2pPr>
              <a:defRPr sz="2250" b="0">
                <a:solidFill>
                  <a:srgbClr val="FFFFFF"/>
                </a:solidFill>
                <a:latin typeface="Arial"/>
                <a:ea typeface="Arial"/>
                <a:cs typeface="Arial"/>
              </a:defRPr>
            </a:lvl2pPr>
            <a:lvl3pPr>
              <a:defRPr sz="2250" b="0">
                <a:solidFill>
                  <a:srgbClr val="FFFFFF"/>
                </a:solidFill>
                <a:latin typeface="Arial"/>
                <a:ea typeface="Arial"/>
                <a:cs typeface="Arial"/>
              </a:defRPr>
            </a:lvl3pPr>
            <a:lvl4pPr>
              <a:defRPr sz="2250" b="0">
                <a:solidFill>
                  <a:srgbClr val="FFFFFF"/>
                </a:solidFill>
                <a:latin typeface="Arial"/>
                <a:ea typeface="Arial"/>
                <a:cs typeface="Arial"/>
              </a:defRPr>
            </a:lvl4pPr>
            <a:lvl5pPr>
              <a:defRPr sz="2250" b="0">
                <a:solidFill>
                  <a:srgbClr val="FFFFFF"/>
                </a:solidFill>
                <a:latin typeface="Arial"/>
                <a:ea typeface="Arial"/>
                <a:cs typeface="Arial"/>
              </a:defRPr>
            </a:lvl5pPr>
            <a:lvl6pPr>
              <a:defRPr sz="2250" b="0">
                <a:solidFill>
                  <a:srgbClr val="FFFFFF"/>
                </a:solidFill>
                <a:latin typeface="Arial"/>
                <a:ea typeface="Arial"/>
                <a:cs typeface="Arial"/>
              </a:defRPr>
            </a:lvl6pPr>
            <a:lvl7pPr>
              <a:defRPr sz="2250" b="0">
                <a:solidFill>
                  <a:srgbClr val="FFFFFF"/>
                </a:solidFill>
                <a:latin typeface="Arial"/>
                <a:ea typeface="Arial"/>
                <a:cs typeface="Arial"/>
              </a:defRPr>
            </a:lvl7pPr>
            <a:lvl8pPr>
              <a:defRPr sz="2250" b="0">
                <a:solidFill>
                  <a:srgbClr val="FFFFFF"/>
                </a:solidFill>
                <a:latin typeface="Arial"/>
                <a:ea typeface="Arial"/>
                <a:cs typeface="Arial"/>
              </a:defRPr>
            </a:lvl8pPr>
            <a:lvl9pPr>
              <a:defRPr sz="2250" b="0">
                <a:solidFill>
                  <a:srgbClr val="FFFFFF"/>
                </a:solidFill>
                <a:latin typeface="Arial"/>
                <a:ea typeface="Arial"/>
                <a:cs typeface="Arial"/>
              </a:defRPr>
            </a:lvl9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Prediction model development and improvement</a:t>
            </a:r>
          </a:p>
        </p:txBody>
      </p:sp>
      <p:sp>
        <p:nvSpPr>
          <p:cNvPr id="7" name="">
            <a:extLst xmlns:a="http://schemas.openxmlformats.org/drawingml/2006/main">
              <a:ext uri="{FF2B5EF4-FFF2-40B4-BE49-F238E27FC236}">
                <a16:creationId xmlns:a16="http://schemas.microsoft.com/office/drawing/2014/main" id="{191689A1-359B-419D-AC94-5CA692127D50}"/>
              </a:ext>
            </a:extLst>
          </p:cNvPr>
          <p:cNvSpPr>
            <a:spLocks xmlns:a="http://schemas.openxmlformats.org/drawingml/2006/main" noGrp="1"/>
          </p:cNvSpPr>
          <p:nvPr/>
        </p:nvSpPr>
        <p:spPr>
          <a:xfrm xmlns:a="http://schemas.openxmlformats.org/drawingml/2006/main">
            <a:off x="609600" y="2771775"/>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D9E9B4"/>
                </a:solidFill>
                <a:latin typeface="Arial"/>
                <a:ea typeface="Arial"/>
                <a:cs typeface="Arial"/>
              </a:defRPr>
            </a:defPPr>
            <a:lvl1pPr>
              <a:defRPr sz="2550" b="1">
                <a:solidFill>
                  <a:srgbClr val="D9E9B4"/>
                </a:solidFill>
                <a:latin typeface="Arial"/>
                <a:ea typeface="Arial"/>
                <a:cs typeface="Arial"/>
              </a:defRPr>
            </a:lvl1pPr>
            <a:lvl2pPr>
              <a:defRPr sz="2550" b="1">
                <a:solidFill>
                  <a:srgbClr val="D9E9B4"/>
                </a:solidFill>
                <a:latin typeface="Arial"/>
                <a:ea typeface="Arial"/>
                <a:cs typeface="Arial"/>
              </a:defRPr>
            </a:lvl2pPr>
            <a:lvl3pPr>
              <a:defRPr sz="2550" b="1">
                <a:solidFill>
                  <a:srgbClr val="D9E9B4"/>
                </a:solidFill>
                <a:latin typeface="Arial"/>
                <a:ea typeface="Arial"/>
                <a:cs typeface="Arial"/>
              </a:defRPr>
            </a:lvl3pPr>
            <a:lvl4pPr>
              <a:defRPr sz="2550" b="1">
                <a:solidFill>
                  <a:srgbClr val="D9E9B4"/>
                </a:solidFill>
                <a:latin typeface="Arial"/>
                <a:ea typeface="Arial"/>
                <a:cs typeface="Arial"/>
              </a:defRPr>
            </a:lvl4pPr>
            <a:lvl5pPr>
              <a:defRPr sz="2550" b="1">
                <a:solidFill>
                  <a:srgbClr val="D9E9B4"/>
                </a:solidFill>
                <a:latin typeface="Arial"/>
                <a:ea typeface="Arial"/>
                <a:cs typeface="Arial"/>
              </a:defRPr>
            </a:lvl5pPr>
            <a:lvl6pPr>
              <a:defRPr sz="2550" b="1">
                <a:solidFill>
                  <a:srgbClr val="D9E9B4"/>
                </a:solidFill>
                <a:latin typeface="Arial"/>
                <a:ea typeface="Arial"/>
                <a:cs typeface="Arial"/>
              </a:defRPr>
            </a:lvl6pPr>
            <a:lvl7pPr>
              <a:defRPr sz="2550" b="1">
                <a:solidFill>
                  <a:srgbClr val="D9E9B4"/>
                </a:solidFill>
                <a:latin typeface="Arial"/>
                <a:ea typeface="Arial"/>
                <a:cs typeface="Arial"/>
              </a:defRPr>
            </a:lvl7pPr>
            <a:lvl8pPr>
              <a:defRPr sz="2550" b="1">
                <a:solidFill>
                  <a:srgbClr val="D9E9B4"/>
                </a:solidFill>
                <a:latin typeface="Arial"/>
                <a:ea typeface="Arial"/>
                <a:cs typeface="Arial"/>
              </a:defRPr>
            </a:lvl8pPr>
            <a:lvl9pPr>
              <a:defRPr sz="2550" b="1">
                <a:solidFill>
                  <a:srgbClr val="D9E9B4"/>
                </a:solidFill>
                <a:latin typeface="Arial"/>
                <a:ea typeface="Arial"/>
                <a:cs typeface="Arial"/>
              </a:defRPr>
            </a:lvl9pPr>
          </a:lstStyle>
          <a:p xmlns:a="http://schemas.openxmlformats.org/drawingml/2006/main">
            <a:pPr>
              <a:defRPr sz="2550" b="1">
                <a:solidFill>
                  <a:srgbClr val="D9E9B4"/>
                </a:solidFill>
                <a:latin typeface="Arial"/>
                <a:ea typeface="Arial"/>
                <a:cs typeface="Arial"/>
              </a:defRPr>
            </a:pPr>
            <a:r>
              <a:rPr sz="2550" b="1">
                <a:solidFill>
                  <a:srgbClr val="D9E9B4"/>
                </a:solidFill>
                <a:latin typeface="Arial"/>
                <a:ea typeface="Arial"/>
                <a:cs typeface="Arial"/>
              </a:rPr>
              <a:t>Syed Mateen Ali</a:t>
            </a:r>
          </a:p>
        </p:txBody>
      </p:sp>
      <p:sp>
        <p:nvSpPr>
          <p:cNvPr id="8" name="">
            <a:extLst xmlns:a="http://schemas.openxmlformats.org/drawingml/2006/main">
              <a:ext uri="{FF2B5EF4-FFF2-40B4-BE49-F238E27FC236}">
                <a16:creationId xmlns:a16="http://schemas.microsoft.com/office/drawing/2014/main" id="{F7780218-8DC3-408C-A1B5-C724CAF129F7}"/>
              </a:ext>
            </a:extLst>
          </p:cNvPr>
          <p:cNvSpPr>
            <a:spLocks xmlns:a="http://schemas.openxmlformats.org/drawingml/2006/main" noGrp="1"/>
          </p:cNvSpPr>
          <p:nvPr/>
        </p:nvSpPr>
        <p:spPr>
          <a:xfrm xmlns:a="http://schemas.openxmlformats.org/drawingml/2006/main">
            <a:off x="4857750" y="2771775"/>
            <a:ext cx="672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FFFFFF"/>
                </a:solidFill>
                <a:latin typeface="Arial"/>
                <a:ea typeface="Arial"/>
                <a:cs typeface="Arial"/>
              </a:defRPr>
            </a:defPPr>
            <a:lvl1pPr>
              <a:defRPr sz="2250" b="0">
                <a:solidFill>
                  <a:srgbClr val="FFFFFF"/>
                </a:solidFill>
                <a:latin typeface="Arial"/>
                <a:ea typeface="Arial"/>
                <a:cs typeface="Arial"/>
              </a:defRPr>
            </a:lvl1pPr>
            <a:lvl2pPr>
              <a:defRPr sz="2250" b="0">
                <a:solidFill>
                  <a:srgbClr val="FFFFFF"/>
                </a:solidFill>
                <a:latin typeface="Arial"/>
                <a:ea typeface="Arial"/>
                <a:cs typeface="Arial"/>
              </a:defRPr>
            </a:lvl2pPr>
            <a:lvl3pPr>
              <a:defRPr sz="2250" b="0">
                <a:solidFill>
                  <a:srgbClr val="FFFFFF"/>
                </a:solidFill>
                <a:latin typeface="Arial"/>
                <a:ea typeface="Arial"/>
                <a:cs typeface="Arial"/>
              </a:defRPr>
            </a:lvl3pPr>
            <a:lvl4pPr>
              <a:defRPr sz="2250" b="0">
                <a:solidFill>
                  <a:srgbClr val="FFFFFF"/>
                </a:solidFill>
                <a:latin typeface="Arial"/>
                <a:ea typeface="Arial"/>
                <a:cs typeface="Arial"/>
              </a:defRPr>
            </a:lvl4pPr>
            <a:lvl5pPr>
              <a:defRPr sz="2250" b="0">
                <a:solidFill>
                  <a:srgbClr val="FFFFFF"/>
                </a:solidFill>
                <a:latin typeface="Arial"/>
                <a:ea typeface="Arial"/>
                <a:cs typeface="Arial"/>
              </a:defRPr>
            </a:lvl5pPr>
            <a:lvl6pPr>
              <a:defRPr sz="2250" b="0">
                <a:solidFill>
                  <a:srgbClr val="FFFFFF"/>
                </a:solidFill>
                <a:latin typeface="Arial"/>
                <a:ea typeface="Arial"/>
                <a:cs typeface="Arial"/>
              </a:defRPr>
            </a:lvl6pPr>
            <a:lvl7pPr>
              <a:defRPr sz="2250" b="0">
                <a:solidFill>
                  <a:srgbClr val="FFFFFF"/>
                </a:solidFill>
                <a:latin typeface="Arial"/>
                <a:ea typeface="Arial"/>
                <a:cs typeface="Arial"/>
              </a:defRPr>
            </a:lvl7pPr>
            <a:lvl8pPr>
              <a:defRPr sz="2250" b="0">
                <a:solidFill>
                  <a:srgbClr val="FFFFFF"/>
                </a:solidFill>
                <a:latin typeface="Arial"/>
                <a:ea typeface="Arial"/>
                <a:cs typeface="Arial"/>
              </a:defRPr>
            </a:lvl8pPr>
            <a:lvl9pPr>
              <a:defRPr sz="2250" b="0">
                <a:solidFill>
                  <a:srgbClr val="FFFFFF"/>
                </a:solidFill>
                <a:latin typeface="Arial"/>
                <a:ea typeface="Arial"/>
                <a:cs typeface="Arial"/>
              </a:defRPr>
            </a:lvl9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Development, management and maintenance</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of both AI agents</a:t>
            </a:r>
          </a:p>
        </p:txBody>
      </p:sp>
      <p:sp>
        <p:nvSpPr>
          <p:cNvPr id="9" name="">
            <a:extLst xmlns:a="http://schemas.openxmlformats.org/drawingml/2006/main">
              <a:ext uri="{FF2B5EF4-FFF2-40B4-BE49-F238E27FC236}">
                <a16:creationId xmlns:a16="http://schemas.microsoft.com/office/drawing/2014/main" id="{DB524490-DA66-4DFD-9989-05A13026E6A4}"/>
              </a:ext>
            </a:extLst>
          </p:cNvPr>
          <p:cNvSpPr>
            <a:spLocks xmlns:a="http://schemas.openxmlformats.org/drawingml/2006/main" noGrp="1"/>
          </p:cNvSpPr>
          <p:nvPr/>
        </p:nvSpPr>
        <p:spPr>
          <a:xfrm xmlns:a="http://schemas.openxmlformats.org/drawingml/2006/main">
            <a:off x="609600" y="4000500"/>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550" b="1">
                <a:solidFill>
                  <a:srgbClr val="D9E9B4"/>
                </a:solidFill>
                <a:latin typeface="Arial"/>
                <a:ea typeface="Arial"/>
                <a:cs typeface="Arial"/>
              </a:defRPr>
            </a:defPPr>
            <a:lvl1pPr>
              <a:defRPr sz="2550" b="1">
                <a:solidFill>
                  <a:srgbClr val="D9E9B4"/>
                </a:solidFill>
                <a:latin typeface="Arial"/>
                <a:ea typeface="Arial"/>
                <a:cs typeface="Arial"/>
              </a:defRPr>
            </a:lvl1pPr>
            <a:lvl2pPr>
              <a:defRPr sz="2550" b="1">
                <a:solidFill>
                  <a:srgbClr val="D9E9B4"/>
                </a:solidFill>
                <a:latin typeface="Arial"/>
                <a:ea typeface="Arial"/>
                <a:cs typeface="Arial"/>
              </a:defRPr>
            </a:lvl2pPr>
            <a:lvl3pPr>
              <a:defRPr sz="2550" b="1">
                <a:solidFill>
                  <a:srgbClr val="D9E9B4"/>
                </a:solidFill>
                <a:latin typeface="Arial"/>
                <a:ea typeface="Arial"/>
                <a:cs typeface="Arial"/>
              </a:defRPr>
            </a:lvl3pPr>
            <a:lvl4pPr>
              <a:defRPr sz="2550" b="1">
                <a:solidFill>
                  <a:srgbClr val="D9E9B4"/>
                </a:solidFill>
                <a:latin typeface="Arial"/>
                <a:ea typeface="Arial"/>
                <a:cs typeface="Arial"/>
              </a:defRPr>
            </a:lvl4pPr>
            <a:lvl5pPr>
              <a:defRPr sz="2550" b="1">
                <a:solidFill>
                  <a:srgbClr val="D9E9B4"/>
                </a:solidFill>
                <a:latin typeface="Arial"/>
                <a:ea typeface="Arial"/>
                <a:cs typeface="Arial"/>
              </a:defRPr>
            </a:lvl5pPr>
            <a:lvl6pPr>
              <a:defRPr sz="2550" b="1">
                <a:solidFill>
                  <a:srgbClr val="D9E9B4"/>
                </a:solidFill>
                <a:latin typeface="Arial"/>
                <a:ea typeface="Arial"/>
                <a:cs typeface="Arial"/>
              </a:defRPr>
            </a:lvl6pPr>
            <a:lvl7pPr>
              <a:defRPr sz="2550" b="1">
                <a:solidFill>
                  <a:srgbClr val="D9E9B4"/>
                </a:solidFill>
                <a:latin typeface="Arial"/>
                <a:ea typeface="Arial"/>
                <a:cs typeface="Arial"/>
              </a:defRPr>
            </a:lvl7pPr>
            <a:lvl8pPr>
              <a:defRPr sz="2550" b="1">
                <a:solidFill>
                  <a:srgbClr val="D9E9B4"/>
                </a:solidFill>
                <a:latin typeface="Arial"/>
                <a:ea typeface="Arial"/>
                <a:cs typeface="Arial"/>
              </a:defRPr>
            </a:lvl8pPr>
            <a:lvl9pPr>
              <a:defRPr sz="2550" b="1">
                <a:solidFill>
                  <a:srgbClr val="D9E9B4"/>
                </a:solidFill>
                <a:latin typeface="Arial"/>
                <a:ea typeface="Arial"/>
                <a:cs typeface="Arial"/>
              </a:defRPr>
            </a:lvl9pPr>
          </a:lstStyle>
          <a:p xmlns:a="http://schemas.openxmlformats.org/drawingml/2006/main">
            <a:pPr>
              <a:defRPr sz="2550" b="1">
                <a:solidFill>
                  <a:srgbClr val="D9E9B4"/>
                </a:solidFill>
                <a:latin typeface="Arial"/>
                <a:ea typeface="Arial"/>
                <a:cs typeface="Arial"/>
              </a:defRPr>
            </a:pPr>
            <a:r>
              <a:rPr sz="2550" b="1">
                <a:solidFill>
                  <a:srgbClr val="D9E9B4"/>
                </a:solidFill>
                <a:latin typeface="Arial"/>
                <a:ea typeface="Arial"/>
                <a:cs typeface="Arial"/>
              </a:rPr>
              <a:t>Aman Khan Lodhi</a:t>
            </a:r>
          </a:p>
        </p:txBody>
      </p:sp>
      <p:sp>
        <p:nvSpPr>
          <p:cNvPr id="10" name="">
            <a:extLst xmlns:a="http://schemas.openxmlformats.org/drawingml/2006/main">
              <a:ext uri="{FF2B5EF4-FFF2-40B4-BE49-F238E27FC236}">
                <a16:creationId xmlns:a16="http://schemas.microsoft.com/office/drawing/2014/main" id="{6EAF3D34-8566-4C56-A5F4-004B247C5199}"/>
              </a:ext>
            </a:extLst>
          </p:cNvPr>
          <p:cNvSpPr>
            <a:spLocks xmlns:a="http://schemas.openxmlformats.org/drawingml/2006/main" noGrp="1"/>
          </p:cNvSpPr>
          <p:nvPr/>
        </p:nvSpPr>
        <p:spPr>
          <a:xfrm xmlns:a="http://schemas.openxmlformats.org/drawingml/2006/main">
            <a:off x="4857750" y="4000500"/>
            <a:ext cx="6724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0">
                <a:solidFill>
                  <a:srgbClr val="FFFFFF"/>
                </a:solidFill>
                <a:latin typeface="Arial"/>
                <a:ea typeface="Arial"/>
                <a:cs typeface="Arial"/>
              </a:defRPr>
            </a:defPPr>
            <a:lvl1pPr>
              <a:defRPr sz="2250" b="0">
                <a:solidFill>
                  <a:srgbClr val="FFFFFF"/>
                </a:solidFill>
                <a:latin typeface="Arial"/>
                <a:ea typeface="Arial"/>
                <a:cs typeface="Arial"/>
              </a:defRPr>
            </a:lvl1pPr>
            <a:lvl2pPr>
              <a:defRPr sz="2250" b="0">
                <a:solidFill>
                  <a:srgbClr val="FFFFFF"/>
                </a:solidFill>
                <a:latin typeface="Arial"/>
                <a:ea typeface="Arial"/>
                <a:cs typeface="Arial"/>
              </a:defRPr>
            </a:lvl2pPr>
            <a:lvl3pPr>
              <a:defRPr sz="2250" b="0">
                <a:solidFill>
                  <a:srgbClr val="FFFFFF"/>
                </a:solidFill>
                <a:latin typeface="Arial"/>
                <a:ea typeface="Arial"/>
                <a:cs typeface="Arial"/>
              </a:defRPr>
            </a:lvl3pPr>
            <a:lvl4pPr>
              <a:defRPr sz="2250" b="0">
                <a:solidFill>
                  <a:srgbClr val="FFFFFF"/>
                </a:solidFill>
                <a:latin typeface="Arial"/>
                <a:ea typeface="Arial"/>
                <a:cs typeface="Arial"/>
              </a:defRPr>
            </a:lvl4pPr>
            <a:lvl5pPr>
              <a:defRPr sz="2250" b="0">
                <a:solidFill>
                  <a:srgbClr val="FFFFFF"/>
                </a:solidFill>
                <a:latin typeface="Arial"/>
                <a:ea typeface="Arial"/>
                <a:cs typeface="Arial"/>
              </a:defRPr>
            </a:lvl5pPr>
            <a:lvl6pPr>
              <a:defRPr sz="2250" b="0">
                <a:solidFill>
                  <a:srgbClr val="FFFFFF"/>
                </a:solidFill>
                <a:latin typeface="Arial"/>
                <a:ea typeface="Arial"/>
                <a:cs typeface="Arial"/>
              </a:defRPr>
            </a:lvl6pPr>
            <a:lvl7pPr>
              <a:defRPr sz="2250" b="0">
                <a:solidFill>
                  <a:srgbClr val="FFFFFF"/>
                </a:solidFill>
                <a:latin typeface="Arial"/>
                <a:ea typeface="Arial"/>
                <a:cs typeface="Arial"/>
              </a:defRPr>
            </a:lvl7pPr>
            <a:lvl8pPr>
              <a:defRPr sz="2250" b="0">
                <a:solidFill>
                  <a:srgbClr val="FFFFFF"/>
                </a:solidFill>
                <a:latin typeface="Arial"/>
                <a:ea typeface="Arial"/>
                <a:cs typeface="Arial"/>
              </a:defRPr>
            </a:lvl8pPr>
            <a:lvl9pPr>
              <a:defRPr sz="2250" b="0">
                <a:solidFill>
                  <a:srgbClr val="FFFFFF"/>
                </a:solidFill>
                <a:latin typeface="Arial"/>
                <a:ea typeface="Arial"/>
                <a:cs typeface="Arial"/>
              </a:defRPr>
            </a:lvl9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Data cleaning, warehouse management</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and related preparation</a:t>
            </a:r>
          </a:p>
        </p:txBody>
      </p:sp>
      <p:sp>
        <p:nvSpPr>
          <p:cNvPr id="11" name="">
            <a:extLst xmlns:a="http://schemas.openxmlformats.org/drawingml/2006/main">
              <a:ext uri="{FF2B5EF4-FFF2-40B4-BE49-F238E27FC236}">
                <a16:creationId xmlns:a16="http://schemas.microsoft.com/office/drawing/2014/main" id="{20949F6B-2A0A-42CA-94B8-F88D2188DEAD}"/>
              </a:ext>
            </a:extLst>
          </p:cNvPr>
          <p:cNvSpPr>
            <a:spLocks xmlns:a="http://schemas.openxmlformats.org/drawingml/2006/main" noGrp="1"/>
          </p:cNvSpPr>
          <p:nvPr/>
        </p:nvSpPr>
        <p:spPr>
          <a:xfrm xmlns:a="http://schemas.openxmlformats.org/drawingml/2006/main">
            <a:off x="609600" y="54006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D9E9B4"/>
                </a:solidFill>
                <a:latin typeface="Arial"/>
                <a:ea typeface="Arial"/>
                <a:cs typeface="Arial"/>
              </a:defRPr>
            </a:defPPr>
            <a:lvl1pPr>
              <a:defRPr sz="2175" b="0">
                <a:solidFill>
                  <a:srgbClr val="D9E9B4"/>
                </a:solidFill>
                <a:latin typeface="Arial"/>
                <a:ea typeface="Arial"/>
                <a:cs typeface="Arial"/>
              </a:defRPr>
            </a:lvl1pPr>
            <a:lvl2pPr>
              <a:defRPr sz="2175" b="0">
                <a:solidFill>
                  <a:srgbClr val="D9E9B4"/>
                </a:solidFill>
                <a:latin typeface="Arial"/>
                <a:ea typeface="Arial"/>
                <a:cs typeface="Arial"/>
              </a:defRPr>
            </a:lvl2pPr>
            <a:lvl3pPr>
              <a:defRPr sz="2175" b="0">
                <a:solidFill>
                  <a:srgbClr val="D9E9B4"/>
                </a:solidFill>
                <a:latin typeface="Arial"/>
                <a:ea typeface="Arial"/>
                <a:cs typeface="Arial"/>
              </a:defRPr>
            </a:lvl3pPr>
            <a:lvl4pPr>
              <a:defRPr sz="2175" b="0">
                <a:solidFill>
                  <a:srgbClr val="D9E9B4"/>
                </a:solidFill>
                <a:latin typeface="Arial"/>
                <a:ea typeface="Arial"/>
                <a:cs typeface="Arial"/>
              </a:defRPr>
            </a:lvl4pPr>
            <a:lvl5pPr>
              <a:defRPr sz="2175" b="0">
                <a:solidFill>
                  <a:srgbClr val="D9E9B4"/>
                </a:solidFill>
                <a:latin typeface="Arial"/>
                <a:ea typeface="Arial"/>
                <a:cs typeface="Arial"/>
              </a:defRPr>
            </a:lvl5pPr>
            <a:lvl6pPr>
              <a:defRPr sz="2175" b="0">
                <a:solidFill>
                  <a:srgbClr val="D9E9B4"/>
                </a:solidFill>
                <a:latin typeface="Arial"/>
                <a:ea typeface="Arial"/>
                <a:cs typeface="Arial"/>
              </a:defRPr>
            </a:lvl6pPr>
            <a:lvl7pPr>
              <a:defRPr sz="2175" b="0">
                <a:solidFill>
                  <a:srgbClr val="D9E9B4"/>
                </a:solidFill>
                <a:latin typeface="Arial"/>
                <a:ea typeface="Arial"/>
                <a:cs typeface="Arial"/>
              </a:defRPr>
            </a:lvl7pPr>
            <a:lvl8pPr>
              <a:defRPr sz="2175" b="0">
                <a:solidFill>
                  <a:srgbClr val="D9E9B4"/>
                </a:solidFill>
                <a:latin typeface="Arial"/>
                <a:ea typeface="Arial"/>
                <a:cs typeface="Arial"/>
              </a:defRPr>
            </a:lvl8pPr>
            <a:lvl9pPr>
              <a:defRPr sz="2175" b="0">
                <a:solidFill>
                  <a:srgbClr val="D9E9B4"/>
                </a:solidFill>
                <a:latin typeface="Arial"/>
                <a:ea typeface="Arial"/>
                <a:cs typeface="Arial"/>
              </a:defRPr>
            </a:lvl9pPr>
          </a:lstStyle>
          <a:p xmlns:a="http://schemas.openxmlformats.org/drawingml/2006/main">
            <a:pPr>
              <a:defRPr sz="2175" b="0">
                <a:solidFill>
                  <a:srgbClr val="D9E9B4"/>
                </a:solidFill>
                <a:latin typeface="Arial"/>
                <a:ea typeface="Arial"/>
                <a:cs typeface="Arial"/>
              </a:defRPr>
            </a:pPr>
            <a:r>
              <a:rPr sz="2175" b="0">
                <a:solidFill>
                  <a:srgbClr val="D9E9B4"/>
                </a:solidFill>
                <a:latin typeface="Arial"/>
                <a:ea typeface="Arial"/>
                <a:cs typeface="Arial"/>
              </a:rPr>
              <a:t>Next: recover missing provenance and test future seasons independently</a:t>
            </a:r>
          </a:p>
        </p:txBody>
      </p:sp>
    </p:spTree>
    <p:extLst>
      <p:ext uri="{BB962C8B-B14F-4D97-AF65-F5344CB8AC3E}">
        <p14:creationId xmlns:p14="http://schemas.microsoft.com/office/powerpoint/2010/main" val="719444402"/>
      </p:ext>
    </p:extLst>
  </p:cSld>
</p:sld>
</file>

<file path=ppt/slides/slide10.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668756A-6A22-48D6-BD71-70E8AC793E26}"/>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C31"/>
                </a:solidFill>
                <a:latin typeface="Arial"/>
                <a:ea typeface="Arial"/>
                <a:cs typeface="Arial"/>
              </a:defRPr>
            </a:defPPr>
            <a:lvl1pPr>
              <a:defRPr sz="3450" b="1">
                <a:solidFill>
                  <a:srgbClr val="173C31"/>
                </a:solidFill>
                <a:latin typeface="Arial"/>
                <a:ea typeface="Arial"/>
                <a:cs typeface="Arial"/>
              </a:defRPr>
            </a:lvl1pPr>
            <a:lvl2pPr>
              <a:defRPr sz="3450" b="1">
                <a:solidFill>
                  <a:srgbClr val="173C31"/>
                </a:solidFill>
                <a:latin typeface="Arial"/>
                <a:ea typeface="Arial"/>
                <a:cs typeface="Arial"/>
              </a:defRPr>
            </a:lvl2pPr>
            <a:lvl3pPr>
              <a:defRPr sz="3450" b="1">
                <a:solidFill>
                  <a:srgbClr val="173C31"/>
                </a:solidFill>
                <a:latin typeface="Arial"/>
                <a:ea typeface="Arial"/>
                <a:cs typeface="Arial"/>
              </a:defRPr>
            </a:lvl3pPr>
            <a:lvl4pPr>
              <a:defRPr sz="3450" b="1">
                <a:solidFill>
                  <a:srgbClr val="173C31"/>
                </a:solidFill>
                <a:latin typeface="Arial"/>
                <a:ea typeface="Arial"/>
                <a:cs typeface="Arial"/>
              </a:defRPr>
            </a:lvl4pPr>
            <a:lvl5pPr>
              <a:defRPr sz="3450" b="1">
                <a:solidFill>
                  <a:srgbClr val="173C31"/>
                </a:solidFill>
                <a:latin typeface="Arial"/>
                <a:ea typeface="Arial"/>
                <a:cs typeface="Arial"/>
              </a:defRPr>
            </a:lvl5pPr>
            <a:lvl6pPr>
              <a:defRPr sz="3450" b="1">
                <a:solidFill>
                  <a:srgbClr val="173C31"/>
                </a:solidFill>
                <a:latin typeface="Arial"/>
                <a:ea typeface="Arial"/>
                <a:cs typeface="Arial"/>
              </a:defRPr>
            </a:lvl6pPr>
            <a:lvl7pPr>
              <a:defRPr sz="3450" b="1">
                <a:solidFill>
                  <a:srgbClr val="173C31"/>
                </a:solidFill>
                <a:latin typeface="Arial"/>
                <a:ea typeface="Arial"/>
                <a:cs typeface="Arial"/>
              </a:defRPr>
            </a:lvl7pPr>
            <a:lvl8pPr>
              <a:defRPr sz="3450" b="1">
                <a:solidFill>
                  <a:srgbClr val="173C31"/>
                </a:solidFill>
                <a:latin typeface="Arial"/>
                <a:ea typeface="Arial"/>
                <a:cs typeface="Arial"/>
              </a:defRPr>
            </a:lvl8pPr>
            <a:lvl9pPr>
              <a:defRPr sz="3450" b="1">
                <a:solidFill>
                  <a:srgbClr val="173C31"/>
                </a:solidFill>
                <a:latin typeface="Arial"/>
                <a:ea typeface="Arial"/>
                <a:cs typeface="Arial"/>
              </a:defRPr>
            </a:lvl9pPr>
          </a:lstStyle>
          <a:p xmlns:a="http://schemas.openxmlformats.org/drawingml/2006/main">
            <a:pPr>
              <a:defRPr sz="3450" b="1">
                <a:solidFill>
                  <a:srgbClr val="173C31"/>
                </a:solidFill>
                <a:latin typeface="Arial"/>
                <a:ea typeface="Arial"/>
                <a:cs typeface="Arial"/>
              </a:defRPr>
            </a:pPr>
            <a:r>
              <a:rPr sz="3450" b="1">
                <a:solidFill>
                  <a:srgbClr val="173C31"/>
                </a:solidFill>
                <a:latin typeface="Arial"/>
                <a:ea typeface="Arial"/>
                <a:cs typeface="Arial"/>
              </a:rPr>
              <a:t>Backup: errors by group and uncertainty</a:t>
            </a:r>
          </a:p>
        </p:txBody>
      </p:sp>
      <p:sp>
        <p:nvSpPr>
          <p:cNvPr id="3" name="">
            <a:extLst xmlns:a="http://schemas.openxmlformats.org/drawingml/2006/main">
              <a:ext uri="{FF2B5EF4-FFF2-40B4-BE49-F238E27FC236}">
                <a16:creationId xmlns:a16="http://schemas.microsoft.com/office/drawing/2014/main" id="{12ED7840-EE6E-4BAD-BDC5-0005B5236520}"/>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HeatShift  /  HackInsight 26</a:t>
            </a:r>
          </a:p>
        </p:txBody>
      </p:sp>
      <p:sp>
        <p:nvSpPr>
          <p:cNvPr id="4" name="">
            <a:extLst xmlns:a="http://schemas.openxmlformats.org/drawingml/2006/main">
              <a:ext uri="{FF2B5EF4-FFF2-40B4-BE49-F238E27FC236}">
                <a16:creationId xmlns:a16="http://schemas.microsoft.com/office/drawing/2014/main" id="{F4D9723A-7519-45B6-8BC9-42DFE9308F04}"/>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E74C329E-008F-4826-82B5-138DDC6085E2}"/>
              </a:ext>
            </a:extLst>
          </p:cNvPr>
          <p:cNvGraphicFramePr/>
          <p:nvPr/>
        </p:nvGraphicFramePr>
        <p:xfrm>
          <a:off xmlns:a="http://schemas.openxmlformats.org/drawingml/2006/main" x="609600" y="1628775"/>
          <a:ext xmlns:a="http://schemas.openxmlformats.org/drawingml/2006/main" cx="6858000" cy="3667125"/>
        </p:xfrm>
        <a:graphic xmlns:a="http://schemas.openxmlformats.org/drawingml/2006/main">
          <a:graphicData uri="http://schemas.openxmlformats.org/drawingml/2006/table">
            <a:tbl>
              <a:tblPr/>
              <a:tblGrid>
                <a:gridCol w="2171700"/>
                <a:gridCol w="1143000"/>
                <a:gridCol w="1771650"/>
                <a:gridCol w="1771650"/>
              </a:tblGrid>
              <a:tr h="611188">
                <a:tc>
                  <a:txBody>
                    <a:bodyPr lIns="114300" tIns="114300" rIns="114300" bIns="114300"/>
                    <a:lstStyle/>
                    <a:p>
                      <a:r>
                        <a:rPr sz="1875" b="1">
                          <a:solidFill>
                            <a:srgbClr val="173C31"/>
                          </a:solidFill>
                          <a:latin typeface="Arial"/>
                          <a:ea typeface="Arial"/>
                          <a:cs typeface="Arial"/>
                        </a:rPr>
                        <a:t>Group</a:t>
                      </a:r>
                    </a:p>
                  </a:txBody>
                  <a:tcPr marL="91440" marR="91440" marT="45720" marB="45720">
                    <a:solidFill>
                      <a:srgbClr val="DFEAD5"/>
                    </a:solidFill>
                  </a:tcPr>
                </a:tc>
                <a:tc>
                  <a:txBody>
                    <a:bodyPr lIns="114300" tIns="114300" rIns="114300" bIns="114300"/>
                    <a:lstStyle/>
                    <a:p>
                      <a:r>
                        <a:rPr sz="1875" b="1">
                          <a:solidFill>
                            <a:srgbClr val="173C31"/>
                          </a:solidFill>
                          <a:latin typeface="Arial"/>
                          <a:ea typeface="Arial"/>
                          <a:cs typeface="Arial"/>
                        </a:rPr>
                        <a:t>Rows</a:t>
                      </a:r>
                    </a:p>
                  </a:txBody>
                  <a:tcPr marL="91440" marR="91440" marT="45720" marB="45720">
                    <a:solidFill>
                      <a:srgbClr val="DFEAD5"/>
                    </a:solidFill>
                  </a:tcPr>
                </a:tc>
                <a:tc>
                  <a:txBody>
                    <a:bodyPr lIns="114300" tIns="114300" rIns="114300" bIns="114300"/>
                    <a:lstStyle/>
                    <a:p>
                      <a:r>
                        <a:rPr sz="1875" b="1">
                          <a:solidFill>
                            <a:srgbClr val="173C31"/>
                          </a:solidFill>
                          <a:latin typeface="Arial"/>
                          <a:ea typeface="Arial"/>
                          <a:cs typeface="Arial"/>
                        </a:rPr>
                        <a:t>Model MAE</a:t>
                      </a:r>
                    </a:p>
                  </a:txBody>
                  <a:tcPr marL="91440" marR="91440" marT="45720" marB="45720">
                    <a:solidFill>
                      <a:srgbClr val="DFEAD5"/>
                    </a:solidFill>
                  </a:tcPr>
                </a:tc>
                <a:tc>
                  <a:txBody>
                    <a:bodyPr lIns="114300" tIns="114300" rIns="114300" bIns="114300"/>
                    <a:lstStyle/>
                    <a:p>
                      <a:r>
                        <a:rPr sz="1875" b="1">
                          <a:solidFill>
                            <a:srgbClr val="173C31"/>
                          </a:solidFill>
                          <a:latin typeface="Arial"/>
                          <a:ea typeface="Arial"/>
                          <a:cs typeface="Arial"/>
                        </a:rPr>
                        <a:t>Baseline MAE</a:t>
                      </a:r>
                    </a:p>
                  </a:txBody>
                  <a:tcPr marL="91440" marR="91440" marT="45720" marB="45720">
                    <a:solidFill>
                      <a:srgbClr val="DFEAD5"/>
                    </a:solidFill>
                  </a:tcPr>
                </a:tc>
              </a:tr>
              <a:tr h="611188">
                <a:tc>
                  <a:txBody>
                    <a:bodyPr lIns="114300" tIns="114300" rIns="114300" bIns="114300"/>
                    <a:lstStyle/>
                    <a:p>
                      <a:r>
                        <a:rPr sz="1875" b="0">
                          <a:solidFill>
                            <a:srgbClr val="173C31"/>
                          </a:solidFill>
                          <a:latin typeface="Arial"/>
                          <a:ea typeface="Arial"/>
                          <a:cs typeface="Arial"/>
                        </a:rPr>
                        <a:t>Karachi</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419</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1.031°C</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1.368°C</a:t>
                      </a:r>
                    </a:p>
                  </a:txBody>
                  <a:tcPr marL="91440" marR="91440" marT="45720" marB="45720">
                    <a:solidFill>
                      <a:srgbClr val="F5F6F0"/>
                    </a:solidFill>
                  </a:tcPr>
                </a:tc>
              </a:tr>
              <a:tr h="611188">
                <a:tc>
                  <a:txBody>
                    <a:bodyPr lIns="114300" tIns="114300" rIns="114300" bIns="114300"/>
                    <a:lstStyle/>
                    <a:p>
                      <a:r>
                        <a:rPr sz="1875" b="0">
                          <a:solidFill>
                            <a:srgbClr val="173C31"/>
                          </a:solidFill>
                          <a:latin typeface="Arial"/>
                          <a:ea typeface="Arial"/>
                          <a:cs typeface="Arial"/>
                        </a:rPr>
                        <a:t>Lahore</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963</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1.082°C</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1.129°C</a:t>
                      </a:r>
                    </a:p>
                  </a:txBody>
                  <a:tcPr marL="91440" marR="91440" marT="45720" marB="45720">
                    <a:solidFill>
                      <a:srgbClr val="F5F6F0"/>
                    </a:solidFill>
                  </a:tcPr>
                </a:tc>
              </a:tr>
              <a:tr h="611188">
                <a:tc>
                  <a:txBody>
                    <a:bodyPr lIns="114300" tIns="114300" rIns="114300" bIns="114300"/>
                    <a:lstStyle/>
                    <a:p>
                      <a:r>
                        <a:rPr sz="1875" b="0">
                          <a:solidFill>
                            <a:srgbClr val="173C31"/>
                          </a:solidFill>
                          <a:latin typeface="Arial"/>
                          <a:ea typeface="Arial"/>
                          <a:cs typeface="Arial"/>
                        </a:rPr>
                        <a:t>Multan</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401</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1.226°C</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1.352°C</a:t>
                      </a:r>
                    </a:p>
                  </a:txBody>
                  <a:tcPr marL="91440" marR="91440" marT="45720" marB="45720">
                    <a:solidFill>
                      <a:srgbClr val="F5F6F0"/>
                    </a:solidFill>
                  </a:tcPr>
                </a:tc>
              </a:tr>
              <a:tr h="611188">
                <a:tc>
                  <a:txBody>
                    <a:bodyPr lIns="114300" tIns="114300" rIns="114300" bIns="114300"/>
                    <a:lstStyle/>
                    <a:p>
                      <a:r>
                        <a:rPr sz="1875" b="0">
                          <a:solidFill>
                            <a:srgbClr val="173C31"/>
                          </a:solidFill>
                          <a:latin typeface="Arial"/>
                          <a:ea typeface="Arial"/>
                          <a:cs typeface="Arial"/>
                        </a:rPr>
                        <a:t>January</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775</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1.165°C</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1.074°C</a:t>
                      </a:r>
                    </a:p>
                  </a:txBody>
                  <a:tcPr marL="91440" marR="91440" marT="45720" marB="45720">
                    <a:solidFill>
                      <a:srgbClr val="F5F6F0"/>
                    </a:solidFill>
                  </a:tcPr>
                </a:tc>
              </a:tr>
              <a:tr h="611188">
                <a:tc>
                  <a:txBody>
                    <a:bodyPr lIns="114300" tIns="114300" rIns="114300" bIns="114300"/>
                    <a:lstStyle/>
                    <a:p>
                      <a:r>
                        <a:rPr sz="1875" b="0">
                          <a:solidFill>
                            <a:srgbClr val="173C31"/>
                          </a:solidFill>
                          <a:latin typeface="Arial"/>
                          <a:ea typeface="Arial"/>
                          <a:cs typeface="Arial"/>
                        </a:rPr>
                        <a:t>February</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1,008</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1.053°C</a:t>
                      </a:r>
                    </a:p>
                  </a:txBody>
                  <a:tcPr marL="91440" marR="91440" marT="45720" marB="45720">
                    <a:solidFill>
                      <a:srgbClr val="F5F6F0"/>
                    </a:solidFill>
                  </a:tcPr>
                </a:tc>
                <a:tc>
                  <a:txBody>
                    <a:bodyPr lIns="114300" tIns="114300" rIns="114300" bIns="114300"/>
                    <a:lstStyle/>
                    <a:p>
                      <a:r>
                        <a:rPr sz="1875" b="0">
                          <a:solidFill>
                            <a:srgbClr val="173C31"/>
                          </a:solidFill>
                          <a:latin typeface="Arial"/>
                          <a:ea typeface="Arial"/>
                          <a:cs typeface="Arial"/>
                        </a:rPr>
                        <a:t>1.359°C</a:t>
                      </a:r>
                    </a:p>
                  </a:txBody>
                  <a:tcPr marL="91440" marR="91440" marT="45720" marB="45720">
                    <a:solidFill>
                      <a:srgbClr val="F5F6F0"/>
                    </a:solidFill>
                  </a:tcPr>
                </a:tc>
              </a:tr>
            </a:tbl>
          </a:graphicData>
        </a:graphic>
      </p:graphicFrame>
      <p:sp>
        <p:nvSpPr>
          <p:cNvPr id="6" name="">
            <a:extLst xmlns:a="http://schemas.openxmlformats.org/drawingml/2006/main">
              <a:ext uri="{FF2B5EF4-FFF2-40B4-BE49-F238E27FC236}">
                <a16:creationId xmlns:a16="http://schemas.microsoft.com/office/drawing/2014/main" id="{890DBFA3-37E3-416B-BC85-61B15DAA83A7}"/>
              </a:ext>
            </a:extLst>
          </p:cNvPr>
          <p:cNvSpPr>
            <a:spLocks xmlns:a="http://schemas.openxmlformats.org/drawingml/2006/main" noGrp="1"/>
          </p:cNvSpPr>
          <p:nvPr/>
        </p:nvSpPr>
        <p:spPr>
          <a:xfrm xmlns:a="http://schemas.openxmlformats.org/drawingml/2006/main">
            <a:off x="7915275" y="1695450"/>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3D33"/>
                </a:solidFill>
                <a:latin typeface="Arial"/>
                <a:ea typeface="Arial"/>
                <a:cs typeface="Arial"/>
              </a:defRPr>
            </a:defPPr>
            <a:lvl1pPr>
              <a:defRPr sz="2250" b="1">
                <a:solidFill>
                  <a:srgbClr val="143D33"/>
                </a:solidFill>
                <a:latin typeface="Arial"/>
                <a:ea typeface="Arial"/>
                <a:cs typeface="Arial"/>
              </a:defRPr>
            </a:lvl1pPr>
            <a:lvl2pPr>
              <a:defRPr sz="2250" b="1">
                <a:solidFill>
                  <a:srgbClr val="143D33"/>
                </a:solidFill>
                <a:latin typeface="Arial"/>
                <a:ea typeface="Arial"/>
                <a:cs typeface="Arial"/>
              </a:defRPr>
            </a:lvl2pPr>
            <a:lvl3pPr>
              <a:defRPr sz="2250" b="1">
                <a:solidFill>
                  <a:srgbClr val="143D33"/>
                </a:solidFill>
                <a:latin typeface="Arial"/>
                <a:ea typeface="Arial"/>
                <a:cs typeface="Arial"/>
              </a:defRPr>
            </a:lvl3pPr>
            <a:lvl4pPr>
              <a:defRPr sz="2250" b="1">
                <a:solidFill>
                  <a:srgbClr val="143D33"/>
                </a:solidFill>
                <a:latin typeface="Arial"/>
                <a:ea typeface="Arial"/>
                <a:cs typeface="Arial"/>
              </a:defRPr>
            </a:lvl4pPr>
            <a:lvl5pPr>
              <a:defRPr sz="2250" b="1">
                <a:solidFill>
                  <a:srgbClr val="143D33"/>
                </a:solidFill>
                <a:latin typeface="Arial"/>
                <a:ea typeface="Arial"/>
                <a:cs typeface="Arial"/>
              </a:defRPr>
            </a:lvl5pPr>
            <a:lvl6pPr>
              <a:defRPr sz="2250" b="1">
                <a:solidFill>
                  <a:srgbClr val="143D33"/>
                </a:solidFill>
                <a:latin typeface="Arial"/>
                <a:ea typeface="Arial"/>
                <a:cs typeface="Arial"/>
              </a:defRPr>
            </a:lvl6pPr>
            <a:lvl7pPr>
              <a:defRPr sz="2250" b="1">
                <a:solidFill>
                  <a:srgbClr val="143D33"/>
                </a:solidFill>
                <a:latin typeface="Arial"/>
                <a:ea typeface="Arial"/>
                <a:cs typeface="Arial"/>
              </a:defRPr>
            </a:lvl7pPr>
            <a:lvl8pPr>
              <a:defRPr sz="2250" b="1">
                <a:solidFill>
                  <a:srgbClr val="143D33"/>
                </a:solidFill>
                <a:latin typeface="Arial"/>
                <a:ea typeface="Arial"/>
                <a:cs typeface="Arial"/>
              </a:defRPr>
            </a:lvl8pPr>
            <a:lvl9pPr>
              <a:defRPr sz="2250" b="1">
                <a:solidFill>
                  <a:srgbClr val="143D33"/>
                </a:solidFill>
                <a:latin typeface="Arial"/>
                <a:ea typeface="Arial"/>
                <a:cs typeface="Arial"/>
              </a:defRPr>
            </a:lvl9pPr>
          </a:lstStyle>
          <a:p xmlns:a="http://schemas.openxmlformats.org/drawingml/2006/main">
            <a:pPr>
              <a:defRPr sz="2250" b="1">
                <a:solidFill>
                  <a:srgbClr val="143D33"/>
                </a:solidFill>
                <a:latin typeface="Arial"/>
                <a:ea typeface="Arial"/>
                <a:cs typeface="Arial"/>
              </a:defRPr>
            </a:pPr>
            <a:r>
              <a:rPr sz="2250" b="1">
                <a:solidFill>
                  <a:srgbClr val="143D33"/>
                </a:solidFill>
                <a:latin typeface="Arial"/>
                <a:ea typeface="Arial"/>
                <a:cs typeface="Arial"/>
              </a:rPr>
              <a:t>March calibration bands</a:t>
            </a:r>
          </a:p>
        </p:txBody>
      </p:sp>
      <p:sp>
        <p:nvSpPr>
          <p:cNvPr id="7" name="">
            <a:extLst xmlns:a="http://schemas.openxmlformats.org/drawingml/2006/main">
              <a:ext uri="{FF2B5EF4-FFF2-40B4-BE49-F238E27FC236}">
                <a16:creationId xmlns:a16="http://schemas.microsoft.com/office/drawing/2014/main" id="{0D54691B-9B03-4E3D-AD57-19E4457AD7F0}"/>
              </a:ext>
            </a:extLst>
          </p:cNvPr>
          <p:cNvSpPr>
            <a:spLocks xmlns:a="http://schemas.openxmlformats.org/drawingml/2006/main" noGrp="1"/>
          </p:cNvSpPr>
          <p:nvPr/>
        </p:nvSpPr>
        <p:spPr>
          <a:xfrm xmlns:a="http://schemas.openxmlformats.org/drawingml/2006/main">
            <a:off x="7915275" y="2724150"/>
            <a:ext cx="3667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C31"/>
                </a:solidFill>
                <a:latin typeface="Arial"/>
                <a:ea typeface="Arial"/>
                <a:cs typeface="Arial"/>
              </a:defRPr>
            </a:defPPr>
            <a:lvl1pPr>
              <a:defRPr sz="2175" b="0">
                <a:solidFill>
                  <a:srgbClr val="173C31"/>
                </a:solidFill>
                <a:latin typeface="Arial"/>
                <a:ea typeface="Arial"/>
                <a:cs typeface="Arial"/>
              </a:defRPr>
            </a:lvl1pPr>
            <a:lvl2pPr>
              <a:defRPr sz="2175" b="0">
                <a:solidFill>
                  <a:srgbClr val="173C31"/>
                </a:solidFill>
                <a:latin typeface="Arial"/>
                <a:ea typeface="Arial"/>
                <a:cs typeface="Arial"/>
              </a:defRPr>
            </a:lvl2pPr>
            <a:lvl3pPr>
              <a:defRPr sz="2175" b="0">
                <a:solidFill>
                  <a:srgbClr val="173C31"/>
                </a:solidFill>
                <a:latin typeface="Arial"/>
                <a:ea typeface="Arial"/>
                <a:cs typeface="Arial"/>
              </a:defRPr>
            </a:lvl3pPr>
            <a:lvl4pPr>
              <a:defRPr sz="2175" b="0">
                <a:solidFill>
                  <a:srgbClr val="173C31"/>
                </a:solidFill>
                <a:latin typeface="Arial"/>
                <a:ea typeface="Arial"/>
                <a:cs typeface="Arial"/>
              </a:defRPr>
            </a:lvl4pPr>
            <a:lvl5pPr>
              <a:defRPr sz="2175" b="0">
                <a:solidFill>
                  <a:srgbClr val="173C31"/>
                </a:solidFill>
                <a:latin typeface="Arial"/>
                <a:ea typeface="Arial"/>
                <a:cs typeface="Arial"/>
              </a:defRPr>
            </a:lvl5pPr>
            <a:lvl6pPr>
              <a:defRPr sz="2175" b="0">
                <a:solidFill>
                  <a:srgbClr val="173C31"/>
                </a:solidFill>
                <a:latin typeface="Arial"/>
                <a:ea typeface="Arial"/>
                <a:cs typeface="Arial"/>
              </a:defRPr>
            </a:lvl6pPr>
            <a:lvl7pPr>
              <a:defRPr sz="2175" b="0">
                <a:solidFill>
                  <a:srgbClr val="173C31"/>
                </a:solidFill>
                <a:latin typeface="Arial"/>
                <a:ea typeface="Arial"/>
                <a:cs typeface="Arial"/>
              </a:defRPr>
            </a:lvl7pPr>
            <a:lvl8pPr>
              <a:defRPr sz="2175" b="0">
                <a:solidFill>
                  <a:srgbClr val="173C31"/>
                </a:solidFill>
                <a:latin typeface="Arial"/>
                <a:ea typeface="Arial"/>
                <a:cs typeface="Arial"/>
              </a:defRPr>
            </a:lvl8pPr>
            <a:lvl9pPr>
              <a:defRPr sz="2175" b="0">
                <a:solidFill>
                  <a:srgbClr val="173C31"/>
                </a:solidFill>
                <a:latin typeface="Arial"/>
                <a:ea typeface="Arial"/>
                <a:cs typeface="Arial"/>
              </a:defRPr>
            </a:lvl9pPr>
          </a:lstStyle>
          <a:p xmlns:a="http://schemas.openxmlformats.org/drawingml/2006/main">
            <a:pPr>
              <a:defRPr sz="2175" b="0">
                <a:solidFill>
                  <a:srgbClr val="173C31"/>
                </a:solidFill>
                <a:latin typeface="Arial"/>
                <a:ea typeface="Arial"/>
                <a:cs typeface="Arial"/>
              </a:defRPr>
            </a:pPr>
            <a:r>
              <a:rPr sz="2175" b="0">
                <a:solidFill>
                  <a:srgbClr val="173C31"/>
                </a:solidFill>
                <a:latin typeface="Arial"/>
                <a:ea typeface="Arial"/>
                <a:cs typeface="Arial"/>
              </a:rPr>
              <a:t>Karachi     ±2.22°C</a:t>
            </a:r>
          </a:p>
          <a:p xmlns:a="http://schemas.openxmlformats.org/drawingml/2006/main">
            <a:pPr>
              <a:defRPr sz="2175" b="0">
                <a:solidFill>
                  <a:srgbClr val="173C31"/>
                </a:solidFill>
                <a:latin typeface="Arial"/>
                <a:ea typeface="Arial"/>
                <a:cs typeface="Arial"/>
              </a:defRPr>
            </a:pPr>
            <a:r>
              <a:rPr sz="2175" b="0">
                <a:solidFill>
                  <a:srgbClr val="173C31"/>
                </a:solidFill>
                <a:latin typeface="Arial"/>
                <a:ea typeface="Arial"/>
                <a:cs typeface="Arial"/>
              </a:rPr>
              <a:t>Lahore       ±3.08°C</a:t>
            </a:r>
          </a:p>
          <a:p xmlns:a="http://schemas.openxmlformats.org/drawingml/2006/main">
            <a:pPr>
              <a:defRPr sz="2175" b="0">
                <a:solidFill>
                  <a:srgbClr val="173C31"/>
                </a:solidFill>
                <a:latin typeface="Arial"/>
                <a:ea typeface="Arial"/>
                <a:cs typeface="Arial"/>
              </a:defRPr>
            </a:pPr>
            <a:r>
              <a:rPr sz="2175" b="0">
                <a:solidFill>
                  <a:srgbClr val="173C31"/>
                </a:solidFill>
                <a:latin typeface="Arial"/>
                <a:ea typeface="Arial"/>
                <a:cs typeface="Arial"/>
              </a:rPr>
              <a:t>Multan       ±2.27°C</a:t>
            </a:r>
          </a:p>
        </p:txBody>
      </p:sp>
      <p:sp>
        <p:nvSpPr>
          <p:cNvPr id="8" name="">
            <a:extLst xmlns:a="http://schemas.openxmlformats.org/drawingml/2006/main">
              <a:ext uri="{FF2B5EF4-FFF2-40B4-BE49-F238E27FC236}">
                <a16:creationId xmlns:a16="http://schemas.microsoft.com/office/drawing/2014/main" id="{B128B269-3C93-4DF4-9CFA-350877F5733A}"/>
              </a:ext>
            </a:extLst>
          </p:cNvPr>
          <p:cNvSpPr>
            <a:spLocks xmlns:a="http://schemas.openxmlformats.org/drawingml/2006/main" noGrp="1"/>
          </p:cNvSpPr>
          <p:nvPr/>
        </p:nvSpPr>
        <p:spPr>
          <a:xfrm xmlns:a="http://schemas.openxmlformats.org/drawingml/2006/main">
            <a:off x="7915275" y="4610100"/>
            <a:ext cx="3667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B15C32"/>
                </a:solidFill>
                <a:latin typeface="Arial"/>
                <a:ea typeface="Arial"/>
                <a:cs typeface="Arial"/>
              </a:defRPr>
            </a:defPPr>
            <a:lvl1pPr>
              <a:defRPr sz="2025" b="0">
                <a:solidFill>
                  <a:srgbClr val="B15C32"/>
                </a:solidFill>
                <a:latin typeface="Arial"/>
                <a:ea typeface="Arial"/>
                <a:cs typeface="Arial"/>
              </a:defRPr>
            </a:lvl1pPr>
            <a:lvl2pPr>
              <a:defRPr sz="2025" b="0">
                <a:solidFill>
                  <a:srgbClr val="B15C32"/>
                </a:solidFill>
                <a:latin typeface="Arial"/>
                <a:ea typeface="Arial"/>
                <a:cs typeface="Arial"/>
              </a:defRPr>
            </a:lvl2pPr>
            <a:lvl3pPr>
              <a:defRPr sz="2025" b="0">
                <a:solidFill>
                  <a:srgbClr val="B15C32"/>
                </a:solidFill>
                <a:latin typeface="Arial"/>
                <a:ea typeface="Arial"/>
                <a:cs typeface="Arial"/>
              </a:defRPr>
            </a:lvl3pPr>
            <a:lvl4pPr>
              <a:defRPr sz="2025" b="0">
                <a:solidFill>
                  <a:srgbClr val="B15C32"/>
                </a:solidFill>
                <a:latin typeface="Arial"/>
                <a:ea typeface="Arial"/>
                <a:cs typeface="Arial"/>
              </a:defRPr>
            </a:lvl4pPr>
            <a:lvl5pPr>
              <a:defRPr sz="2025" b="0">
                <a:solidFill>
                  <a:srgbClr val="B15C32"/>
                </a:solidFill>
                <a:latin typeface="Arial"/>
                <a:ea typeface="Arial"/>
                <a:cs typeface="Arial"/>
              </a:defRPr>
            </a:lvl5pPr>
            <a:lvl6pPr>
              <a:defRPr sz="2025" b="0">
                <a:solidFill>
                  <a:srgbClr val="B15C32"/>
                </a:solidFill>
                <a:latin typeface="Arial"/>
                <a:ea typeface="Arial"/>
                <a:cs typeface="Arial"/>
              </a:defRPr>
            </a:lvl6pPr>
            <a:lvl7pPr>
              <a:defRPr sz="2025" b="0">
                <a:solidFill>
                  <a:srgbClr val="B15C32"/>
                </a:solidFill>
                <a:latin typeface="Arial"/>
                <a:ea typeface="Arial"/>
                <a:cs typeface="Arial"/>
              </a:defRPr>
            </a:lvl7pPr>
            <a:lvl8pPr>
              <a:defRPr sz="2025" b="0">
                <a:solidFill>
                  <a:srgbClr val="B15C32"/>
                </a:solidFill>
                <a:latin typeface="Arial"/>
                <a:ea typeface="Arial"/>
                <a:cs typeface="Arial"/>
              </a:defRPr>
            </a:lvl8pPr>
            <a:lvl9pPr>
              <a:defRPr sz="2025" b="0">
                <a:solidFill>
                  <a:srgbClr val="B15C32"/>
                </a:solidFill>
                <a:latin typeface="Arial"/>
                <a:ea typeface="Arial"/>
                <a:cs typeface="Arial"/>
              </a:defRPr>
            </a:lvl9pPr>
          </a:lstStyle>
          <a:p xmlns:a="http://schemas.openxmlformats.org/drawingml/2006/main">
            <a:pPr>
              <a:defRPr sz="2025" b="0">
                <a:solidFill>
                  <a:srgbClr val="B15C32"/>
                </a:solidFill>
                <a:latin typeface="Arial"/>
                <a:ea typeface="Arial"/>
                <a:cs typeface="Arial"/>
              </a:defRPr>
            </a:pPr>
            <a:r>
              <a:rPr sz="2025" b="0">
                <a:solidFill>
                  <a:srgbClr val="B15C32"/>
                </a:solidFill>
                <a:latin typeface="Arial"/>
                <a:ea typeface="Arial"/>
                <a:cs typeface="Arial"/>
              </a:rPr>
              <a:t>Nominal 90% ranges</a:t>
            </a:r>
          </a:p>
          <a:p xmlns:a="http://schemas.openxmlformats.org/drawingml/2006/main">
            <a:pPr>
              <a:defRPr sz="2025" b="0">
                <a:solidFill>
                  <a:srgbClr val="B15C32"/>
                </a:solidFill>
                <a:latin typeface="Arial"/>
                <a:ea typeface="Arial"/>
                <a:cs typeface="Arial"/>
              </a:defRPr>
            </a:pPr>
            <a:r>
              <a:rPr sz="2025" b="0">
                <a:solidFill>
                  <a:srgbClr val="B15C32"/>
                </a:solidFill>
                <a:latin typeface="Arial"/>
                <a:ea typeface="Arial"/>
                <a:cs typeface="Arial"/>
              </a:rPr>
              <a:t>Future coverage unknown</a:t>
            </a:r>
          </a:p>
        </p:txBody>
      </p:sp>
      <p:sp>
        <p:nvSpPr>
          <p:cNvPr id="9" name="">
            <a:extLst xmlns:a="http://schemas.openxmlformats.org/drawingml/2006/main">
              <a:ext uri="{FF2B5EF4-FFF2-40B4-BE49-F238E27FC236}">
                <a16:creationId xmlns:a16="http://schemas.microsoft.com/office/drawing/2014/main" id="{A784C39C-80AE-42FA-8430-B1AC41BA8E16}"/>
              </a:ext>
            </a:extLst>
          </p:cNvPr>
          <p:cNvSpPr>
            <a:spLocks xmlns:a="http://schemas.openxmlformats.org/drawingml/2006/main" noGrp="1"/>
          </p:cNvSpPr>
          <p:nvPr/>
        </p:nvSpPr>
        <p:spPr>
          <a:xfrm xmlns:a="http://schemas.openxmlformats.org/drawingml/2006/main">
            <a:off x="609600" y="57721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527064"/>
                </a:solidFill>
                <a:latin typeface="Arial"/>
                <a:ea typeface="Arial"/>
                <a:cs typeface="Arial"/>
              </a:defRPr>
            </a:defPPr>
            <a:lvl1pPr>
              <a:defRPr sz="1725" b="0">
                <a:solidFill>
                  <a:srgbClr val="527064"/>
                </a:solidFill>
                <a:latin typeface="Arial"/>
                <a:ea typeface="Arial"/>
                <a:cs typeface="Arial"/>
              </a:defRPr>
            </a:lvl1pPr>
            <a:lvl2pPr>
              <a:defRPr sz="1725" b="0">
                <a:solidFill>
                  <a:srgbClr val="527064"/>
                </a:solidFill>
                <a:latin typeface="Arial"/>
                <a:ea typeface="Arial"/>
                <a:cs typeface="Arial"/>
              </a:defRPr>
            </a:lvl2pPr>
            <a:lvl3pPr>
              <a:defRPr sz="1725" b="0">
                <a:solidFill>
                  <a:srgbClr val="527064"/>
                </a:solidFill>
                <a:latin typeface="Arial"/>
                <a:ea typeface="Arial"/>
                <a:cs typeface="Arial"/>
              </a:defRPr>
            </a:lvl3pPr>
            <a:lvl4pPr>
              <a:defRPr sz="1725" b="0">
                <a:solidFill>
                  <a:srgbClr val="527064"/>
                </a:solidFill>
                <a:latin typeface="Arial"/>
                <a:ea typeface="Arial"/>
                <a:cs typeface="Arial"/>
              </a:defRPr>
            </a:lvl4pPr>
            <a:lvl5pPr>
              <a:defRPr sz="1725" b="0">
                <a:solidFill>
                  <a:srgbClr val="527064"/>
                </a:solidFill>
                <a:latin typeface="Arial"/>
                <a:ea typeface="Arial"/>
                <a:cs typeface="Arial"/>
              </a:defRPr>
            </a:lvl5pPr>
            <a:lvl6pPr>
              <a:defRPr sz="1725" b="0">
                <a:solidFill>
                  <a:srgbClr val="527064"/>
                </a:solidFill>
                <a:latin typeface="Arial"/>
                <a:ea typeface="Arial"/>
                <a:cs typeface="Arial"/>
              </a:defRPr>
            </a:lvl6pPr>
            <a:lvl7pPr>
              <a:defRPr sz="1725" b="0">
                <a:solidFill>
                  <a:srgbClr val="527064"/>
                </a:solidFill>
                <a:latin typeface="Arial"/>
                <a:ea typeface="Arial"/>
                <a:cs typeface="Arial"/>
              </a:defRPr>
            </a:lvl7pPr>
            <a:lvl8pPr>
              <a:defRPr sz="1725" b="0">
                <a:solidFill>
                  <a:srgbClr val="527064"/>
                </a:solidFill>
                <a:latin typeface="Arial"/>
                <a:ea typeface="Arial"/>
                <a:cs typeface="Arial"/>
              </a:defRPr>
            </a:lvl8pPr>
            <a:lvl9pPr>
              <a:defRPr sz="1725" b="0">
                <a:solidFill>
                  <a:srgbClr val="527064"/>
                </a:solidFill>
                <a:latin typeface="Arial"/>
                <a:ea typeface="Arial"/>
                <a:cs typeface="Arial"/>
              </a:defRPr>
            </a:lvl9pPr>
          </a:lstStyle>
          <a:p xmlns:a="http://schemas.openxmlformats.org/drawingml/2006/main">
            <a:pPr>
              <a:defRPr sz="1725" b="0">
                <a:solidFill>
                  <a:srgbClr val="527064"/>
                </a:solidFill>
                <a:latin typeface="Arial"/>
                <a:ea typeface="Arial"/>
                <a:cs typeface="Arial"/>
              </a:defRPr>
            </a:pPr>
            <a:r>
              <a:rPr sz="1725" b="0">
                <a:solidFill>
                  <a:srgbClr val="527064"/>
                </a:solidFill>
                <a:latin typeface="Arial"/>
                <a:ea typeface="Arial"/>
                <a:cs typeface="Arial"/>
              </a:rPr>
              <a:t>Baseline repeats the raw current NOAA temperature on the same scored rows.</a:t>
            </a:r>
          </a:p>
        </p:txBody>
      </p:sp>
    </p:spTree>
    <p:extLst>
      <p:ext uri="{BB962C8B-B14F-4D97-AF65-F5344CB8AC3E}">
        <p14:creationId xmlns:p14="http://schemas.microsoft.com/office/powerpoint/2010/main" val="995337877"/>
      </p:ext>
    </p:extLst>
  </p:cSld>
</p:sld>
</file>

<file path=ppt/slides/slide11.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E6ADD83-0167-4870-B410-C343746BC76C}"/>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C31"/>
                </a:solidFill>
                <a:latin typeface="Arial"/>
                <a:ea typeface="Arial"/>
                <a:cs typeface="Arial"/>
              </a:defRPr>
            </a:defPPr>
            <a:lvl1pPr>
              <a:defRPr sz="3450" b="1">
                <a:solidFill>
                  <a:srgbClr val="173C31"/>
                </a:solidFill>
                <a:latin typeface="Arial"/>
                <a:ea typeface="Arial"/>
                <a:cs typeface="Arial"/>
              </a:defRPr>
            </a:lvl1pPr>
            <a:lvl2pPr>
              <a:defRPr sz="3450" b="1">
                <a:solidFill>
                  <a:srgbClr val="173C31"/>
                </a:solidFill>
                <a:latin typeface="Arial"/>
                <a:ea typeface="Arial"/>
                <a:cs typeface="Arial"/>
              </a:defRPr>
            </a:lvl2pPr>
            <a:lvl3pPr>
              <a:defRPr sz="3450" b="1">
                <a:solidFill>
                  <a:srgbClr val="173C31"/>
                </a:solidFill>
                <a:latin typeface="Arial"/>
                <a:ea typeface="Arial"/>
                <a:cs typeface="Arial"/>
              </a:defRPr>
            </a:lvl3pPr>
            <a:lvl4pPr>
              <a:defRPr sz="3450" b="1">
                <a:solidFill>
                  <a:srgbClr val="173C31"/>
                </a:solidFill>
                <a:latin typeface="Arial"/>
                <a:ea typeface="Arial"/>
                <a:cs typeface="Arial"/>
              </a:defRPr>
            </a:lvl4pPr>
            <a:lvl5pPr>
              <a:defRPr sz="3450" b="1">
                <a:solidFill>
                  <a:srgbClr val="173C31"/>
                </a:solidFill>
                <a:latin typeface="Arial"/>
                <a:ea typeface="Arial"/>
                <a:cs typeface="Arial"/>
              </a:defRPr>
            </a:lvl5pPr>
            <a:lvl6pPr>
              <a:defRPr sz="3450" b="1">
                <a:solidFill>
                  <a:srgbClr val="173C31"/>
                </a:solidFill>
                <a:latin typeface="Arial"/>
                <a:ea typeface="Arial"/>
                <a:cs typeface="Arial"/>
              </a:defRPr>
            </a:lvl6pPr>
            <a:lvl7pPr>
              <a:defRPr sz="3450" b="1">
                <a:solidFill>
                  <a:srgbClr val="173C31"/>
                </a:solidFill>
                <a:latin typeface="Arial"/>
                <a:ea typeface="Arial"/>
                <a:cs typeface="Arial"/>
              </a:defRPr>
            </a:lvl7pPr>
            <a:lvl8pPr>
              <a:defRPr sz="3450" b="1">
                <a:solidFill>
                  <a:srgbClr val="173C31"/>
                </a:solidFill>
                <a:latin typeface="Arial"/>
                <a:ea typeface="Arial"/>
                <a:cs typeface="Arial"/>
              </a:defRPr>
            </a:lvl8pPr>
            <a:lvl9pPr>
              <a:defRPr sz="3450" b="1">
                <a:solidFill>
                  <a:srgbClr val="173C31"/>
                </a:solidFill>
                <a:latin typeface="Arial"/>
                <a:ea typeface="Arial"/>
                <a:cs typeface="Arial"/>
              </a:defRPr>
            </a:lvl9pPr>
          </a:lstStyle>
          <a:p xmlns:a="http://schemas.openxmlformats.org/drawingml/2006/main">
            <a:pPr>
              <a:defRPr sz="3450" b="1">
                <a:solidFill>
                  <a:srgbClr val="173C31"/>
                </a:solidFill>
                <a:latin typeface="Arial"/>
                <a:ea typeface="Arial"/>
                <a:cs typeface="Arial"/>
              </a:defRPr>
            </a:pPr>
            <a:r>
              <a:rPr sz="3450" b="1">
                <a:solidFill>
                  <a:srgbClr val="173C31"/>
                </a:solidFill>
                <a:latin typeface="Arial"/>
                <a:ea typeface="Arial"/>
                <a:cs typeface="Arial"/>
              </a:rPr>
              <a:t>Backup: effort, speed and memory</a:t>
            </a:r>
          </a:p>
        </p:txBody>
      </p:sp>
      <p:sp>
        <p:nvSpPr>
          <p:cNvPr id="3" name="">
            <a:extLst xmlns:a="http://schemas.openxmlformats.org/drawingml/2006/main">
              <a:ext uri="{FF2B5EF4-FFF2-40B4-BE49-F238E27FC236}">
                <a16:creationId xmlns:a16="http://schemas.microsoft.com/office/drawing/2014/main" id="{5EC8273C-624C-4276-A748-3BE6B9FB8A1A}"/>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HeatShift  /  HackInsight 26</a:t>
            </a:r>
          </a:p>
        </p:txBody>
      </p:sp>
      <p:sp>
        <p:nvSpPr>
          <p:cNvPr id="4" name="">
            <a:extLst xmlns:a="http://schemas.openxmlformats.org/drawingml/2006/main">
              <a:ext uri="{FF2B5EF4-FFF2-40B4-BE49-F238E27FC236}">
                <a16:creationId xmlns:a16="http://schemas.microsoft.com/office/drawing/2014/main" id="{A210BF57-57E4-4D46-868F-0B745B97B0C9}"/>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43C395CE-7B11-4281-B486-8B182DDBE2E2}"/>
              </a:ext>
            </a:extLst>
          </p:cNvPr>
          <p:cNvGraphicFramePr/>
          <p:nvPr/>
        </p:nvGraphicFramePr>
        <p:xfrm>
          <a:off xmlns:a="http://schemas.openxmlformats.org/drawingml/2006/main" x="609600" y="1638300"/>
          <a:ext xmlns:a="http://schemas.openxmlformats.org/drawingml/2006/main" cx="10972800" cy="3743325"/>
        </p:xfrm>
        <a:graphic xmlns:a="http://schemas.openxmlformats.org/drawingml/2006/main">
          <a:graphicData uri="http://schemas.openxmlformats.org/drawingml/2006/table">
            <a:tbl>
              <a:tblPr/>
              <a:tblGrid>
                <a:gridCol w="3000375"/>
                <a:gridCol w="3714750"/>
                <a:gridCol w="4257675"/>
              </a:tblGrid>
              <a:tr h="623888">
                <a:tc>
                  <a:txBody>
                    <a:bodyPr lIns="95250" tIns="95250" rIns="95250" bIns="95250"/>
                    <a:lstStyle/>
                    <a:p>
                      <a:r>
                        <a:rPr sz="1800" b="1">
                          <a:solidFill>
                            <a:srgbClr val="173C31"/>
                          </a:solidFill>
                          <a:latin typeface="Arial"/>
                          <a:ea typeface="Arial"/>
                          <a:cs typeface="Arial"/>
                        </a:rPr>
                        <a:t>Measurement</a:t>
                      </a:r>
                    </a:p>
                  </a:txBody>
                  <a:tcPr marL="91440" marR="91440" marT="45720" marB="45720">
                    <a:solidFill>
                      <a:srgbClr val="DFEAD5"/>
                    </a:solidFill>
                  </a:tcPr>
                </a:tc>
                <a:tc>
                  <a:txBody>
                    <a:bodyPr lIns="95250" tIns="95250" rIns="95250" bIns="95250"/>
                    <a:lstStyle/>
                    <a:p>
                      <a:r>
                        <a:rPr sz="1800" b="1">
                          <a:solidFill>
                            <a:srgbClr val="173C31"/>
                          </a:solidFill>
                          <a:latin typeface="Arial"/>
                          <a:ea typeface="Arial"/>
                          <a:cs typeface="Arial"/>
                        </a:rPr>
                        <a:t>Recorded result</a:t>
                      </a:r>
                    </a:p>
                  </a:txBody>
                  <a:tcPr marL="91440" marR="91440" marT="45720" marB="45720">
                    <a:solidFill>
                      <a:srgbClr val="DFEAD5"/>
                    </a:solidFill>
                  </a:tcPr>
                </a:tc>
                <a:tc>
                  <a:txBody>
                    <a:bodyPr lIns="95250" tIns="95250" rIns="95250" bIns="95250"/>
                    <a:lstStyle/>
                    <a:p>
                      <a:r>
                        <a:rPr sz="1800" b="1">
                          <a:solidFill>
                            <a:srgbClr val="173C31"/>
                          </a:solidFill>
                          <a:latin typeface="Arial"/>
                          <a:ea typeface="Arial"/>
                          <a:cs typeface="Arial"/>
                        </a:rPr>
                        <a:t>Practical limit</a:t>
                      </a:r>
                    </a:p>
                  </a:txBody>
                  <a:tcPr marL="91440" marR="91440" marT="45720" marB="45720">
                    <a:solidFill>
                      <a:srgbClr val="DFEAD5"/>
                    </a:solidFill>
                  </a:tcPr>
                </a:tc>
              </a:tr>
              <a:tr h="623888">
                <a:tc>
                  <a:txBody>
                    <a:bodyPr lIns="95250" tIns="95250" rIns="95250" bIns="95250"/>
                    <a:lstStyle/>
                    <a:p>
                      <a:r>
                        <a:rPr sz="1800" b="0">
                          <a:solidFill>
                            <a:srgbClr val="173C31"/>
                          </a:solidFill>
                          <a:latin typeface="Arial"/>
                          <a:ea typeface="Arial"/>
                          <a:cs typeface="Arial"/>
                        </a:rPr>
                        <a:t>Warm model inference</a:t>
                      </a:r>
                    </a:p>
                  </a:txBody>
                  <a:tcPr marL="91440" marR="91440" marT="45720" marB="45720">
                    <a:solidFill>
                      <a:srgbClr val="F5F6F0"/>
                    </a:solidFill>
                  </a:tcPr>
                </a:tc>
                <a:tc>
                  <a:txBody>
                    <a:bodyPr lIns="95250" tIns="95250" rIns="95250" bIns="95250"/>
                    <a:lstStyle/>
                    <a:p>
                      <a:r>
                        <a:rPr sz="1800" b="0">
                          <a:solidFill>
                            <a:srgbClr val="173C31"/>
                          </a:solidFill>
                          <a:latin typeface="Arial"/>
                          <a:ea typeface="Arial"/>
                          <a:cs typeface="Arial"/>
                        </a:rPr>
                        <a:t>80.4 ms / 2,538 rows</a:t>
                      </a:r>
                    </a:p>
                  </a:txBody>
                  <a:tcPr marL="91440" marR="91440" marT="45720" marB="45720">
                    <a:solidFill>
                      <a:srgbClr val="F5F6F0"/>
                    </a:solidFill>
                  </a:tcPr>
                </a:tc>
                <a:tc>
                  <a:txBody>
                    <a:bodyPr lIns="95250" tIns="95250" rIns="95250" bIns="95250"/>
                    <a:lstStyle/>
                    <a:p>
                      <a:r>
                        <a:rPr sz="1800" b="0">
                          <a:solidFill>
                            <a:srgbClr val="173C31"/>
                          </a:solidFill>
                          <a:latin typeface="Arial"/>
                          <a:ea typeface="Arial"/>
                          <a:cs typeface="Arial"/>
                        </a:rPr>
                        <a:t>Excludes loading and network</a:t>
                      </a:r>
                    </a:p>
                  </a:txBody>
                  <a:tcPr marL="91440" marR="91440" marT="45720" marB="45720">
                    <a:solidFill>
                      <a:srgbClr val="F5F6F0"/>
                    </a:solidFill>
                  </a:tcPr>
                </a:tc>
              </a:tr>
              <a:tr h="623888">
                <a:tc>
                  <a:txBody>
                    <a:bodyPr lIns="95250" tIns="95250" rIns="95250" bIns="95250"/>
                    <a:lstStyle/>
                    <a:p>
                      <a:r>
                        <a:rPr sz="1800" b="0">
                          <a:solidFill>
                            <a:srgbClr val="173C31"/>
                          </a:solidFill>
                          <a:latin typeface="Arial"/>
                          <a:ea typeface="Arial"/>
                          <a:cs typeface="Arial"/>
                        </a:rPr>
                        <a:t>Node heap snapshot</a:t>
                      </a:r>
                    </a:p>
                  </a:txBody>
                  <a:tcPr marL="91440" marR="91440" marT="45720" marB="45720">
                    <a:solidFill>
                      <a:srgbClr val="F5F6F0"/>
                    </a:solidFill>
                  </a:tcPr>
                </a:tc>
                <a:tc>
                  <a:txBody>
                    <a:bodyPr lIns="95250" tIns="95250" rIns="95250" bIns="95250"/>
                    <a:lstStyle/>
                    <a:p>
                      <a:r>
                        <a:rPr sz="1800" b="0">
                          <a:solidFill>
                            <a:srgbClr val="173C31"/>
                          </a:solidFill>
                          <a:latin typeface="Arial"/>
                          <a:ea typeface="Arial"/>
                          <a:cs typeface="Arial"/>
                        </a:rPr>
                        <a:t>11.0 MiB</a:t>
                      </a:r>
                    </a:p>
                  </a:txBody>
                  <a:tcPr marL="91440" marR="91440" marT="45720" marB="45720">
                    <a:solidFill>
                      <a:srgbClr val="F5F6F0"/>
                    </a:solidFill>
                  </a:tcPr>
                </a:tc>
                <a:tc>
                  <a:txBody>
                    <a:bodyPr lIns="95250" tIns="95250" rIns="95250" bIns="95250"/>
                    <a:lstStyle/>
                    <a:p>
                      <a:r>
                        <a:rPr sz="1800" b="0">
                          <a:solidFill>
                            <a:srgbClr val="173C31"/>
                          </a:solidFill>
                          <a:latin typeface="Arial"/>
                          <a:ea typeface="Arial"/>
                          <a:cs typeface="Arial"/>
                        </a:rPr>
                        <a:t>Not total browser memory</a:t>
                      </a:r>
                    </a:p>
                  </a:txBody>
                  <a:tcPr marL="91440" marR="91440" marT="45720" marB="45720">
                    <a:solidFill>
                      <a:srgbClr val="F5F6F0"/>
                    </a:solidFill>
                  </a:tcPr>
                </a:tc>
              </a:tr>
              <a:tr h="623888">
                <a:tc>
                  <a:txBody>
                    <a:bodyPr lIns="95250" tIns="95250" rIns="95250" bIns="95250"/>
                    <a:lstStyle/>
                    <a:p>
                      <a:r>
                        <a:rPr sz="1800" b="0">
                          <a:solidFill>
                            <a:srgbClr val="173C31"/>
                          </a:solidFill>
                          <a:latin typeface="Arial"/>
                          <a:ea typeface="Arial"/>
                          <a:cs typeface="Arial"/>
                        </a:rPr>
                        <a:t>Quality / insight runtime</a:t>
                      </a:r>
                    </a:p>
                  </a:txBody>
                  <a:tcPr marL="91440" marR="91440" marT="45720" marB="45720">
                    <a:solidFill>
                      <a:srgbClr val="F5F6F0"/>
                    </a:solidFill>
                  </a:tcPr>
                </a:tc>
                <a:tc>
                  <a:txBody>
                    <a:bodyPr lIns="95250" tIns="95250" rIns="95250" bIns="95250"/>
                    <a:lstStyle/>
                    <a:p>
                      <a:r>
                        <a:rPr sz="1800" b="0">
                          <a:solidFill>
                            <a:srgbClr val="173C31"/>
                          </a:solidFill>
                          <a:latin typeface="Arial"/>
                          <a:ea typeface="Arial"/>
                          <a:cs typeface="Arial"/>
                        </a:rPr>
                        <a:t>0.238 s / 0.103 s</a:t>
                      </a:r>
                    </a:p>
                  </a:txBody>
                  <a:tcPr marL="91440" marR="91440" marT="45720" marB="45720">
                    <a:solidFill>
                      <a:srgbClr val="F5F6F0"/>
                    </a:solidFill>
                  </a:tcPr>
                </a:tc>
                <a:tc>
                  <a:txBody>
                    <a:bodyPr lIns="95250" tIns="95250" rIns="95250" bIns="95250"/>
                    <a:lstStyle/>
                    <a:p>
                      <a:r>
                        <a:rPr sz="1800" b="0">
                          <a:solidFill>
                            <a:srgbClr val="173C31"/>
                          </a:solidFill>
                          <a:latin typeface="Arial"/>
                          <a:ea typeface="Arial"/>
                          <a:cs typeface="Arial"/>
                        </a:rPr>
                        <a:t>Local warm runs, 5,012 rows</a:t>
                      </a:r>
                    </a:p>
                  </a:txBody>
                  <a:tcPr marL="91440" marR="91440" marT="45720" marB="45720">
                    <a:solidFill>
                      <a:srgbClr val="F5F6F0"/>
                    </a:solidFill>
                  </a:tcPr>
                </a:tc>
              </a:tr>
              <a:tr h="623888">
                <a:tc>
                  <a:txBody>
                    <a:bodyPr lIns="95250" tIns="95250" rIns="95250" bIns="95250"/>
                    <a:lstStyle/>
                    <a:p>
                      <a:r>
                        <a:rPr sz="1800" b="0">
                          <a:solidFill>
                            <a:srgbClr val="173C31"/>
                          </a:solidFill>
                          <a:latin typeface="Arial"/>
                          <a:ea typeface="Arial"/>
                          <a:cs typeface="Arial"/>
                        </a:rPr>
                        <a:t>Browser startup</a:t>
                      </a:r>
                    </a:p>
                  </a:txBody>
                  <a:tcPr marL="91440" marR="91440" marT="45720" marB="45720">
                    <a:solidFill>
                      <a:srgbClr val="F5F6F0"/>
                    </a:solidFill>
                  </a:tcPr>
                </a:tc>
                <a:tc>
                  <a:txBody>
                    <a:bodyPr lIns="95250" tIns="95250" rIns="95250" bIns="95250"/>
                    <a:lstStyle/>
                    <a:p>
                      <a:r>
                        <a:rPr sz="1800" b="0">
                          <a:solidFill>
                            <a:srgbClr val="173C31"/>
                          </a:solidFill>
                          <a:latin typeface="Arial"/>
                          <a:ea typeface="Arial"/>
                          <a:cs typeface="Arial"/>
                        </a:rPr>
                        <a:t>About 25 MB download</a:t>
                      </a:r>
                    </a:p>
                  </a:txBody>
                  <a:tcPr marL="91440" marR="91440" marT="45720" marB="45720">
                    <a:solidFill>
                      <a:srgbClr val="F5F6F0"/>
                    </a:solidFill>
                  </a:tcPr>
                </a:tc>
                <a:tc>
                  <a:txBody>
                    <a:bodyPr lIns="95250" tIns="95250" rIns="95250" bIns="95250"/>
                    <a:lstStyle/>
                    <a:p>
                      <a:r>
                        <a:rPr sz="1800" b="0">
                          <a:solidFill>
                            <a:srgbClr val="173C31"/>
                          </a:solidFill>
                          <a:latin typeface="Arial"/>
                          <a:ea typeface="Arial"/>
                          <a:cs typeface="Arial"/>
                        </a:rPr>
                        <a:t>First use can take a minute</a:t>
                      </a:r>
                    </a:p>
                  </a:txBody>
                  <a:tcPr marL="91440" marR="91440" marT="45720" marB="45720">
                    <a:solidFill>
                      <a:srgbClr val="F5F6F0"/>
                    </a:solidFill>
                  </a:tcPr>
                </a:tc>
              </a:tr>
              <a:tr h="623888">
                <a:tc>
                  <a:txBody>
                    <a:bodyPr lIns="95250" tIns="95250" rIns="95250" bIns="95250"/>
                    <a:lstStyle/>
                    <a:p>
                      <a:r>
                        <a:rPr sz="1800" b="0">
                          <a:solidFill>
                            <a:srgbClr val="173C31"/>
                          </a:solidFill>
                          <a:latin typeface="Arial"/>
                          <a:ea typeface="Arial"/>
                          <a:cs typeface="Arial"/>
                        </a:rPr>
                        <a:t>Human effort</a:t>
                      </a:r>
                    </a:p>
                  </a:txBody>
                  <a:tcPr marL="91440" marR="91440" marT="45720" marB="45720">
                    <a:solidFill>
                      <a:srgbClr val="F5F6F0"/>
                    </a:solidFill>
                  </a:tcPr>
                </a:tc>
                <a:tc>
                  <a:txBody>
                    <a:bodyPr lIns="95250" tIns="95250" rIns="95250" bIns="95250"/>
                    <a:lstStyle/>
                    <a:p>
                      <a:r>
                        <a:rPr sz="1800" b="0">
                          <a:solidFill>
                            <a:srgbClr val="173C31"/>
                          </a:solidFill>
                          <a:latin typeface="Arial"/>
                          <a:ea typeface="Arial"/>
                          <a:cs typeface="Arial"/>
                        </a:rPr>
                        <a:t>Exact hours not recorded</a:t>
                      </a:r>
                    </a:p>
                  </a:txBody>
                  <a:tcPr marL="91440" marR="91440" marT="45720" marB="45720">
                    <a:solidFill>
                      <a:srgbClr val="F5F6F0"/>
                    </a:solidFill>
                  </a:tcPr>
                </a:tc>
                <a:tc>
                  <a:txBody>
                    <a:bodyPr lIns="95250" tIns="95250" rIns="95250" bIns="95250"/>
                    <a:lstStyle/>
                    <a:p>
                      <a:r>
                        <a:rPr sz="1800" b="0">
                          <a:solidFill>
                            <a:srgbClr val="173C31"/>
                          </a:solidFill>
                          <a:latin typeface="Arial"/>
                          <a:ea typeface="Arial"/>
                          <a:cs typeface="Arial"/>
                        </a:rPr>
                        <a:t>AI assistance disclosed</a:t>
                      </a:r>
                    </a:p>
                  </a:txBody>
                  <a:tcPr marL="91440" marR="91440" marT="45720" marB="45720">
                    <a:solidFill>
                      <a:srgbClr val="F5F6F0"/>
                    </a:solidFill>
                  </a:tcPr>
                </a:tc>
              </a:tr>
            </a:tbl>
          </a:graphicData>
        </a:graphic>
      </p:graphicFrame>
      <p:sp>
        <p:nvSpPr>
          <p:cNvPr id="6" name="">
            <a:extLst xmlns:a="http://schemas.openxmlformats.org/drawingml/2006/main">
              <a:ext uri="{FF2B5EF4-FFF2-40B4-BE49-F238E27FC236}">
                <a16:creationId xmlns:a16="http://schemas.microsoft.com/office/drawing/2014/main" id="{A4944535-715F-4AE2-A7A5-B124EDBF4B85}"/>
              </a:ext>
            </a:extLst>
          </p:cNvPr>
          <p:cNvSpPr>
            <a:spLocks xmlns:a="http://schemas.openxmlformats.org/drawingml/2006/main" noGrp="1"/>
          </p:cNvSpPr>
          <p:nvPr/>
        </p:nvSpPr>
        <p:spPr>
          <a:xfrm xmlns:a="http://schemas.openxmlformats.org/drawingml/2006/main">
            <a:off x="609600" y="56578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527064"/>
                </a:solidFill>
                <a:latin typeface="Arial"/>
                <a:ea typeface="Arial"/>
                <a:cs typeface="Arial"/>
              </a:defRPr>
            </a:defPPr>
            <a:lvl1pPr>
              <a:defRPr sz="1875" b="0">
                <a:solidFill>
                  <a:srgbClr val="527064"/>
                </a:solidFill>
                <a:latin typeface="Arial"/>
                <a:ea typeface="Arial"/>
                <a:cs typeface="Arial"/>
              </a:defRPr>
            </a:lvl1pPr>
            <a:lvl2pPr>
              <a:defRPr sz="1875" b="0">
                <a:solidFill>
                  <a:srgbClr val="527064"/>
                </a:solidFill>
                <a:latin typeface="Arial"/>
                <a:ea typeface="Arial"/>
                <a:cs typeface="Arial"/>
              </a:defRPr>
            </a:lvl2pPr>
            <a:lvl3pPr>
              <a:defRPr sz="1875" b="0">
                <a:solidFill>
                  <a:srgbClr val="527064"/>
                </a:solidFill>
                <a:latin typeface="Arial"/>
                <a:ea typeface="Arial"/>
                <a:cs typeface="Arial"/>
              </a:defRPr>
            </a:lvl3pPr>
            <a:lvl4pPr>
              <a:defRPr sz="1875" b="0">
                <a:solidFill>
                  <a:srgbClr val="527064"/>
                </a:solidFill>
                <a:latin typeface="Arial"/>
                <a:ea typeface="Arial"/>
                <a:cs typeface="Arial"/>
              </a:defRPr>
            </a:lvl4pPr>
            <a:lvl5pPr>
              <a:defRPr sz="1875" b="0">
                <a:solidFill>
                  <a:srgbClr val="527064"/>
                </a:solidFill>
                <a:latin typeface="Arial"/>
                <a:ea typeface="Arial"/>
                <a:cs typeface="Arial"/>
              </a:defRPr>
            </a:lvl5pPr>
            <a:lvl6pPr>
              <a:defRPr sz="1875" b="0">
                <a:solidFill>
                  <a:srgbClr val="527064"/>
                </a:solidFill>
                <a:latin typeface="Arial"/>
                <a:ea typeface="Arial"/>
                <a:cs typeface="Arial"/>
              </a:defRPr>
            </a:lvl6pPr>
            <a:lvl7pPr>
              <a:defRPr sz="1875" b="0">
                <a:solidFill>
                  <a:srgbClr val="527064"/>
                </a:solidFill>
                <a:latin typeface="Arial"/>
                <a:ea typeface="Arial"/>
                <a:cs typeface="Arial"/>
              </a:defRPr>
            </a:lvl7pPr>
            <a:lvl8pPr>
              <a:defRPr sz="1875" b="0">
                <a:solidFill>
                  <a:srgbClr val="527064"/>
                </a:solidFill>
                <a:latin typeface="Arial"/>
                <a:ea typeface="Arial"/>
                <a:cs typeface="Arial"/>
              </a:defRPr>
            </a:lvl8pPr>
            <a:lvl9pPr>
              <a:defRPr sz="1875" b="0">
                <a:solidFill>
                  <a:srgbClr val="527064"/>
                </a:solidFill>
                <a:latin typeface="Arial"/>
                <a:ea typeface="Arial"/>
                <a:cs typeface="Arial"/>
              </a:defRPr>
            </a:lvl9pPr>
          </a:lstStyle>
          <a:p xmlns:a="http://schemas.openxmlformats.org/drawingml/2006/main">
            <a:pPr>
              <a:defRPr sz="1875" b="0">
                <a:solidFill>
                  <a:srgbClr val="527064"/>
                </a:solidFill>
                <a:latin typeface="Arial"/>
                <a:ea typeface="Arial"/>
                <a:cs typeface="Arial"/>
              </a:defRPr>
            </a:pPr>
            <a:r>
              <a:rPr sz="1875" b="0">
                <a:solidFill>
                  <a:srgbClr val="527064"/>
                </a:solidFill>
                <a:latin typeface="Arial"/>
                <a:ea typeface="Arial"/>
                <a:cs typeface="Arial"/>
              </a:rPr>
              <a:t>Earlier Ridge and station-only HGB attempts did not beat the baseline.</a:t>
            </a:r>
          </a:p>
          <a:p xmlns:a="http://schemas.openxmlformats.org/drawingml/2006/main">
            <a:pPr>
              <a:defRPr sz="1875" b="0">
                <a:solidFill>
                  <a:srgbClr val="527064"/>
                </a:solidFill>
                <a:latin typeface="Arial"/>
                <a:ea typeface="Arial"/>
                <a:cs typeface="Arial"/>
              </a:defRPr>
            </a:pPr>
            <a:r>
              <a:rPr sz="1875" b="0">
                <a:solidFill>
                  <a:srgbClr val="527064"/>
                </a:solidFill>
                <a:latin typeface="Arial"/>
                <a:ea typeface="Arial"/>
                <a:cs typeface="Arial"/>
              </a:rPr>
              <a:t>The final audit preserved the existing JMA-assisted model.</a:t>
            </a:r>
          </a:p>
        </p:txBody>
      </p:sp>
    </p:spTree>
    <p:extLst>
      <p:ext uri="{BB962C8B-B14F-4D97-AF65-F5344CB8AC3E}">
        <p14:creationId xmlns:p14="http://schemas.microsoft.com/office/powerpoint/2010/main" val="810014531"/>
      </p:ext>
    </p:extLst>
  </p:cSld>
</p:sld>
</file>

<file path=ppt/slides/slide12.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2685149-2594-46E9-8A92-515B6CA44161}"/>
              </a:ext>
            </a:extLst>
          </p:cNvPr>
          <p:cNvSpPr>
            <a:spLocks xmlns:a="http://schemas.openxmlformats.org/drawingml/2006/main" noGrp="1"/>
          </p:cNvSpPr>
          <p:nvPr/>
        </p:nvSpPr>
        <p:spPr>
          <a:xfrm xmlns:a="http://schemas.openxmlformats.org/drawingml/2006/main">
            <a:off x="609600" y="49530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450" b="1">
                <a:solidFill>
                  <a:srgbClr val="173C31"/>
                </a:solidFill>
                <a:latin typeface="Arial"/>
                <a:ea typeface="Arial"/>
                <a:cs typeface="Arial"/>
              </a:defRPr>
            </a:defPPr>
            <a:lvl1pPr>
              <a:defRPr sz="3450" b="1">
                <a:solidFill>
                  <a:srgbClr val="173C31"/>
                </a:solidFill>
                <a:latin typeface="Arial"/>
                <a:ea typeface="Arial"/>
                <a:cs typeface="Arial"/>
              </a:defRPr>
            </a:lvl1pPr>
            <a:lvl2pPr>
              <a:defRPr sz="3450" b="1">
                <a:solidFill>
                  <a:srgbClr val="173C31"/>
                </a:solidFill>
                <a:latin typeface="Arial"/>
                <a:ea typeface="Arial"/>
                <a:cs typeface="Arial"/>
              </a:defRPr>
            </a:lvl2pPr>
            <a:lvl3pPr>
              <a:defRPr sz="3450" b="1">
                <a:solidFill>
                  <a:srgbClr val="173C31"/>
                </a:solidFill>
                <a:latin typeface="Arial"/>
                <a:ea typeface="Arial"/>
                <a:cs typeface="Arial"/>
              </a:defRPr>
            </a:lvl3pPr>
            <a:lvl4pPr>
              <a:defRPr sz="3450" b="1">
                <a:solidFill>
                  <a:srgbClr val="173C31"/>
                </a:solidFill>
                <a:latin typeface="Arial"/>
                <a:ea typeface="Arial"/>
                <a:cs typeface="Arial"/>
              </a:defRPr>
            </a:lvl4pPr>
            <a:lvl5pPr>
              <a:defRPr sz="3450" b="1">
                <a:solidFill>
                  <a:srgbClr val="173C31"/>
                </a:solidFill>
                <a:latin typeface="Arial"/>
                <a:ea typeface="Arial"/>
                <a:cs typeface="Arial"/>
              </a:defRPr>
            </a:lvl5pPr>
            <a:lvl6pPr>
              <a:defRPr sz="3450" b="1">
                <a:solidFill>
                  <a:srgbClr val="173C31"/>
                </a:solidFill>
                <a:latin typeface="Arial"/>
                <a:ea typeface="Arial"/>
                <a:cs typeface="Arial"/>
              </a:defRPr>
            </a:lvl6pPr>
            <a:lvl7pPr>
              <a:defRPr sz="3450" b="1">
                <a:solidFill>
                  <a:srgbClr val="173C31"/>
                </a:solidFill>
                <a:latin typeface="Arial"/>
                <a:ea typeface="Arial"/>
                <a:cs typeface="Arial"/>
              </a:defRPr>
            </a:lvl7pPr>
            <a:lvl8pPr>
              <a:defRPr sz="3450" b="1">
                <a:solidFill>
                  <a:srgbClr val="173C31"/>
                </a:solidFill>
                <a:latin typeface="Arial"/>
                <a:ea typeface="Arial"/>
                <a:cs typeface="Arial"/>
              </a:defRPr>
            </a:lvl8pPr>
            <a:lvl9pPr>
              <a:defRPr sz="3450" b="1">
                <a:solidFill>
                  <a:srgbClr val="173C31"/>
                </a:solidFill>
                <a:latin typeface="Arial"/>
                <a:ea typeface="Arial"/>
                <a:cs typeface="Arial"/>
              </a:defRPr>
            </a:lvl9pPr>
          </a:lstStyle>
          <a:p xmlns:a="http://schemas.openxmlformats.org/drawingml/2006/main">
            <a:pPr>
              <a:defRPr sz="3450" b="1">
                <a:solidFill>
                  <a:srgbClr val="173C31"/>
                </a:solidFill>
                <a:latin typeface="Arial"/>
                <a:ea typeface="Arial"/>
                <a:cs typeface="Arial"/>
              </a:defRPr>
            </a:pPr>
            <a:r>
              <a:rPr sz="3450" b="1">
                <a:solidFill>
                  <a:srgbClr val="173C31"/>
                </a:solidFill>
                <a:latin typeface="Arial"/>
                <a:ea typeface="Arial"/>
                <a:cs typeface="Arial"/>
              </a:rPr>
              <a:t>Backup: project links and evidence</a:t>
            </a:r>
          </a:p>
        </p:txBody>
      </p:sp>
      <p:sp>
        <p:nvSpPr>
          <p:cNvPr id="3" name="">
            <a:extLst xmlns:a="http://schemas.openxmlformats.org/drawingml/2006/main">
              <a:ext uri="{FF2B5EF4-FFF2-40B4-BE49-F238E27FC236}">
                <a16:creationId xmlns:a16="http://schemas.microsoft.com/office/drawing/2014/main" id="{DCECC263-6B1F-4F9F-8B48-4D82316BE535}"/>
              </a:ext>
            </a:extLst>
          </p:cNvPr>
          <p:cNvSpPr>
            <a:spLocks xmlns:a="http://schemas.openxmlformats.org/drawingml/2006/main" noGrp="1"/>
          </p:cNvSpPr>
          <p:nvPr/>
        </p:nvSpPr>
        <p:spPr>
          <a:xfrm xmlns:a="http://schemas.openxmlformats.org/drawingml/2006/main">
            <a:off x="609600" y="64389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HeatShift  /  HackInsight 26</a:t>
            </a:r>
          </a:p>
        </p:txBody>
      </p:sp>
      <p:sp>
        <p:nvSpPr>
          <p:cNvPr id="4" name="">
            <a:extLst xmlns:a="http://schemas.openxmlformats.org/drawingml/2006/main">
              <a:ext uri="{FF2B5EF4-FFF2-40B4-BE49-F238E27FC236}">
                <a16:creationId xmlns:a16="http://schemas.microsoft.com/office/drawing/2014/main" id="{B39E1959-9155-4728-813F-027ABF7694F6}"/>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0">
                <a:solidFill>
                  <a:srgbClr val="527064"/>
                </a:solidFill>
                <a:latin typeface="Arial"/>
                <a:ea typeface="Arial"/>
                <a:cs typeface="Arial"/>
              </a:defRPr>
            </a:defPPr>
            <a:lvl1pPr>
              <a:defRPr sz="1200" b="0">
                <a:solidFill>
                  <a:srgbClr val="527064"/>
                </a:solidFill>
                <a:latin typeface="Arial"/>
                <a:ea typeface="Arial"/>
                <a:cs typeface="Arial"/>
              </a:defRPr>
            </a:lvl1pPr>
            <a:lvl2pPr>
              <a:defRPr sz="1200" b="0">
                <a:solidFill>
                  <a:srgbClr val="527064"/>
                </a:solidFill>
                <a:latin typeface="Arial"/>
                <a:ea typeface="Arial"/>
                <a:cs typeface="Arial"/>
              </a:defRPr>
            </a:lvl2pPr>
            <a:lvl3pPr>
              <a:defRPr sz="1200" b="0">
                <a:solidFill>
                  <a:srgbClr val="527064"/>
                </a:solidFill>
                <a:latin typeface="Arial"/>
                <a:ea typeface="Arial"/>
                <a:cs typeface="Arial"/>
              </a:defRPr>
            </a:lvl3pPr>
            <a:lvl4pPr>
              <a:defRPr sz="1200" b="0">
                <a:solidFill>
                  <a:srgbClr val="527064"/>
                </a:solidFill>
                <a:latin typeface="Arial"/>
                <a:ea typeface="Arial"/>
                <a:cs typeface="Arial"/>
              </a:defRPr>
            </a:lvl4pPr>
            <a:lvl5pPr>
              <a:defRPr sz="1200" b="0">
                <a:solidFill>
                  <a:srgbClr val="527064"/>
                </a:solidFill>
                <a:latin typeface="Arial"/>
                <a:ea typeface="Arial"/>
                <a:cs typeface="Arial"/>
              </a:defRPr>
            </a:lvl5pPr>
            <a:lvl6pPr>
              <a:defRPr sz="1200" b="0">
                <a:solidFill>
                  <a:srgbClr val="527064"/>
                </a:solidFill>
                <a:latin typeface="Arial"/>
                <a:ea typeface="Arial"/>
                <a:cs typeface="Arial"/>
              </a:defRPr>
            </a:lvl6pPr>
            <a:lvl7pPr>
              <a:defRPr sz="1200" b="0">
                <a:solidFill>
                  <a:srgbClr val="527064"/>
                </a:solidFill>
                <a:latin typeface="Arial"/>
                <a:ea typeface="Arial"/>
                <a:cs typeface="Arial"/>
              </a:defRPr>
            </a:lvl7pPr>
            <a:lvl8pPr>
              <a:defRPr sz="1200" b="0">
                <a:solidFill>
                  <a:srgbClr val="527064"/>
                </a:solidFill>
                <a:latin typeface="Arial"/>
                <a:ea typeface="Arial"/>
                <a:cs typeface="Arial"/>
              </a:defRPr>
            </a:lvl8pPr>
            <a:lvl9pPr>
              <a:defRPr sz="1200" b="0">
                <a:solidFill>
                  <a:srgbClr val="527064"/>
                </a:solidFill>
                <a:latin typeface="Arial"/>
                <a:ea typeface="Arial"/>
                <a:cs typeface="Arial"/>
              </a:defRPr>
            </a:lvl9pPr>
          </a:lstStyle>
          <a:p xmlns:a="http://schemas.openxmlformats.org/drawingml/2006/main">
            <a:pPr>
              <a:defRPr sz="1200" b="0">
                <a:solidFill>
                  <a:srgbClr val="527064"/>
                </a:solidFill>
                <a:latin typeface="Arial"/>
                <a:ea typeface="Arial"/>
                <a:cs typeface="Arial"/>
              </a:defRPr>
            </a:pPr>
            <a:r>
              <a:rPr sz="1200" b="0">
                <a:solidFill>
                  <a:srgbClr val="527064"/>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6A47DE25-15C0-4DF1-A436-BD9D1C3683F7}"/>
              </a:ext>
            </a:extLst>
          </p:cNvPr>
          <p:cNvSpPr>
            <a:spLocks xmlns:a="http://schemas.openxmlformats.org/drawingml/2006/main" noGrp="1"/>
          </p:cNvSpPr>
          <p:nvPr/>
        </p:nvSpPr>
        <p:spPr>
          <a:xfrm xmlns:a="http://schemas.openxmlformats.org/drawingml/2006/main">
            <a:off x="609600" y="16954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43D33"/>
                </a:solidFill>
                <a:latin typeface="Arial"/>
                <a:ea typeface="Arial"/>
                <a:cs typeface="Arial"/>
              </a:defRPr>
            </a:defPPr>
            <a:lvl1pPr>
              <a:defRPr sz="1875" b="0">
                <a:solidFill>
                  <a:srgbClr val="143D33"/>
                </a:solidFill>
                <a:latin typeface="Arial"/>
                <a:ea typeface="Arial"/>
                <a:cs typeface="Arial"/>
              </a:defRPr>
            </a:lvl1pPr>
            <a:lvl2pPr>
              <a:defRPr sz="1875" b="0">
                <a:solidFill>
                  <a:srgbClr val="143D33"/>
                </a:solidFill>
                <a:latin typeface="Arial"/>
                <a:ea typeface="Arial"/>
                <a:cs typeface="Arial"/>
              </a:defRPr>
            </a:lvl2pPr>
            <a:lvl3pPr>
              <a:defRPr sz="1875" b="0">
                <a:solidFill>
                  <a:srgbClr val="143D33"/>
                </a:solidFill>
                <a:latin typeface="Arial"/>
                <a:ea typeface="Arial"/>
                <a:cs typeface="Arial"/>
              </a:defRPr>
            </a:lvl3pPr>
            <a:lvl4pPr>
              <a:defRPr sz="1875" b="0">
                <a:solidFill>
                  <a:srgbClr val="143D33"/>
                </a:solidFill>
                <a:latin typeface="Arial"/>
                <a:ea typeface="Arial"/>
                <a:cs typeface="Arial"/>
              </a:defRPr>
            </a:lvl4pPr>
            <a:lvl5pPr>
              <a:defRPr sz="1875" b="0">
                <a:solidFill>
                  <a:srgbClr val="143D33"/>
                </a:solidFill>
                <a:latin typeface="Arial"/>
                <a:ea typeface="Arial"/>
                <a:cs typeface="Arial"/>
              </a:defRPr>
            </a:lvl5pPr>
            <a:lvl6pPr>
              <a:defRPr sz="1875" b="0">
                <a:solidFill>
                  <a:srgbClr val="143D33"/>
                </a:solidFill>
                <a:latin typeface="Arial"/>
                <a:ea typeface="Arial"/>
                <a:cs typeface="Arial"/>
              </a:defRPr>
            </a:lvl6pPr>
            <a:lvl7pPr>
              <a:defRPr sz="1875" b="0">
                <a:solidFill>
                  <a:srgbClr val="143D33"/>
                </a:solidFill>
                <a:latin typeface="Arial"/>
                <a:ea typeface="Arial"/>
                <a:cs typeface="Arial"/>
              </a:defRPr>
            </a:lvl7pPr>
            <a:lvl8pPr>
              <a:defRPr sz="1875" b="0">
                <a:solidFill>
                  <a:srgbClr val="143D33"/>
                </a:solidFill>
                <a:latin typeface="Arial"/>
                <a:ea typeface="Arial"/>
                <a:cs typeface="Arial"/>
              </a:defRPr>
            </a:lvl8pPr>
            <a:lvl9pPr>
              <a:defRPr sz="1875" b="0">
                <a:solidFill>
                  <a:srgbClr val="143D33"/>
                </a:solidFill>
                <a:latin typeface="Arial"/>
                <a:ea typeface="Arial"/>
                <a:cs typeface="Arial"/>
              </a:defRPr>
            </a:lvl9pPr>
          </a:lstStyle>
          <a:p xmlns:a="http://schemas.openxmlformats.org/drawingml/2006/main">
            <a:pPr>
              <a:defRPr sz="1875" b="0">
                <a:solidFill>
                  <a:srgbClr val="143D33"/>
                </a:solidFill>
                <a:latin typeface="Arial"/>
                <a:ea typeface="Arial"/>
                <a:cs typeface="Arial"/>
              </a:defRPr>
            </a:pPr>
            <a:r>
              <a:rPr u="sng">
                <a:hlinkClick xmlns:r="http://schemas.openxmlformats.org/officeDocument/2006/relationships" r:id="R01d3a837d477429d"/>
              </a:rPr>
              <a:t>Public HeatShift dashboard</a:t>
            </a:r>
          </a:p>
        </p:txBody>
      </p:sp>
      <p:sp>
        <p:nvSpPr>
          <p:cNvPr id="6" name="">
            <a:extLst xmlns:a="http://schemas.openxmlformats.org/drawingml/2006/main">
              <a:ext uri="{FF2B5EF4-FFF2-40B4-BE49-F238E27FC236}">
                <a16:creationId xmlns:a16="http://schemas.microsoft.com/office/drawing/2014/main" id="{4D0D82E3-CD59-44E2-9AEF-910A19313393}"/>
              </a:ext>
            </a:extLst>
          </p:cNvPr>
          <p:cNvSpPr>
            <a:spLocks xmlns:a="http://schemas.openxmlformats.org/drawingml/2006/main" noGrp="1"/>
          </p:cNvSpPr>
          <p:nvPr/>
        </p:nvSpPr>
        <p:spPr>
          <a:xfrm xmlns:a="http://schemas.openxmlformats.org/drawingml/2006/main">
            <a:off x="609600" y="24574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43D33"/>
                </a:solidFill>
                <a:latin typeface="Arial"/>
                <a:ea typeface="Arial"/>
                <a:cs typeface="Arial"/>
              </a:defRPr>
            </a:defPPr>
            <a:lvl1pPr>
              <a:defRPr sz="1875" b="0">
                <a:solidFill>
                  <a:srgbClr val="143D33"/>
                </a:solidFill>
                <a:latin typeface="Arial"/>
                <a:ea typeface="Arial"/>
                <a:cs typeface="Arial"/>
              </a:defRPr>
            </a:lvl1pPr>
            <a:lvl2pPr>
              <a:defRPr sz="1875" b="0">
                <a:solidFill>
                  <a:srgbClr val="143D33"/>
                </a:solidFill>
                <a:latin typeface="Arial"/>
                <a:ea typeface="Arial"/>
                <a:cs typeface="Arial"/>
              </a:defRPr>
            </a:lvl2pPr>
            <a:lvl3pPr>
              <a:defRPr sz="1875" b="0">
                <a:solidFill>
                  <a:srgbClr val="143D33"/>
                </a:solidFill>
                <a:latin typeface="Arial"/>
                <a:ea typeface="Arial"/>
                <a:cs typeface="Arial"/>
              </a:defRPr>
            </a:lvl3pPr>
            <a:lvl4pPr>
              <a:defRPr sz="1875" b="0">
                <a:solidFill>
                  <a:srgbClr val="143D33"/>
                </a:solidFill>
                <a:latin typeface="Arial"/>
                <a:ea typeface="Arial"/>
                <a:cs typeface="Arial"/>
              </a:defRPr>
            </a:lvl4pPr>
            <a:lvl5pPr>
              <a:defRPr sz="1875" b="0">
                <a:solidFill>
                  <a:srgbClr val="143D33"/>
                </a:solidFill>
                <a:latin typeface="Arial"/>
                <a:ea typeface="Arial"/>
                <a:cs typeface="Arial"/>
              </a:defRPr>
            </a:lvl5pPr>
            <a:lvl6pPr>
              <a:defRPr sz="1875" b="0">
                <a:solidFill>
                  <a:srgbClr val="143D33"/>
                </a:solidFill>
                <a:latin typeface="Arial"/>
                <a:ea typeface="Arial"/>
                <a:cs typeface="Arial"/>
              </a:defRPr>
            </a:lvl6pPr>
            <a:lvl7pPr>
              <a:defRPr sz="1875" b="0">
                <a:solidFill>
                  <a:srgbClr val="143D33"/>
                </a:solidFill>
                <a:latin typeface="Arial"/>
                <a:ea typeface="Arial"/>
                <a:cs typeface="Arial"/>
              </a:defRPr>
            </a:lvl7pPr>
            <a:lvl8pPr>
              <a:defRPr sz="1875" b="0">
                <a:solidFill>
                  <a:srgbClr val="143D33"/>
                </a:solidFill>
                <a:latin typeface="Arial"/>
                <a:ea typeface="Arial"/>
                <a:cs typeface="Arial"/>
              </a:defRPr>
            </a:lvl8pPr>
            <a:lvl9pPr>
              <a:defRPr sz="1875" b="0">
                <a:solidFill>
                  <a:srgbClr val="143D33"/>
                </a:solidFill>
                <a:latin typeface="Arial"/>
                <a:ea typeface="Arial"/>
                <a:cs typeface="Arial"/>
              </a:defRPr>
            </a:lvl9pPr>
          </a:lstStyle>
          <a:p xmlns:a="http://schemas.openxmlformats.org/drawingml/2006/main">
            <a:pPr>
              <a:defRPr sz="1875" b="0">
                <a:solidFill>
                  <a:srgbClr val="143D33"/>
                </a:solidFill>
                <a:latin typeface="Arial"/>
                <a:ea typeface="Arial"/>
                <a:cs typeface="Arial"/>
              </a:defRPr>
            </a:pPr>
            <a:r>
              <a:rPr u="sng">
                <a:hlinkClick xmlns:r="http://schemas.openxmlformats.org/officeDocument/2006/relationships" r:id="Rd4073a044dfb4db8"/>
              </a:rPr>
              <a:t>GitHub source and submission documents</a:t>
            </a:r>
          </a:p>
        </p:txBody>
      </p:sp>
      <p:sp>
        <p:nvSpPr>
          <p:cNvPr id="7" name="">
            <a:extLst xmlns:a="http://schemas.openxmlformats.org/drawingml/2006/main">
              <a:ext uri="{FF2B5EF4-FFF2-40B4-BE49-F238E27FC236}">
                <a16:creationId xmlns:a16="http://schemas.microsoft.com/office/drawing/2014/main" id="{3EB232D9-FC3C-4077-AAAB-7A96ACA70D22}"/>
              </a:ext>
            </a:extLst>
          </p:cNvPr>
          <p:cNvSpPr>
            <a:spLocks xmlns:a="http://schemas.openxmlformats.org/drawingml/2006/main" noGrp="1"/>
          </p:cNvSpPr>
          <p:nvPr/>
        </p:nvSpPr>
        <p:spPr>
          <a:xfrm xmlns:a="http://schemas.openxmlformats.org/drawingml/2006/main">
            <a:off x="609600" y="32194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43D33"/>
                </a:solidFill>
                <a:latin typeface="Arial"/>
                <a:ea typeface="Arial"/>
                <a:cs typeface="Arial"/>
              </a:defRPr>
            </a:defPPr>
            <a:lvl1pPr>
              <a:defRPr sz="1875" b="0">
                <a:solidFill>
                  <a:srgbClr val="143D33"/>
                </a:solidFill>
                <a:latin typeface="Arial"/>
                <a:ea typeface="Arial"/>
                <a:cs typeface="Arial"/>
              </a:defRPr>
            </a:lvl1pPr>
            <a:lvl2pPr>
              <a:defRPr sz="1875" b="0">
                <a:solidFill>
                  <a:srgbClr val="143D33"/>
                </a:solidFill>
                <a:latin typeface="Arial"/>
                <a:ea typeface="Arial"/>
                <a:cs typeface="Arial"/>
              </a:defRPr>
            </a:lvl2pPr>
            <a:lvl3pPr>
              <a:defRPr sz="1875" b="0">
                <a:solidFill>
                  <a:srgbClr val="143D33"/>
                </a:solidFill>
                <a:latin typeface="Arial"/>
                <a:ea typeface="Arial"/>
                <a:cs typeface="Arial"/>
              </a:defRPr>
            </a:lvl3pPr>
            <a:lvl4pPr>
              <a:defRPr sz="1875" b="0">
                <a:solidFill>
                  <a:srgbClr val="143D33"/>
                </a:solidFill>
                <a:latin typeface="Arial"/>
                <a:ea typeface="Arial"/>
                <a:cs typeface="Arial"/>
              </a:defRPr>
            </a:lvl4pPr>
            <a:lvl5pPr>
              <a:defRPr sz="1875" b="0">
                <a:solidFill>
                  <a:srgbClr val="143D33"/>
                </a:solidFill>
                <a:latin typeface="Arial"/>
                <a:ea typeface="Arial"/>
                <a:cs typeface="Arial"/>
              </a:defRPr>
            </a:lvl5pPr>
            <a:lvl6pPr>
              <a:defRPr sz="1875" b="0">
                <a:solidFill>
                  <a:srgbClr val="143D33"/>
                </a:solidFill>
                <a:latin typeface="Arial"/>
                <a:ea typeface="Arial"/>
                <a:cs typeface="Arial"/>
              </a:defRPr>
            </a:lvl6pPr>
            <a:lvl7pPr>
              <a:defRPr sz="1875" b="0">
                <a:solidFill>
                  <a:srgbClr val="143D33"/>
                </a:solidFill>
                <a:latin typeface="Arial"/>
                <a:ea typeface="Arial"/>
                <a:cs typeface="Arial"/>
              </a:defRPr>
            </a:lvl7pPr>
            <a:lvl8pPr>
              <a:defRPr sz="1875" b="0">
                <a:solidFill>
                  <a:srgbClr val="143D33"/>
                </a:solidFill>
                <a:latin typeface="Arial"/>
                <a:ea typeface="Arial"/>
                <a:cs typeface="Arial"/>
              </a:defRPr>
            </a:lvl8pPr>
            <a:lvl9pPr>
              <a:defRPr sz="1875" b="0">
                <a:solidFill>
                  <a:srgbClr val="143D33"/>
                </a:solidFill>
                <a:latin typeface="Arial"/>
                <a:ea typeface="Arial"/>
                <a:cs typeface="Arial"/>
              </a:defRPr>
            </a:lvl9pPr>
          </a:lstStyle>
          <a:p xmlns:a="http://schemas.openxmlformats.org/drawingml/2006/main">
            <a:pPr>
              <a:defRPr sz="1875" b="0">
                <a:solidFill>
                  <a:srgbClr val="143D33"/>
                </a:solidFill>
                <a:latin typeface="Arial"/>
                <a:ea typeface="Arial"/>
                <a:cs typeface="Arial"/>
              </a:defRPr>
            </a:pPr>
            <a:r>
              <a:rPr u="sng">
                <a:hlinkClick xmlns:r="http://schemas.openxmlformats.org/officeDocument/2006/relationships" r:id="R1a8711983ef14e37"/>
              </a:rPr>
              <a:t>Public demo video</a:t>
            </a:r>
          </a:p>
        </p:txBody>
      </p:sp>
      <p:sp>
        <p:nvSpPr>
          <p:cNvPr id="8" name="">
            <a:extLst xmlns:a="http://schemas.openxmlformats.org/drawingml/2006/main">
              <a:ext uri="{FF2B5EF4-FFF2-40B4-BE49-F238E27FC236}">
                <a16:creationId xmlns:a16="http://schemas.microsoft.com/office/drawing/2014/main" id="{F97CBA83-8E82-43AC-AB7C-D94F5A58E7BE}"/>
              </a:ext>
            </a:extLst>
          </p:cNvPr>
          <p:cNvSpPr>
            <a:spLocks xmlns:a="http://schemas.openxmlformats.org/drawingml/2006/main" noGrp="1"/>
          </p:cNvSpPr>
          <p:nvPr/>
        </p:nvSpPr>
        <p:spPr>
          <a:xfrm xmlns:a="http://schemas.openxmlformats.org/drawingml/2006/main">
            <a:off x="609600" y="398145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143D33"/>
                </a:solidFill>
                <a:latin typeface="Arial"/>
                <a:ea typeface="Arial"/>
                <a:cs typeface="Arial"/>
              </a:defRPr>
            </a:defPPr>
            <a:lvl1pPr>
              <a:defRPr sz="1875" b="0">
                <a:solidFill>
                  <a:srgbClr val="143D33"/>
                </a:solidFill>
                <a:latin typeface="Arial"/>
                <a:ea typeface="Arial"/>
                <a:cs typeface="Arial"/>
              </a:defRPr>
            </a:lvl1pPr>
            <a:lvl2pPr>
              <a:defRPr sz="1875" b="0">
                <a:solidFill>
                  <a:srgbClr val="143D33"/>
                </a:solidFill>
                <a:latin typeface="Arial"/>
                <a:ea typeface="Arial"/>
                <a:cs typeface="Arial"/>
              </a:defRPr>
            </a:lvl2pPr>
            <a:lvl3pPr>
              <a:defRPr sz="1875" b="0">
                <a:solidFill>
                  <a:srgbClr val="143D33"/>
                </a:solidFill>
                <a:latin typeface="Arial"/>
                <a:ea typeface="Arial"/>
                <a:cs typeface="Arial"/>
              </a:defRPr>
            </a:lvl3pPr>
            <a:lvl4pPr>
              <a:defRPr sz="1875" b="0">
                <a:solidFill>
                  <a:srgbClr val="143D33"/>
                </a:solidFill>
                <a:latin typeface="Arial"/>
                <a:ea typeface="Arial"/>
                <a:cs typeface="Arial"/>
              </a:defRPr>
            </a:lvl4pPr>
            <a:lvl5pPr>
              <a:defRPr sz="1875" b="0">
                <a:solidFill>
                  <a:srgbClr val="143D33"/>
                </a:solidFill>
                <a:latin typeface="Arial"/>
                <a:ea typeface="Arial"/>
                <a:cs typeface="Arial"/>
              </a:defRPr>
            </a:lvl5pPr>
            <a:lvl6pPr>
              <a:defRPr sz="1875" b="0">
                <a:solidFill>
                  <a:srgbClr val="143D33"/>
                </a:solidFill>
                <a:latin typeface="Arial"/>
                <a:ea typeface="Arial"/>
                <a:cs typeface="Arial"/>
              </a:defRPr>
            </a:lvl6pPr>
            <a:lvl7pPr>
              <a:defRPr sz="1875" b="0">
                <a:solidFill>
                  <a:srgbClr val="143D33"/>
                </a:solidFill>
                <a:latin typeface="Arial"/>
                <a:ea typeface="Arial"/>
                <a:cs typeface="Arial"/>
              </a:defRPr>
            </a:lvl7pPr>
            <a:lvl8pPr>
              <a:defRPr sz="1875" b="0">
                <a:solidFill>
                  <a:srgbClr val="143D33"/>
                </a:solidFill>
                <a:latin typeface="Arial"/>
                <a:ea typeface="Arial"/>
                <a:cs typeface="Arial"/>
              </a:defRPr>
            </a:lvl8pPr>
            <a:lvl9pPr>
              <a:defRPr sz="1875" b="0">
                <a:solidFill>
                  <a:srgbClr val="143D33"/>
                </a:solidFill>
                <a:latin typeface="Arial"/>
                <a:ea typeface="Arial"/>
                <a:cs typeface="Arial"/>
              </a:defRPr>
            </a:lvl9pPr>
          </a:lstStyle>
          <a:p xmlns:a="http://schemas.openxmlformats.org/drawingml/2006/main">
            <a:pPr>
              <a:defRPr sz="1875" b="0">
                <a:solidFill>
                  <a:srgbClr val="143D33"/>
                </a:solidFill>
                <a:latin typeface="Arial"/>
                <a:ea typeface="Arial"/>
                <a:cs typeface="Arial"/>
              </a:defRPr>
            </a:pPr>
            <a:r>
              <a:rPr u="sng">
                <a:hlinkClick xmlns:r="http://schemas.openxmlformats.org/officeDocument/2006/relationships" r:id="R9a2d295a5e1343cb"/>
              </a:rPr>
              <a:t>Evaluation metrics and row-level evidence</a:t>
            </a:r>
          </a:p>
        </p:txBody>
      </p:sp>
      <p:sp>
        <p:nvSpPr>
          <p:cNvPr id="9" name="">
            <a:extLst xmlns:a="http://schemas.openxmlformats.org/drawingml/2006/main">
              <a:ext uri="{FF2B5EF4-FFF2-40B4-BE49-F238E27FC236}">
                <a16:creationId xmlns:a16="http://schemas.microsoft.com/office/drawing/2014/main" id="{30E8B409-D3F7-4D74-98DD-9C8E56C1E7C8}"/>
              </a:ext>
            </a:extLst>
          </p:cNvPr>
          <p:cNvSpPr>
            <a:spLocks xmlns:a="http://schemas.openxmlformats.org/drawingml/2006/main" noGrp="1"/>
          </p:cNvSpPr>
          <p:nvPr/>
        </p:nvSpPr>
        <p:spPr>
          <a:xfrm xmlns:a="http://schemas.openxmlformats.org/drawingml/2006/main">
            <a:off x="609600" y="49149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43D33"/>
                </a:solidFill>
                <a:latin typeface="Arial"/>
                <a:ea typeface="Arial"/>
                <a:cs typeface="Arial"/>
              </a:defRPr>
            </a:defPPr>
            <a:lvl1pPr>
              <a:defRPr sz="2250" b="1">
                <a:solidFill>
                  <a:srgbClr val="143D33"/>
                </a:solidFill>
                <a:latin typeface="Arial"/>
                <a:ea typeface="Arial"/>
                <a:cs typeface="Arial"/>
              </a:defRPr>
            </a:lvl1pPr>
            <a:lvl2pPr>
              <a:defRPr sz="2250" b="1">
                <a:solidFill>
                  <a:srgbClr val="143D33"/>
                </a:solidFill>
                <a:latin typeface="Arial"/>
                <a:ea typeface="Arial"/>
                <a:cs typeface="Arial"/>
              </a:defRPr>
            </a:lvl2pPr>
            <a:lvl3pPr>
              <a:defRPr sz="2250" b="1">
                <a:solidFill>
                  <a:srgbClr val="143D33"/>
                </a:solidFill>
                <a:latin typeface="Arial"/>
                <a:ea typeface="Arial"/>
                <a:cs typeface="Arial"/>
              </a:defRPr>
            </a:lvl3pPr>
            <a:lvl4pPr>
              <a:defRPr sz="2250" b="1">
                <a:solidFill>
                  <a:srgbClr val="143D33"/>
                </a:solidFill>
                <a:latin typeface="Arial"/>
                <a:ea typeface="Arial"/>
                <a:cs typeface="Arial"/>
              </a:defRPr>
            </a:lvl4pPr>
            <a:lvl5pPr>
              <a:defRPr sz="2250" b="1">
                <a:solidFill>
                  <a:srgbClr val="143D33"/>
                </a:solidFill>
                <a:latin typeface="Arial"/>
                <a:ea typeface="Arial"/>
                <a:cs typeface="Arial"/>
              </a:defRPr>
            </a:lvl5pPr>
            <a:lvl6pPr>
              <a:defRPr sz="2250" b="1">
                <a:solidFill>
                  <a:srgbClr val="143D33"/>
                </a:solidFill>
                <a:latin typeface="Arial"/>
                <a:ea typeface="Arial"/>
                <a:cs typeface="Arial"/>
              </a:defRPr>
            </a:lvl6pPr>
            <a:lvl7pPr>
              <a:defRPr sz="2250" b="1">
                <a:solidFill>
                  <a:srgbClr val="143D33"/>
                </a:solidFill>
                <a:latin typeface="Arial"/>
                <a:ea typeface="Arial"/>
                <a:cs typeface="Arial"/>
              </a:defRPr>
            </a:lvl7pPr>
            <a:lvl8pPr>
              <a:defRPr sz="2250" b="1">
                <a:solidFill>
                  <a:srgbClr val="143D33"/>
                </a:solidFill>
                <a:latin typeface="Arial"/>
                <a:ea typeface="Arial"/>
                <a:cs typeface="Arial"/>
              </a:defRPr>
            </a:lvl8pPr>
            <a:lvl9pPr>
              <a:defRPr sz="2250" b="1">
                <a:solidFill>
                  <a:srgbClr val="143D33"/>
                </a:solidFill>
                <a:latin typeface="Arial"/>
                <a:ea typeface="Arial"/>
                <a:cs typeface="Arial"/>
              </a:defRPr>
            </a:lvl9pPr>
          </a:lstStyle>
          <a:p xmlns:a="http://schemas.openxmlformats.org/drawingml/2006/main">
            <a:pPr>
              <a:defRPr sz="2250" b="1">
                <a:solidFill>
                  <a:srgbClr val="143D33"/>
                </a:solidFill>
                <a:latin typeface="Arial"/>
                <a:ea typeface="Arial"/>
                <a:cs typeface="Arial"/>
              </a:defRPr>
            </a:pPr>
            <a:r>
              <a:rPr sz="2250" b="1">
                <a:solidFill>
                  <a:srgbClr val="143D33"/>
                </a:solidFill>
                <a:latin typeface="Arial"/>
                <a:ea typeface="Arial"/>
                <a:cs typeface="Arial"/>
              </a:rPr>
              <a:t>Primary data services</a:t>
            </a:r>
          </a:p>
        </p:txBody>
      </p:sp>
      <p:sp>
        <p:nvSpPr>
          <p:cNvPr id="10" name="">
            <a:extLst xmlns:a="http://schemas.openxmlformats.org/drawingml/2006/main">
              <a:ext uri="{FF2B5EF4-FFF2-40B4-BE49-F238E27FC236}">
                <a16:creationId xmlns:a16="http://schemas.microsoft.com/office/drawing/2014/main" id="{DE601B3F-5829-4B6D-BD24-9B8D69EC5F0F}"/>
              </a:ext>
            </a:extLst>
          </p:cNvPr>
          <p:cNvSpPr>
            <a:spLocks xmlns:a="http://schemas.openxmlformats.org/drawingml/2006/main" noGrp="1"/>
          </p:cNvSpPr>
          <p:nvPr/>
        </p:nvSpPr>
        <p:spPr>
          <a:xfrm xmlns:a="http://schemas.openxmlformats.org/drawingml/2006/main">
            <a:off x="609600" y="54102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173C31"/>
                </a:solidFill>
                <a:latin typeface="Arial"/>
                <a:ea typeface="Arial"/>
                <a:cs typeface="Arial"/>
              </a:defRPr>
            </a:defPPr>
            <a:lvl1pPr>
              <a:defRPr sz="1800" b="0">
                <a:solidFill>
                  <a:srgbClr val="173C31"/>
                </a:solidFill>
                <a:latin typeface="Arial"/>
                <a:ea typeface="Arial"/>
                <a:cs typeface="Arial"/>
              </a:defRPr>
            </a:lvl1pPr>
            <a:lvl2pPr>
              <a:defRPr sz="1800" b="0">
                <a:solidFill>
                  <a:srgbClr val="173C31"/>
                </a:solidFill>
                <a:latin typeface="Arial"/>
                <a:ea typeface="Arial"/>
                <a:cs typeface="Arial"/>
              </a:defRPr>
            </a:lvl2pPr>
            <a:lvl3pPr>
              <a:defRPr sz="1800" b="0">
                <a:solidFill>
                  <a:srgbClr val="173C31"/>
                </a:solidFill>
                <a:latin typeface="Arial"/>
                <a:ea typeface="Arial"/>
                <a:cs typeface="Arial"/>
              </a:defRPr>
            </a:lvl3pPr>
            <a:lvl4pPr>
              <a:defRPr sz="1800" b="0">
                <a:solidFill>
                  <a:srgbClr val="173C31"/>
                </a:solidFill>
                <a:latin typeface="Arial"/>
                <a:ea typeface="Arial"/>
                <a:cs typeface="Arial"/>
              </a:defRPr>
            </a:lvl4pPr>
            <a:lvl5pPr>
              <a:defRPr sz="1800" b="0">
                <a:solidFill>
                  <a:srgbClr val="173C31"/>
                </a:solidFill>
                <a:latin typeface="Arial"/>
                <a:ea typeface="Arial"/>
                <a:cs typeface="Arial"/>
              </a:defRPr>
            </a:lvl5pPr>
            <a:lvl6pPr>
              <a:defRPr sz="1800" b="0">
                <a:solidFill>
                  <a:srgbClr val="173C31"/>
                </a:solidFill>
                <a:latin typeface="Arial"/>
                <a:ea typeface="Arial"/>
                <a:cs typeface="Arial"/>
              </a:defRPr>
            </a:lvl6pPr>
            <a:lvl7pPr>
              <a:defRPr sz="1800" b="0">
                <a:solidFill>
                  <a:srgbClr val="173C31"/>
                </a:solidFill>
                <a:latin typeface="Arial"/>
                <a:ea typeface="Arial"/>
                <a:cs typeface="Arial"/>
              </a:defRPr>
            </a:lvl7pPr>
            <a:lvl8pPr>
              <a:defRPr sz="1800" b="0">
                <a:solidFill>
                  <a:srgbClr val="173C31"/>
                </a:solidFill>
                <a:latin typeface="Arial"/>
                <a:ea typeface="Arial"/>
                <a:cs typeface="Arial"/>
              </a:defRPr>
            </a:lvl8pPr>
            <a:lvl9pPr>
              <a:defRPr sz="1800" b="0">
                <a:solidFill>
                  <a:srgbClr val="173C31"/>
                </a:solidFill>
                <a:latin typeface="Arial"/>
                <a:ea typeface="Arial"/>
                <a:cs typeface="Arial"/>
              </a:defRPr>
            </a:lvl9pPr>
          </a:lstStyle>
          <a:p xmlns:a="http://schemas.openxmlformats.org/drawingml/2006/main">
            <a:pPr>
              <a:defRPr sz="1800" b="0">
                <a:solidFill>
                  <a:srgbClr val="173C31"/>
                </a:solidFill>
                <a:latin typeface="Arial"/>
                <a:ea typeface="Arial"/>
                <a:cs typeface="Arial"/>
              </a:defRPr>
            </a:pPr>
            <a:r>
              <a:rPr sz="1800" b="0">
                <a:solidFill>
                  <a:srgbClr val="173C31"/>
                </a:solidFill>
                <a:latin typeface="Arial"/>
                <a:ea typeface="Arial"/>
                <a:cs typeface="Arial"/>
              </a:rPr>
              <a:t>NOAA Integrated Surface Database</a:t>
            </a:r>
          </a:p>
          <a:p xmlns:a="http://schemas.openxmlformats.org/drawingml/2006/main">
            <a:pPr>
              <a:defRPr sz="1800" b="0">
                <a:solidFill>
                  <a:srgbClr val="173C31"/>
                </a:solidFill>
                <a:latin typeface="Arial"/>
                <a:ea typeface="Arial"/>
                <a:cs typeface="Arial"/>
              </a:defRPr>
            </a:pPr>
            <a:r>
              <a:rPr sz="1800" b="0">
                <a:solidFill>
                  <a:srgbClr val="173C31"/>
                </a:solidFill>
                <a:latin typeface="Arial"/>
                <a:ea typeface="Arial"/>
                <a:cs typeface="Arial"/>
              </a:rPr>
              <a:t>Open-Meteo previous-runs API</a:t>
            </a:r>
          </a:p>
          <a:p xmlns:a="http://schemas.openxmlformats.org/drawingml/2006/main">
            <a:pPr>
              <a:defRPr sz="1800" b="0">
                <a:solidFill>
                  <a:srgbClr val="173C31"/>
                </a:solidFill>
                <a:latin typeface="Arial"/>
                <a:ea typeface="Arial"/>
                <a:cs typeface="Arial"/>
              </a:defRPr>
            </a:pPr>
            <a:r>
              <a:rPr sz="1800" b="0">
                <a:solidFill>
                  <a:srgbClr val="173C31"/>
                </a:solidFill>
                <a:latin typeface="Arial"/>
                <a:ea typeface="Arial"/>
                <a:cs typeface="Arial"/>
              </a:rPr>
              <a:t>Aviation Weather Center METAR API</a:t>
            </a:r>
          </a:p>
        </p:txBody>
      </p:sp>
    </p:spTree>
    <p:extLst>
      <p:ext uri="{BB962C8B-B14F-4D97-AF65-F5344CB8AC3E}">
        <p14:creationId xmlns:p14="http://schemas.microsoft.com/office/powerpoint/2010/main" val="16277152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2026-10-21T14:37:55.6860000Z</dcterms:created>
  <dcterms:modified xsi:type="dcterms:W3CDTF">2026-10-21T14:37:55.6860000Z</dcterms:modified>
</coreProperties>
</file>